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13" r:id="rId5"/>
    <p:sldMasterId id="2147483710" r:id="rId6"/>
    <p:sldMasterId id="2147483694" r:id="rId7"/>
  </p:sldMasterIdLst>
  <p:notesMasterIdLst>
    <p:notesMasterId r:id="rId27"/>
  </p:notesMasterIdLst>
  <p:handoutMasterIdLst>
    <p:handoutMasterId r:id="rId28"/>
  </p:handoutMasterIdLst>
  <p:sldIdLst>
    <p:sldId id="285" r:id="rId8"/>
    <p:sldId id="308" r:id="rId9"/>
    <p:sldId id="286" r:id="rId10"/>
    <p:sldId id="314" r:id="rId11"/>
    <p:sldId id="292" r:id="rId12"/>
    <p:sldId id="569" r:id="rId13"/>
    <p:sldId id="572" r:id="rId14"/>
    <p:sldId id="573" r:id="rId15"/>
    <p:sldId id="293" r:id="rId16"/>
    <p:sldId id="575" r:id="rId17"/>
    <p:sldId id="576" r:id="rId18"/>
    <p:sldId id="577" r:id="rId19"/>
    <p:sldId id="579" r:id="rId20"/>
    <p:sldId id="295" r:id="rId21"/>
    <p:sldId id="584" r:id="rId22"/>
    <p:sldId id="580" r:id="rId23"/>
    <p:sldId id="582" r:id="rId24"/>
    <p:sldId id="583" r:id="rId25"/>
    <p:sldId id="309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1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866D00-9A8A-21C8-E00D-B56CF6CD9D20}" name="Kaji, Vasimraza" initials="KV" userId="S-1-5-21-1156737867-681972312-1097073633-72778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B333"/>
    <a:srgbClr val="FF9900"/>
    <a:srgbClr val="9FC1E0"/>
    <a:srgbClr val="00658B"/>
    <a:srgbClr val="FF3399"/>
    <a:srgbClr val="D9117E"/>
    <a:srgbClr val="5DC1FF"/>
    <a:srgbClr val="37B0FB"/>
    <a:srgbClr val="009AD0"/>
    <a:srgbClr val="BE9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7E4FBE-7733-4897-A664-1A477641A911}" v="147" dt="2025-08-27T13:21:52.6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72881" autoAdjust="0"/>
  </p:normalViewPr>
  <p:slideViewPr>
    <p:cSldViewPr snapToGrid="0" showGuides="1">
      <p:cViewPr varScale="1">
        <p:scale>
          <a:sx n="118" d="100"/>
          <a:sy n="118" d="100"/>
        </p:scale>
        <p:origin x="1794" y="102"/>
      </p:cViewPr>
      <p:guideLst>
        <p:guide orient="horz" pos="2160"/>
        <p:guide pos="4112"/>
      </p:guideLst>
    </p:cSldViewPr>
  </p:slideViewPr>
  <p:outlineViewPr>
    <p:cViewPr>
      <p:scale>
        <a:sx n="33" d="100"/>
        <a:sy n="33" d="100"/>
      </p:scale>
      <p:origin x="0" y="-533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448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microsoft.com/office/2018/10/relationships/authors" Target="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3CC217A-F9D7-47C3-B542-AAA915BA41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7CD6EC-38D3-4F9F-824F-27FD60C73D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980D6-5DF0-463D-BFB7-BC7EA5530348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3B72A2-2A97-46A2-B0E6-3DFA689BB9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749A1E-B8C3-415F-AC4C-200E5AD788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9C69D-BBB7-4804-A517-DD8710202B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58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35C94-B646-4D4D-A5E3-882C7E78FF5D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8433A-3D12-444A-8A1F-2969B3EF30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61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And </a:t>
            </a:r>
            <a:r>
              <a:rPr lang="de-DE" dirty="0" err="1"/>
              <a:t>therefore</a:t>
            </a:r>
            <a:r>
              <a:rPr lang="de-DE" dirty="0"/>
              <a:t> </a:t>
            </a:r>
            <a:r>
              <a:rPr lang="de-DE" dirty="0" err="1"/>
              <a:t>require</a:t>
            </a:r>
            <a:r>
              <a:rPr lang="de-DE" dirty="0"/>
              <a:t> a large </a:t>
            </a:r>
            <a:r>
              <a:rPr lang="de-DE" dirty="0" err="1"/>
              <a:t>building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estimate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</a:t>
            </a:r>
            <a:r>
              <a:rPr lang="de-DE" dirty="0" err="1"/>
              <a:t>demand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As a </a:t>
            </a:r>
            <a:r>
              <a:rPr lang="de-DE" dirty="0" err="1"/>
              <a:t>result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insufficient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and </a:t>
            </a:r>
            <a:r>
              <a:rPr lang="de-DE" dirty="0" err="1"/>
              <a:t>computational</a:t>
            </a:r>
            <a:r>
              <a:rPr lang="de-DE" dirty="0"/>
              <a:t> </a:t>
            </a:r>
            <a:r>
              <a:rPr lang="de-DE" dirty="0" err="1"/>
              <a:t>constrains</a:t>
            </a:r>
            <a:r>
              <a:rPr lang="de-DE" dirty="0"/>
              <a:t> …</a:t>
            </a:r>
          </a:p>
          <a:p>
            <a:pPr marL="171450" indent="-171450">
              <a:buFontTx/>
              <a:buChar char="-"/>
            </a:pPr>
            <a:r>
              <a:rPr lang="de-DE" dirty="0"/>
              <a:t>These </a:t>
            </a:r>
            <a:r>
              <a:rPr lang="de-DE" dirty="0" err="1"/>
              <a:t>models</a:t>
            </a:r>
            <a:r>
              <a:rPr lang="de-DE" dirty="0"/>
              <a:t>  </a:t>
            </a:r>
            <a:r>
              <a:rPr lang="de-DE" dirty="0" err="1"/>
              <a:t>capture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outer</a:t>
            </a:r>
            <a:r>
              <a:rPr lang="de-DE" dirty="0"/>
              <a:t> </a:t>
            </a:r>
            <a:r>
              <a:rPr lang="de-DE" dirty="0" err="1"/>
              <a:t>building</a:t>
            </a:r>
            <a:r>
              <a:rPr lang="de-DE" dirty="0"/>
              <a:t> </a:t>
            </a:r>
            <a:r>
              <a:rPr lang="de-DE" dirty="0" err="1"/>
              <a:t>area</a:t>
            </a:r>
            <a:r>
              <a:rPr lang="de-DE" dirty="0"/>
              <a:t> but…</a:t>
            </a:r>
          </a:p>
          <a:p>
            <a:pPr marL="171450" indent="-171450">
              <a:buFontTx/>
              <a:buChar char="-"/>
            </a:pPr>
            <a:r>
              <a:rPr lang="de-DE" dirty="0"/>
              <a:t>This </a:t>
            </a:r>
            <a:r>
              <a:rPr lang="de-DE" dirty="0" err="1"/>
              <a:t>gap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simplified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and a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internal </a:t>
            </a:r>
            <a:r>
              <a:rPr lang="de-DE" dirty="0" err="1"/>
              <a:t>zoning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mza</a:t>
            </a:r>
            <a:r>
              <a:rPr lang="de-DE" dirty="0"/>
              <a:t> </a:t>
            </a:r>
            <a:r>
              <a:rPr lang="de-DE" dirty="0" err="1"/>
              <a:t>becomes</a:t>
            </a:r>
            <a:r>
              <a:rPr lang="de-DE" dirty="0"/>
              <a:t> relevant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238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2025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0103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Geodata </a:t>
            </a:r>
          </a:p>
          <a:p>
            <a:r>
              <a:rPr lang="en-GB" dirty="0"/>
              <a:t>Public data like </a:t>
            </a:r>
            <a:r>
              <a:rPr lang="en-GB" dirty="0" err="1"/>
              <a:t>Citygml</a:t>
            </a:r>
            <a:r>
              <a:rPr lang="en-GB" dirty="0"/>
              <a:t> and </a:t>
            </a:r>
            <a:r>
              <a:rPr lang="en-GB" dirty="0" err="1"/>
              <a:t>osm</a:t>
            </a:r>
            <a:br>
              <a:rPr lang="en-GB" dirty="0"/>
            </a:br>
            <a:r>
              <a:rPr lang="en-GB" dirty="0"/>
              <a:t>- City GML provides: 3D building envelope, roof type, orientation ….</a:t>
            </a:r>
            <a:br>
              <a:rPr lang="en-GB" dirty="0"/>
            </a:br>
            <a:r>
              <a:rPr lang="en-GB" dirty="0"/>
              <a:t>- OSM: Streets, address point, building type</a:t>
            </a: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Inner building data</a:t>
            </a:r>
            <a:br>
              <a:rPr lang="en-GB" dirty="0"/>
            </a:br>
            <a:r>
              <a:rPr lang="en-GB" dirty="0"/>
              <a:t>- dimensions/regulations for staircase, corridors, average apartment area with respect to DIN, LBO and </a:t>
            </a:r>
            <a:r>
              <a:rPr lang="en-GB" dirty="0" err="1"/>
              <a:t>Destatis</a:t>
            </a:r>
            <a:r>
              <a:rPr lang="en-GB" dirty="0"/>
              <a:t>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Discretization by Binary space partitioning – divides footprint into smaller leaves until a set granularity is fulfilled 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8144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Staircase positioned along the detected façade</a:t>
            </a:r>
          </a:p>
          <a:p>
            <a:pPr marL="171450" indent="-171450">
              <a:buFontTx/>
              <a:buChar char="-"/>
            </a:pPr>
            <a:r>
              <a:rPr lang="en-GB" dirty="0"/>
              <a:t>Seeds placed around the staircase/corridor boundaries (like doors) </a:t>
            </a:r>
          </a:p>
          <a:p>
            <a:pPr marL="171450" indent="-171450">
              <a:buFontTx/>
              <a:buChar char="-"/>
            </a:pPr>
            <a:r>
              <a:rPr lang="en-GB" dirty="0"/>
              <a:t>Each seed acts as a Voronoi cell origin -&gt; creates an initial zoning</a:t>
            </a:r>
          </a:p>
          <a:p>
            <a:pPr marL="171450" indent="-171450">
              <a:buFontTx/>
              <a:buChar char="-"/>
            </a:pPr>
            <a:r>
              <a:rPr lang="en-GB" dirty="0"/>
              <a:t>We do this process for X-</a:t>
            </a:r>
            <a:r>
              <a:rPr lang="en-GB" dirty="0" err="1"/>
              <a:t>Itearions</a:t>
            </a:r>
            <a:r>
              <a:rPr lang="en-GB" dirty="0"/>
              <a:t> for different seed placement and continuously checked for necessary </a:t>
            </a:r>
            <a:r>
              <a:rPr lang="en-GB" dirty="0" err="1"/>
              <a:t>constains</a:t>
            </a:r>
            <a:r>
              <a:rPr lang="en-GB" dirty="0"/>
              <a:t> / errors like artifacts, </a:t>
            </a:r>
            <a:r>
              <a:rPr lang="en-GB" dirty="0" err="1"/>
              <a:t>cutted</a:t>
            </a:r>
            <a:r>
              <a:rPr lang="en-GB" dirty="0"/>
              <a:t> windows (if included), connection to outer walls …</a:t>
            </a:r>
          </a:p>
          <a:p>
            <a:pPr marL="171450" indent="-171450">
              <a:buFontTx/>
              <a:buChar char="-"/>
            </a:pPr>
            <a:r>
              <a:rPr lang="en-GB" dirty="0"/>
              <a:t>Postprocessing needed to get rid of step patterns or other problems caused by the seed grow 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9824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Score defines the best result by taking the total perimeter and the area share between the zones into account </a:t>
            </a:r>
          </a:p>
          <a:p>
            <a:pPr marL="171450" indent="-171450">
              <a:buFontTx/>
              <a:buChar char="-"/>
            </a:pPr>
            <a:r>
              <a:rPr lang="en-GB" dirty="0"/>
              <a:t>Alpha: Bigger alpha -&gt; area range more important (usually 2.0)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3006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0451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The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represnts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room</a:t>
            </a:r>
            <a:r>
              <a:rPr lang="de-DE" dirty="0"/>
              <a:t> type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adjacency</a:t>
            </a:r>
            <a:r>
              <a:rPr lang="de-DE" dirty="0"/>
              <a:t> </a:t>
            </a:r>
            <a:r>
              <a:rPr lang="de-DE" dirty="0" err="1"/>
              <a:t>characteristics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Filter </a:t>
            </a:r>
            <a:r>
              <a:rPr lang="de-DE" dirty="0" err="1"/>
              <a:t>balconies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Identify</a:t>
            </a:r>
            <a:r>
              <a:rPr lang="de-DE" dirty="0"/>
              <a:t> </a:t>
            </a:r>
            <a:r>
              <a:rPr lang="de-DE" dirty="0" err="1"/>
              <a:t>apartment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adjacency</a:t>
            </a:r>
            <a:r>
              <a:rPr lang="de-DE" dirty="0"/>
              <a:t> </a:t>
            </a:r>
            <a:r>
              <a:rPr lang="de-DE" dirty="0" err="1"/>
              <a:t>graph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Extract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apartment</a:t>
            </a:r>
            <a:r>
              <a:rPr lang="de-DE" dirty="0"/>
              <a:t> </a:t>
            </a:r>
            <a:r>
              <a:rPr lang="de-DE" dirty="0" err="1"/>
              <a:t>footprint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room</a:t>
            </a:r>
            <a:r>
              <a:rPr lang="de-DE" dirty="0"/>
              <a:t> </a:t>
            </a:r>
            <a:r>
              <a:rPr lang="de-DE" dirty="0" err="1"/>
              <a:t>polygons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GT</a:t>
            </a:r>
          </a:p>
          <a:p>
            <a:pPr marL="171450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3517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And like </a:t>
            </a:r>
            <a:r>
              <a:rPr lang="de-DE" dirty="0" err="1"/>
              <a:t>like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discussed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beginning</a:t>
            </a:r>
            <a:r>
              <a:rPr lang="de-DE" dirty="0"/>
              <a:t> MZA </a:t>
            </a:r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dirty="0" err="1"/>
              <a:t>cityGML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an </a:t>
            </a:r>
            <a:r>
              <a:rPr lang="de-DE" dirty="0" err="1"/>
              <a:t>input</a:t>
            </a:r>
            <a:r>
              <a:rPr lang="de-DE" dirty="0"/>
              <a:t>,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Citygml</a:t>
            </a:r>
            <a:r>
              <a:rPr lang="de-DE" dirty="0"/>
              <a:t> </a:t>
            </a:r>
            <a:r>
              <a:rPr lang="de-DE" dirty="0" err="1"/>
              <a:t>covers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outer</a:t>
            </a:r>
            <a:r>
              <a:rPr lang="de-DE" dirty="0"/>
              <a:t> </a:t>
            </a:r>
            <a:r>
              <a:rPr lang="de-DE" dirty="0" err="1"/>
              <a:t>building</a:t>
            </a:r>
            <a:r>
              <a:rPr lang="de-DE" dirty="0"/>
              <a:t> </a:t>
            </a:r>
            <a:r>
              <a:rPr lang="de-DE" dirty="0" err="1"/>
              <a:t>area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footprint</a:t>
            </a:r>
            <a:r>
              <a:rPr lang="de-DE" dirty="0"/>
              <a:t>,</a:t>
            </a:r>
          </a:p>
          <a:p>
            <a:pPr marL="171450" indent="-171450">
              <a:buFontTx/>
              <a:buChar char="-"/>
            </a:pPr>
            <a:r>
              <a:rPr lang="de-DE" dirty="0"/>
              <a:t>Extract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building</a:t>
            </a:r>
            <a:r>
              <a:rPr lang="de-DE" dirty="0"/>
              <a:t> </a:t>
            </a:r>
            <a:r>
              <a:rPr lang="de-DE" dirty="0" err="1"/>
              <a:t>footprint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union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apartments</a:t>
            </a:r>
            <a:r>
              <a:rPr lang="de-DE" dirty="0"/>
              <a:t>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staircase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Normsalised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mza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place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staircase</a:t>
            </a:r>
            <a:r>
              <a:rPr lang="de-DE" dirty="0"/>
              <a:t> </a:t>
            </a:r>
            <a:r>
              <a:rPr lang="de-DE" dirty="0" err="1"/>
              <a:t>accurately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replace</a:t>
            </a:r>
            <a:r>
              <a:rPr lang="de-DE" dirty="0"/>
              <a:t> a </a:t>
            </a:r>
            <a:r>
              <a:rPr lang="de-DE" dirty="0" err="1"/>
              <a:t>building</a:t>
            </a:r>
            <a:r>
              <a:rPr lang="de-DE" dirty="0"/>
              <a:t> in an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gml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and </a:t>
            </a:r>
            <a:r>
              <a:rPr lang="de-DE" dirty="0" err="1"/>
              <a:t>create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building</a:t>
            </a:r>
            <a:r>
              <a:rPr lang="de-DE" dirty="0"/>
              <a:t> </a:t>
            </a:r>
            <a:r>
              <a:rPr lang="de-DE" dirty="0" err="1"/>
              <a:t>footprint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125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 </a:t>
            </a:r>
            <a:r>
              <a:rPr lang="de-DE" dirty="0" err="1"/>
              <a:t>Transfered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real 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measurements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a </a:t>
            </a:r>
            <a:r>
              <a:rPr lang="de-DE" dirty="0" err="1"/>
              <a:t>scale</a:t>
            </a:r>
            <a:r>
              <a:rPr lang="de-DE" dirty="0"/>
              <a:t> </a:t>
            </a:r>
            <a:r>
              <a:rPr lang="de-DE" dirty="0" err="1"/>
              <a:t>facttor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calculated</a:t>
            </a:r>
            <a:r>
              <a:rPr lang="de-DE" dirty="0"/>
              <a:t>….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6012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3750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56474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4012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88625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3427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292B943-63E8-4E1E-B31E-5FE386090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9454"/>
            <a:ext cx="9697665" cy="1141439"/>
          </a:xfr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23750"/>
            <a:ext cx="9541821" cy="3221856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5B16576-B954-4493-9E58-E9C5386E81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58F85F-E39F-6DF2-648B-F85C48FB19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76295D-E20E-919F-946F-82E3A703EF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25600" y="6544800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22.01.2026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199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2F87A75-3F72-6661-3C8C-5F55ECF6EF1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1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53246B2-203D-4635-9023-C83C1FB1E1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2C564B2-3B65-9088-DFD7-AB7EDE92BA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48B4FDF-C91E-4E63-9070-D94BAC1B27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445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7200"/>
            <a:ext cx="10801349" cy="489585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91817E-6423-D72F-7A29-7C696C78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357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E99B02-7125-B0DB-A965-82CB442B297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169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1A67A15-EB3D-B357-6153-033E99D34267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951DB75-C581-BF8A-0FC7-DF33D2FBE0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2C0EA8B-EF64-0432-2FB0-872635D2E4F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BECCF2-24E5-51A8-E7D9-E053B81C2C0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8284FDF0-9695-432C-8311-6A507C0F1D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790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783FE90B-8144-4EE7-83DD-1BF890852B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E07709-F5D6-04F5-13BA-175ED852645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31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B1415D85-ECEE-44AA-B226-4998B44E2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424654-2778-EA1B-0192-6D8875E1171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118AD26C-52C9-4C02-983C-1ED47C3EED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1D192FC4-FD48-4D17-AF60-7541FACA3F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0DFB2603-4141-4F7E-B0B2-4354CE1418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292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91817E-6423-D72F-7A29-7C696C78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4E12AEFA-037C-13A6-D9D9-349DFD23D7F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C38032FD-A923-4443-A1D8-3B56F7A36E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70329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E454AC21-5CA9-4DCD-9E64-33EE941B0352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A41E4-A17D-03A8-9521-4B67C9D842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710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1C20BEF9-F6A4-4E18-813E-7C7A4A89EFB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51400423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DFA15C25-778F-45D2-A70E-06F46D1BF03A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9CAA27B-59B5-D915-6398-75A94668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227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D5A43E47-9416-3DCC-8243-87AE52AE2064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A41E4-A17D-03A8-9521-4B67C9D842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0EB41DB-513E-D1FC-EB6E-F88FF4034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6" name="Title 1">
            <a:extLst>
              <a:ext uri="{FF2B5EF4-FFF2-40B4-BE49-F238E27FC236}">
                <a16:creationId xmlns:a16="http://schemas.microsoft.com/office/drawing/2014/main" id="{9F7AC6E4-74E3-4906-97BC-665D70651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0521C5E6-5AD7-4726-9215-81EF0A3B2C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1D5AD3F1-257E-4CAB-9E7D-713CE2C5F8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651E3E1F-40DC-4A50-8435-88A71D7454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A375A6EE-5566-4E8F-836B-C3F3896F66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E3C2FB1C-94F4-48FE-B6DB-A866B5A688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92357526-D93A-4066-BD49-311667EDEF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5C2C7A12-AD21-4DDC-9AF7-085077B490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0C71BAD2-137F-44BF-99B6-022B986555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87CF985B-A95F-4960-A86A-0F5395BDC6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338E5521-5986-44DA-824C-F76102AD2D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F102411E-A5A6-4503-B089-AFE4A6F906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7AD751A7-D233-4903-AE09-AE5563A935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9" name="Text Placeholder 10">
            <a:extLst>
              <a:ext uri="{FF2B5EF4-FFF2-40B4-BE49-F238E27FC236}">
                <a16:creationId xmlns:a16="http://schemas.microsoft.com/office/drawing/2014/main" id="{F13406CA-16A4-471C-9380-485D83E6F4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2B6B90AE-1E90-41DE-AD49-8920C781964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B484E7E0-271A-457C-9D61-BD7CDB566B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92325" y="3951614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26AE414A-8070-46F6-BA13-BA5527DEDC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FC645CE-EC23-49F1-932A-6119FF64E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4FBFCD8-0815-4EFA-9335-A217FD00F955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1883CD8-93FA-4ABE-8EA8-60058BB51A0D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92BFF339-5E1A-442E-B755-2302600BB75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7EBFEEC-D396-445B-803E-2A941793CB35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5850F23-85E0-4907-AB95-3582A4376BF6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9B4E5DD-F6E0-4CDE-9696-A6B8C5C0E7E5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214BB24-4150-4CFD-A7F0-99377AB89F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F0D25CE-BCE0-4899-993E-C90F7A60E8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CC638B8-90B0-47F5-BF0B-B6E03F78403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1282572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B0086F4-79CC-4C17-A66D-6FE3F7A7FBC1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7156BA7-260B-4265-A60D-4B5D96057931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38A7E052-E95C-451A-8625-B1079423B1F1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E001CCE-A05F-47CE-995C-CA64F5D66114}"/>
                </a:ext>
              </a:extLst>
            </p:cNvPr>
            <p:cNvSpPr/>
            <p:nvPr/>
          </p:nvSpPr>
          <p:spPr>
            <a:xfrm>
              <a:off x="7066952" y="378719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045423ED-E1AA-46BF-BC21-9C0DF7CF9849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6B17A0B7-542D-4FB7-8E1E-109E2793B069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7C5E2D3-FC53-43E5-9E1A-5A6D02BFA1AD}"/>
                </a:ext>
              </a:extLst>
            </p:cNvPr>
            <p:cNvCxnSpPr>
              <a:cxnSpLocks/>
              <a:stCxn id="79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A85CDA2-9C2A-4DC5-9B9D-275BA8404E43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2371313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9E635-A301-4901-BEB6-0544008DF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3B977-FF57-4AA2-B892-F24BEDB898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E7076-A4FB-4F4C-9DEF-CF4C02EB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4971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D1826-16E1-4BF0-BE29-EB2B7299E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8917CA-56F5-4B6B-A21A-456794C5D6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666DD8-A332-482F-B38D-CE88DA0A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9432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E4EDC0B4-4839-D67D-DEEC-401133DF66D9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560AFC3-57D0-F888-0409-6E4AE04E7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graphicFrame>
        <p:nvGraphicFramePr>
          <p:cNvPr id="5" name="Tabellenplatzhalter 7">
            <a:extLst>
              <a:ext uri="{FF2B5EF4-FFF2-40B4-BE49-F238E27FC236}">
                <a16:creationId xmlns:a16="http://schemas.microsoft.com/office/drawing/2014/main" id="{0D05A9C7-78D0-EE06-3C91-0B44CAD5C348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173544782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pic>
        <p:nvPicPr>
          <p:cNvPr id="7" name="Grafik 6">
            <a:extLst>
              <a:ext uri="{FF2B5EF4-FFF2-40B4-BE49-F238E27FC236}">
                <a16:creationId xmlns:a16="http://schemas.microsoft.com/office/drawing/2014/main" id="{414B1055-33F2-706A-B987-AD219F01C4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3" name="Foliennummernplatzhalter 6">
            <a:extLst>
              <a:ext uri="{FF2B5EF4-FFF2-40B4-BE49-F238E27FC236}">
                <a16:creationId xmlns:a16="http://schemas.microsoft.com/office/drawing/2014/main" id="{64DEE5FA-1A0F-5F55-0896-0246BC7D6F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4" name="Fußzeilenplatzhalter 3">
            <a:extLst>
              <a:ext uri="{FF2B5EF4-FFF2-40B4-BE49-F238E27FC236}">
                <a16:creationId xmlns:a16="http://schemas.microsoft.com/office/drawing/2014/main" id="{EC8C11A2-D458-BDE8-F2BF-ADAFB418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6806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43B56E86-EFEB-4205-AA4A-9F3E82413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3209"/>
            <a:ext cx="9697665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lnSpc>
                <a:spcPct val="100000"/>
              </a:lnSpc>
              <a:spcBef>
                <a:spcPts val="100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4066C5-F371-4079-BEC5-D83B78D0CF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C05F074-4978-BB63-F797-D5FCF9961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25600" y="6544800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09CECA-60EA-35F9-5F27-CF64A7C897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4685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AF35D6C1-0699-3B81-DD6A-0016F7A8D7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FBA6571-CE1B-47EB-8C1E-D5A1391EAE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32C7237-52B1-CB5D-D118-2836DC556E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F1FF6555-F43F-4F6F-8557-7775ED911D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4226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896D9-06D8-F605-C9DB-A951947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4300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263446-0FBB-7B9F-7376-C85F4725E6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96307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B571AC-F556-C50A-DAD2-4638503AA73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43C99AA0-30B9-CB68-5447-173C21DF9A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E5E99BBD-0EE1-272A-B9CD-BB38CD6536A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160246-4126-D54D-D8F2-4EA413129C1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2E4B575B-830B-4042-B5E3-854ED6742E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51263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B0949BCE-540C-4310-9432-ECBCD4F9E8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C8D3D5-3F24-32BA-B9E4-6239FD09AA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47385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A1BCFDDC-E704-4456-842B-CA12D08661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38C3D2-DF70-153A-B8DF-4CECDC07280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3D74F0FA-8F68-4378-8DBC-19E1F6A0E5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8D0D31E6-199E-4219-A707-84C3133E30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3B652E60-BB22-4CDC-B46E-3983789A55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0049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896D9-06D8-F605-C9DB-A951947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6FFF96C-003A-2C95-0C20-6A5ECF67AE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2C0F5C3-8222-0817-ECCA-D675DF1CE7E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A4678D57-D387-497F-BE8F-CC4BED8016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74391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51EFB8F-681F-B958-6016-DE1F84F28F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95776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0D3ABB45-EB62-4087-B3EF-39BEE25E708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562190330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3D336417-AA09-48C9-BDF2-558668A9C82D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407347F-35E4-52BE-8323-09918044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06335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16133B2B-12C4-FE1C-E575-FCC33EDD08E8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8C0A269-0A22-1F24-8A6F-92CF83B25C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1D6C117F-FFC7-BDD4-24D7-796BC82D0EF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7A68C062-180C-99B8-FA50-EA5C79290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04735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D7E6995-96CC-3982-D5B2-C86FEE3250A0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liennummernplatzhalter 6">
            <a:extLst>
              <a:ext uri="{FF2B5EF4-FFF2-40B4-BE49-F238E27FC236}">
                <a16:creationId xmlns:a16="http://schemas.microsoft.com/office/drawing/2014/main" id="{D4835C53-91E7-6F9B-B923-BC1D5AC13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B2529C76-0D8A-EF87-45E6-0ADDE5F1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71F05D1-9FC5-816E-FCE9-742956FC2E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2" name="Titel 4">
            <a:extLst>
              <a:ext uri="{FF2B5EF4-FFF2-40B4-BE49-F238E27FC236}">
                <a16:creationId xmlns:a16="http://schemas.microsoft.com/office/drawing/2014/main" id="{E6EC0CBA-DCD5-B2B0-E997-0F914B7AC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graphicFrame>
        <p:nvGraphicFramePr>
          <p:cNvPr id="13" name="Tabellenplatzhalter 7">
            <a:extLst>
              <a:ext uri="{FF2B5EF4-FFF2-40B4-BE49-F238E27FC236}">
                <a16:creationId xmlns:a16="http://schemas.microsoft.com/office/drawing/2014/main" id="{E4A06E74-DBC5-BFB5-A583-5D6E319BBD4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95061288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2679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A1DD6DF-B176-485D-B01F-0D026F51E4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3208"/>
            <a:ext cx="9697665" cy="1141439"/>
          </a:xfrm>
          <a:solidFill>
            <a:srgbClr val="BE9600">
              <a:alpha val="80000"/>
            </a:srgb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79A18D-BDEC-4A1A-B4E8-0BBF0FB0A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338560D-8EC4-B53A-7006-5B5A972DC7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25600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02EDA2-8AA2-0466-B051-008CD77640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3366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2">
            <a:extLst>
              <a:ext uri="{FF2B5EF4-FFF2-40B4-BE49-F238E27FC236}">
                <a16:creationId xmlns:a16="http://schemas.microsoft.com/office/drawing/2014/main" id="{A29A4717-2733-B1CC-C548-EE7EB957DA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rgbClr val="BE9600">
              <a:alpha val="80000"/>
            </a:srgb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E24BD797-BDE4-4F8B-BD63-88445F304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C9E1831-352F-2D39-ACE5-21BCE2855B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5320569E-7EBB-42F9-B989-19AC2BA590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5286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7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5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1352857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EBC151-FC60-E584-26BE-7134EAB8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33920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7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5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2644788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07BD53-6A79-8877-2BE1-B0C49A39BD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62905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7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5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3964514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4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187CB7-2C33-1C03-52A8-8996E6753E4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56228A2-CAF9-B1A1-1C97-DA91AB6BED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CA1CEBC5-E31D-F865-99F9-F5B2C3A4B1C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1A145E-844F-C173-0E1A-4D5807A9AB0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20E4FEBA-B0DE-4B79-99F8-C969B4E3A9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33508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59E7F815-FED3-4D8F-9D9B-35CCAF3B26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093030-8FCB-CEE5-FAC4-DF786DEBF90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30136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9D0FAF78-2A5F-4E8E-B1EE-D7C4255495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09EDA4-178A-19BE-891D-96E3D2B19D2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4CA3CBF-84EB-43B9-A448-AE66CF1B19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8648652F-2A78-4696-BEDF-2827E67835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4D0E809D-C311-4031-A613-368FF399A7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84789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EBC151-FC60-E584-26BE-7134EAB8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05F4847-2276-AAFB-108E-DBA5E7360C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BE329DB-A001-C66F-6040-0E345285523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935316FE-8476-4572-87B2-B715CCF583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16546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0E2FA4-B336-450E-D6C0-FA99C883B4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73541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7" name="Tabellenplatzhalter 7">
            <a:extLst>
              <a:ext uri="{FF2B5EF4-FFF2-40B4-BE49-F238E27FC236}">
                <a16:creationId xmlns:a16="http://schemas.microsoft.com/office/drawing/2014/main" id="{215C28A5-80CD-4F42-9C77-C690E11449E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926700702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598141AE-B519-4BF8-86A2-54973B0ADDE5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75B4983-3911-6B34-D420-98DD812B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41664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14E77E2-5257-225C-6093-789249091B84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1913AF20-2093-81B8-D3CF-3988C0D0E2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601CA69-20CF-6A99-B9FF-A1A445743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9AA2D8C-E67C-1DBB-33C4-8FC8AE2C9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412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0B2BD55-0944-2EB8-30AE-4EC0EBD1C778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liennummernplatzhalter 6">
            <a:extLst>
              <a:ext uri="{FF2B5EF4-FFF2-40B4-BE49-F238E27FC236}">
                <a16:creationId xmlns:a16="http://schemas.microsoft.com/office/drawing/2014/main" id="{8E332830-1B76-0834-BFD4-B0A738EACD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392DD0-9A3C-88DC-7FA4-612131847E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Fußzeilenplatzhalter 3">
            <a:extLst>
              <a:ext uri="{FF2B5EF4-FFF2-40B4-BE49-F238E27FC236}">
                <a16:creationId xmlns:a16="http://schemas.microsoft.com/office/drawing/2014/main" id="{8A8560D2-D042-38FC-1DF9-D8044861589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2" name="Titel 4">
            <a:extLst>
              <a:ext uri="{FF2B5EF4-FFF2-40B4-BE49-F238E27FC236}">
                <a16:creationId xmlns:a16="http://schemas.microsoft.com/office/drawing/2014/main" id="{14023C8A-8B07-0D4C-F346-2C1B9789C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graphicFrame>
        <p:nvGraphicFramePr>
          <p:cNvPr id="13" name="Tabellenplatzhalter 7">
            <a:extLst>
              <a:ext uri="{FF2B5EF4-FFF2-40B4-BE49-F238E27FC236}">
                <a16:creationId xmlns:a16="http://schemas.microsoft.com/office/drawing/2014/main" id="{C345DDFB-6457-0140-C751-BBDEB3109C3B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088028885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7259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1B0C-294F-4827-A3C9-0051268EC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E1303B-EE51-43E7-88C4-82455B1B46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7B69E-7B5F-4955-8312-B753376F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57595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7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5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557479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/Fullscreen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2">
            <a:extLst>
              <a:ext uri="{FF2B5EF4-FFF2-40B4-BE49-F238E27FC236}">
                <a16:creationId xmlns:a16="http://schemas.microsoft.com/office/drawing/2014/main" id="{C2226DF2-778A-4612-9F78-6765D18406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12192001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87F97911-DA70-4C70-822A-1814FBD79C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7EBD16-097C-4A05-9018-8E3005584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7813AC-780E-0FEE-8DD2-961C8464CAC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8395D497-4BD0-4044-AB65-1F72BFD0F1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347327" y="396547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20577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7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5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656531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7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5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3851019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416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E99B02-7125-B0DB-A965-82CB442B297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95325" y="6544945"/>
            <a:ext cx="4114800" cy="25777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Kevin Waiz, Institut für Solarforschung, 16.08.2024</a:t>
            </a:r>
          </a:p>
        </p:txBody>
      </p:sp>
    </p:spTree>
    <p:extLst>
      <p:ext uri="{BB962C8B-B14F-4D97-AF65-F5344CB8AC3E}">
        <p14:creationId xmlns:p14="http://schemas.microsoft.com/office/powerpoint/2010/main" val="4527948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BA3E-3639-4587-8F77-54DD47046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228E5-E348-4A13-8910-F4D214EA5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5B2F-8B01-411D-912C-357E4A658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A17AF-FB17-46DB-9166-E0D8DB3E5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74827-B792-4498-AFD0-ECFA7F48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3554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56A52-24FC-4BA0-ABF8-B06B32430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079BC-5A96-4567-B0BF-3C7146BD3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ADABC-CB2E-40F7-9920-01C64FF7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73035-A2E9-481F-B39B-8BAFC4264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F8D96-602A-4530-9B20-0BB1978A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8845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14C00-5E8F-4444-8188-E04BBEAD4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73623-AC94-4526-A3CB-7BC135D5D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6D0DF-682E-472B-B737-5647174E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75B6F-5E56-4B85-A523-BA25AC05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CFA44-9AFC-43A5-A102-808596E7F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9093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ACD4-C0EC-4405-891B-AD67CFF5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57641-3F68-4B7B-BD8C-F8A6CD3CA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5E256-F96B-403D-8AB3-525F1F5E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4AC1D-FD95-4DC5-8424-84354D38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FCFF8-2921-49CF-86CB-A494FF432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C6A29-794A-4354-B913-67DDE76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946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9590-1476-42D7-8042-A17D2878C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7BD75-4774-433A-A052-C8D9E0CAA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1FAF6-E107-4ED4-A31F-D078D00FB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874FA3-B6A6-4542-A2DE-9D7F8EDC0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AE51F-6D1C-4844-9D25-D585EC6F2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809A6-8A76-4DAB-92D4-55028482D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68B60-20B2-423D-BDE5-1520E3FB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A4DC77-256B-49C7-B388-CBCB16AD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53423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0FB26-4008-4AA0-A68E-AAC24420B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0B1F7B-E3DC-4609-9D14-5E51F243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C0EA3-83D9-425C-98B0-78407F7F3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976A9-C0DB-4729-BD39-7BEB8BBDE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30554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07DF6B-3459-4CA9-B441-69E42429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01C6A3-3414-45C9-A7EB-D2C717B90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B9935-9F9E-4033-8804-D4F13A413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2720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094E2-5E3B-4CD7-8405-8197D42D7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22E14-58AD-4280-992C-A13E2E3AC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BE960-98B5-4F8A-BA94-BDC26DD45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B8D3B-E2A4-43B8-8201-F389AFC12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0BC48-3442-4CC1-8DB8-BE9543D33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C67DC-D035-4D1C-B642-3B6591A8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81447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FE68-4253-48B2-8D39-87D4C03B6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CE046A-2823-466C-972E-8F23A8D5F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83759-0D7F-4874-8145-A48403B4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D2BBE-38AA-4B6B-9C06-A65D3580C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F758C-CCAC-4C15-91FF-04D68653B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FFFDE-3A26-44B0-ABFF-98394881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8119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6435-CE8B-4CC7-AF3F-D7EDA247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B8604-5606-43EF-949A-08A520E00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6A1EA-3A0A-4F0C-BF67-65C14286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D55AF-56A8-4C69-B700-5B3F83787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66A9A-D4E5-415B-A1ED-995C6C6D3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41104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A210C4-43A1-4109-BD53-E3ECDB419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977CD7-0802-4751-838C-C85E2B67B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8D3C6-5945-4B25-B0CC-118F6E1B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FA1C8-3D69-41E0-99FC-265051A41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1A1D0-31C2-48A0-A68D-65D4AA57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54281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BB4B-5D4C-407E-A9C5-22DED966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8F1F0-1CD6-4458-A227-32B09EC1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2EF43-08CE-4479-835A-3CDE678B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FCD80-1E43-44D9-93AF-00B2C4D6F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5955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7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5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5315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E989-79CE-43C1-8C9B-ED200B964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AB4E8-0EC3-4201-968C-968A67285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70BE7-0243-4E03-B485-4AD6934A4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9898F-D1C2-4C13-8AF0-37F22A46C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C8339-0C0C-4CF3-AD19-5CEA73EF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3102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2297-E818-4A33-A710-E4764824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0CA16-091A-451D-A515-9880055C7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9A40E-F08A-4742-A7C8-FDCC9FA80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9EB86-E549-4D6B-979A-F90D8873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9BEFF-2E0F-4128-A152-C5DA9CAC8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15372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36EFA-4B62-4C42-843A-DE5B3BB16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DC76D-825F-4635-A02A-8CE4478E1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8F3DA-4400-45F3-8F50-120A93CF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719B9-72C4-457A-8381-F9343D194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5F6F2-BF00-47DD-8F44-89B6EE87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03777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C883-2AF9-4995-BE43-9D1B6D8DC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7E64F-FCEF-490F-8000-DDEE26DF5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0C34C-B282-40AF-B793-823673B09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547A1-D8C5-4CBA-8F1C-05B139565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245B3-1116-4999-ABEA-6EFD0C0E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705DF-8284-4861-BCBF-CE7C31A63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9906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53FD6-28AA-4BFF-9103-D2D09196F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5F523-FC35-4A59-9C77-E8444FAD4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B0DC6-07B3-4452-9774-168DD5A0D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75AA48-2B7B-4F8C-902E-A5035ED7D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F467D5-E758-427F-985A-C0C99593B9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15DC41-91A1-4DB7-B0B2-E0CFFE312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C38080-3CE5-49B1-B32B-548B7C705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1A0D47-6DB8-4561-89F6-25706BCC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03749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F75CE-6628-470B-9526-8E3BFB09B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D5604-5DAB-4201-A8D1-559417AE6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44734-FFD2-4574-BA15-DF9B57A3C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E0796-DBCE-4616-842D-DB9BC3CA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225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6EB3E-D24C-4004-992D-9E88210EC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4A4205-F4E8-4952-9F65-EB92B7A35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FFCE1-19E3-4441-B7B4-5696C353B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83446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2E7A0-939E-425C-A3BE-273E6905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17969-1872-4D54-9AF9-129E38CD0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1566A-AF02-49D2-9726-53B454860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5412B-5B48-4055-BE39-C25E2B33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C9ECC-FE80-48F1-B3CD-DAB08F4E5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87F06-4BFA-4568-87B8-A3B039641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4372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643D4-278B-442B-9026-EF48B41D8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3EF0F-3CBB-4806-81C8-7210A952F4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1E5A9-AEB6-4809-8913-104E0B0C4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26799-D85D-42A6-9273-B5B062A61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29B5C-4133-4EBF-8B13-01CE8D13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11AE3-E5C3-4343-AC8D-1D4F7EA3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55012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0425-D647-4C3F-95CD-99F93CB6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4E1B4-51A7-4482-AD1F-C0D2F56E3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D06E2-7054-4118-859A-C577235D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1E0BC-EF0D-46B3-AE1A-286B549F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712DD-C5EA-48D9-8FBB-CA89671B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55476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736A97-A667-476E-A75D-05F7A39210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7DC9C-415A-434F-867D-43C967419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CFBB4-C272-4A83-BF79-6A314EB3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02B62-EEDD-4C71-A57C-DA5807C1F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89150-7CC9-434C-9AF9-F2721C1EC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172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3.jp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0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A21C0A-576F-4448-A405-945F7FEA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DA8A30-87AB-49C6-AE8C-F7B24CEC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628775"/>
            <a:ext cx="10801349" cy="4895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96809-C3E5-439C-AF0A-E75CD81D7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8822AB-459F-739F-855B-F69C7435C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544945"/>
            <a:ext cx="4114800" cy="2577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Sharon Thomas, DLR Institute of Solar Research, 22.01.2026</a:t>
            </a:r>
            <a:endParaRPr lang="de-DE" dirty="0"/>
          </a:p>
        </p:txBody>
      </p:sp>
      <p:pic>
        <p:nvPicPr>
          <p:cNvPr id="7" name="Grafik 6" descr="Ein Bild, das Farbigkeit, Quadrat, Rechteck, Screenshot enthält.&#10;&#10;Automatisch generierte Beschreibung">
            <a:extLst>
              <a:ext uri="{FF2B5EF4-FFF2-40B4-BE49-F238E27FC236}">
                <a16:creationId xmlns:a16="http://schemas.microsoft.com/office/drawing/2014/main" id="{B6B2436D-6F14-4C91-9F38-9FC66CBDB854}"/>
              </a:ext>
            </a:extLst>
          </p:cNvPr>
          <p:cNvPicPr>
            <a:picLocks noChangeAspect="1"/>
          </p:cNvPicPr>
          <p:nvPr userDrawn="1"/>
        </p:nvPicPr>
        <p:blipFill>
          <a:blip r:embed="rId49"/>
          <a:stretch>
            <a:fillRect/>
          </a:stretch>
        </p:blipFill>
        <p:spPr>
          <a:xfrm>
            <a:off x="-4412343" y="1874995"/>
            <a:ext cx="4101329" cy="324968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AEA2B8E-DD3B-4F4F-AFD8-DBE8E57FC574}"/>
              </a:ext>
            </a:extLst>
          </p:cNvPr>
          <p:cNvSpPr txBox="1"/>
          <p:nvPr userDrawn="1"/>
        </p:nvSpPr>
        <p:spPr>
          <a:xfrm>
            <a:off x="-4412343" y="1309144"/>
            <a:ext cx="4101329" cy="430887"/>
          </a:xfrm>
          <a:prstGeom prst="rect">
            <a:avLst/>
          </a:prstGeom>
          <a:solidFill>
            <a:srgbClr val="FF3399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b="1" i="0" baseline="0" dirty="0">
                <a:solidFill>
                  <a:schemeClr val="bg1"/>
                </a:solidFill>
              </a:rPr>
              <a:t>Select DLR-</a:t>
            </a:r>
            <a:r>
              <a:rPr lang="de-DE" sz="1400" b="1" i="0" baseline="0" dirty="0" err="1">
                <a:solidFill>
                  <a:schemeClr val="bg1"/>
                </a:solidFill>
              </a:rPr>
              <a:t>colours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below</a:t>
            </a:r>
            <a:r>
              <a:rPr lang="de-DE" sz="1400" b="1" i="0" baseline="0" dirty="0">
                <a:solidFill>
                  <a:schemeClr val="bg1"/>
                </a:solidFill>
              </a:rPr>
              <a:t> with </a:t>
            </a:r>
          </a:p>
          <a:p>
            <a:pPr algn="ctr"/>
            <a:r>
              <a:rPr lang="de-DE" sz="1400" b="1" i="0" baseline="0" dirty="0" err="1">
                <a:solidFill>
                  <a:schemeClr val="bg1"/>
                </a:solidFill>
              </a:rPr>
              <a:t>the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eyepopper</a:t>
            </a:r>
            <a:r>
              <a:rPr lang="de-DE" sz="1400" b="1" i="0" baseline="0" dirty="0">
                <a:solidFill>
                  <a:schemeClr val="bg1"/>
                </a:solidFill>
              </a:rPr>
              <a:t>/</a:t>
            </a:r>
            <a:r>
              <a:rPr lang="de-DE" sz="1400" b="1" i="0" baseline="0" dirty="0" err="1">
                <a:solidFill>
                  <a:schemeClr val="bg1"/>
                </a:solidFill>
              </a:rPr>
              <a:t>color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picker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tool</a:t>
            </a:r>
            <a:endParaRPr lang="de-CR" sz="1400" b="1" i="0" baseline="0" dirty="0">
              <a:solidFill>
                <a:schemeClr val="bg1"/>
              </a:solidFill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EF3CE64-FA21-4F63-B986-1358806923EF}"/>
              </a:ext>
            </a:extLst>
          </p:cNvPr>
          <p:cNvGrpSpPr/>
          <p:nvPr userDrawn="1"/>
        </p:nvGrpSpPr>
        <p:grpSpPr>
          <a:xfrm>
            <a:off x="12572057" y="4849"/>
            <a:ext cx="9360000" cy="5796000"/>
            <a:chOff x="12572057" y="4849"/>
            <a:chExt cx="9360000" cy="5796000"/>
          </a:xfrm>
        </p:grpSpPr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1ABC1C5C-A5DA-4EB3-B01E-8D75036C5553}"/>
                </a:ext>
              </a:extLst>
            </p:cNvPr>
            <p:cNvSpPr/>
            <p:nvPr/>
          </p:nvSpPr>
          <p:spPr>
            <a:xfrm>
              <a:off x="12572057" y="4849"/>
              <a:ext cx="9360000" cy="5796000"/>
            </a:xfrm>
            <a:prstGeom prst="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R"/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91925FDB-4FD6-4DDA-A197-927C63A89427}"/>
                </a:ext>
              </a:extLst>
            </p:cNvPr>
            <p:cNvSpPr txBox="1"/>
            <p:nvPr/>
          </p:nvSpPr>
          <p:spPr>
            <a:xfrm>
              <a:off x="12724457" y="157246"/>
              <a:ext cx="61098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Editing the header and footer</a:t>
              </a:r>
              <a:endParaRPr lang="de-CR" dirty="0">
                <a:solidFill>
                  <a:schemeClr val="bg1"/>
                </a:solidFill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F3DB58BC-7CAE-441F-B4EF-916243E1A37C}"/>
                </a:ext>
              </a:extLst>
            </p:cNvPr>
            <p:cNvSpPr txBox="1"/>
            <p:nvPr/>
          </p:nvSpPr>
          <p:spPr>
            <a:xfrm>
              <a:off x="12724457" y="792337"/>
              <a:ext cx="65465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Menu: "Insert" &gt; "Header and Footer" (see screenshot 1)</a:t>
              </a:r>
              <a:endParaRPr lang="de-DE" sz="1600" dirty="0">
                <a:solidFill>
                  <a:schemeClr val="bg1"/>
                </a:solidFill>
              </a:endParaRPr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CDABBF1B-88D5-43FA-9657-57AD29E3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15486" y="1481782"/>
              <a:ext cx="8779602" cy="920638"/>
            </a:xfrm>
            <a:prstGeom prst="rect">
              <a:avLst/>
            </a:prstGeom>
          </p:spPr>
        </p:pic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FE2F1701-2827-40C9-AB97-84473EB4C5E8}"/>
                </a:ext>
              </a:extLst>
            </p:cNvPr>
            <p:cNvSpPr txBox="1"/>
            <p:nvPr/>
          </p:nvSpPr>
          <p:spPr>
            <a:xfrm>
              <a:off x="12724457" y="1195691"/>
              <a:ext cx="50461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>
                  <a:solidFill>
                    <a:schemeClr val="bg1"/>
                  </a:solidFill>
                </a:rPr>
                <a:t>Screenshot 1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66F1CB0C-3FC9-4850-A700-E0D2CFB1DD44}"/>
                </a:ext>
              </a:extLst>
            </p:cNvPr>
            <p:cNvSpPr txBox="1"/>
            <p:nvPr/>
          </p:nvSpPr>
          <p:spPr>
            <a:xfrm>
              <a:off x="12724457" y="2947698"/>
              <a:ext cx="4307945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Adapt the input dialog to your individual needs and confirm the input by clicking the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"Apply to all" button if the change is to be made globally for all slides. </a:t>
              </a:r>
            </a:p>
            <a:p>
              <a:r>
                <a:rPr lang="en-US" sz="1600" dirty="0">
                  <a:solidFill>
                    <a:schemeClr val="bg1"/>
                  </a:solidFill>
                </a:rPr>
                <a:t>In case of partial change of single slides,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you have to confirm with the button "Apply".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(see screenshot 2)</a:t>
              </a:r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480B5319-4E69-430D-B813-478C6A3B34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5" t="4215" r="3045" b="3447"/>
            <a:stretch/>
          </p:blipFill>
          <p:spPr>
            <a:xfrm>
              <a:off x="17586852" y="2997154"/>
              <a:ext cx="4008235" cy="2547966"/>
            </a:xfrm>
            <a:prstGeom prst="rect">
              <a:avLst/>
            </a:prstGeom>
          </p:spPr>
        </p:pic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400701A2-BA4C-4126-8F58-5C36702060D0}"/>
                </a:ext>
              </a:extLst>
            </p:cNvPr>
            <p:cNvSpPr txBox="1"/>
            <p:nvPr/>
          </p:nvSpPr>
          <p:spPr>
            <a:xfrm>
              <a:off x="17498074" y="2750933"/>
              <a:ext cx="40970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>
                  <a:solidFill>
                    <a:schemeClr val="bg1"/>
                  </a:solidFill>
                </a:rPr>
                <a:t>Screenshot 2</a:t>
              </a:r>
            </a:p>
          </p:txBody>
        </p:sp>
        <p:sp>
          <p:nvSpPr>
            <p:cNvPr id="38" name="Ellipse 7">
              <a:extLst>
                <a:ext uri="{FF2B5EF4-FFF2-40B4-BE49-F238E27FC236}">
                  <a16:creationId xmlns:a16="http://schemas.microsoft.com/office/drawing/2014/main" id="{CB9D128F-6D13-4928-9A40-72234AD082DD}"/>
                </a:ext>
              </a:extLst>
            </p:cNvPr>
            <p:cNvSpPr/>
            <p:nvPr/>
          </p:nvSpPr>
          <p:spPr>
            <a:xfrm>
              <a:off x="17713206" y="1790425"/>
              <a:ext cx="589273" cy="561923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72438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0" r:id="rId3"/>
    <p:sldLayoutId id="2147483672" r:id="rId4"/>
    <p:sldLayoutId id="2147483674" r:id="rId5"/>
    <p:sldLayoutId id="2147483656" r:id="rId6"/>
    <p:sldLayoutId id="2147483653" r:id="rId7"/>
    <p:sldLayoutId id="2147483680" r:id="rId8"/>
    <p:sldLayoutId id="2147483654" r:id="rId9"/>
    <p:sldLayoutId id="2147483679" r:id="rId10"/>
    <p:sldLayoutId id="2147483686" r:id="rId11"/>
    <p:sldLayoutId id="2147483726" r:id="rId12"/>
    <p:sldLayoutId id="2147483712" r:id="rId13"/>
    <p:sldLayoutId id="2147483683" r:id="rId14"/>
    <p:sldLayoutId id="2147483662" r:id="rId15"/>
    <p:sldLayoutId id="2147483658" r:id="rId16"/>
    <p:sldLayoutId id="2147483663" r:id="rId17"/>
    <p:sldLayoutId id="2147483671" r:id="rId18"/>
    <p:sldLayoutId id="2147483675" r:id="rId19"/>
    <p:sldLayoutId id="2147483664" r:id="rId20"/>
    <p:sldLayoutId id="2147483665" r:id="rId21"/>
    <p:sldLayoutId id="2147483681" r:id="rId22"/>
    <p:sldLayoutId id="2147483670" r:id="rId23"/>
    <p:sldLayoutId id="2147483678" r:id="rId24"/>
    <p:sldLayoutId id="2147483687" r:id="rId25"/>
    <p:sldLayoutId id="2147483684" r:id="rId26"/>
    <p:sldLayoutId id="2147483661" r:id="rId27"/>
    <p:sldLayoutId id="2147483659" r:id="rId28"/>
    <p:sldLayoutId id="2147483707" r:id="rId29"/>
    <p:sldLayoutId id="2147483667" r:id="rId30"/>
    <p:sldLayoutId id="2147483708" r:id="rId31"/>
    <p:sldLayoutId id="2147483673" r:id="rId32"/>
    <p:sldLayoutId id="2147483709" r:id="rId33"/>
    <p:sldLayoutId id="2147483676" r:id="rId34"/>
    <p:sldLayoutId id="2147483668" r:id="rId35"/>
    <p:sldLayoutId id="2147483669" r:id="rId36"/>
    <p:sldLayoutId id="2147483682" r:id="rId37"/>
    <p:sldLayoutId id="2147483666" r:id="rId38"/>
    <p:sldLayoutId id="2147483677" r:id="rId39"/>
    <p:sldLayoutId id="2147483688" r:id="rId40"/>
    <p:sldLayoutId id="2147483685" r:id="rId41"/>
    <p:sldLayoutId id="2147483706" r:id="rId42"/>
    <p:sldLayoutId id="2147483692" r:id="rId43"/>
    <p:sldLayoutId id="2147483655" r:id="rId44"/>
    <p:sldLayoutId id="2147483691" r:id="rId45"/>
    <p:sldLayoutId id="2147483693" r:id="rId46"/>
    <p:sldLayoutId id="2147483727" r:id="rId4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F26B43"/>
          </p15:clr>
        </p15:guide>
        <p15:guide id="2" orient="horz" pos="210" userDrawn="1">
          <p15:clr>
            <a:srgbClr val="F26B43"/>
          </p15:clr>
        </p15:guide>
        <p15:guide id="3" pos="7242" userDrawn="1">
          <p15:clr>
            <a:srgbClr val="F26B43"/>
          </p15:clr>
        </p15:guide>
        <p15:guide id="4" orient="horz" pos="1026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orient="horz" pos="93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502C-4D4A-4C30-AA8C-483DCF4EB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607ED-F14F-4DDA-A53B-7962B20C2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7F275-67D5-4846-9440-F86A793C80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41BD-5D75-4356-B3E2-3CB8FB5D0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D38D-7E21-4998-93FB-B37F816F6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8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A21C0A-576F-4448-A405-945F7FEA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DA8A30-87AB-49C6-AE8C-F7B24CEC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628775"/>
            <a:ext cx="10801349" cy="4895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96809-C3E5-439C-AF0A-E75CD81D7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ADABB7-F9A6-4A4D-9415-296AC5E687F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8822AB-459F-739F-855B-F69C7435C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544945"/>
            <a:ext cx="4114800" cy="2577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Sharon Thomas, DLR Institute of Solar Research</a:t>
            </a:r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Grafik 6" descr="Ein Bild, das Farbigkeit, Quadrat, Rechteck, Screenshot enthält.&#10;&#10;Automatisch generierte Beschreibung">
            <a:extLst>
              <a:ext uri="{FF2B5EF4-FFF2-40B4-BE49-F238E27FC236}">
                <a16:creationId xmlns:a16="http://schemas.microsoft.com/office/drawing/2014/main" id="{B6B2436D-6F14-4C91-9F38-9FC66CBDB8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412343" y="1874995"/>
            <a:ext cx="4101329" cy="324968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AEA2B8E-DD3B-4F4F-AFD8-DBE8E57FC574}"/>
              </a:ext>
            </a:extLst>
          </p:cNvPr>
          <p:cNvSpPr txBox="1"/>
          <p:nvPr userDrawn="1"/>
        </p:nvSpPr>
        <p:spPr>
          <a:xfrm>
            <a:off x="-4412343" y="1309144"/>
            <a:ext cx="4101329" cy="430887"/>
          </a:xfrm>
          <a:prstGeom prst="rect">
            <a:avLst/>
          </a:prstGeom>
          <a:solidFill>
            <a:srgbClr val="FF3399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Select DLR-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colours</a:t>
            </a: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below</a:t>
            </a: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with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</a:t>
            </a: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eyepopper</a:t>
            </a: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/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color</a:t>
            </a: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picker</a:t>
            </a: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tool</a:t>
            </a:r>
            <a:endParaRPr kumimoji="0" lang="de-CR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EF3CE64-FA21-4F63-B986-1358806923EF}"/>
              </a:ext>
            </a:extLst>
          </p:cNvPr>
          <p:cNvGrpSpPr/>
          <p:nvPr userDrawn="1"/>
        </p:nvGrpSpPr>
        <p:grpSpPr>
          <a:xfrm>
            <a:off x="12572057" y="4849"/>
            <a:ext cx="9360000" cy="5796000"/>
            <a:chOff x="12572057" y="4849"/>
            <a:chExt cx="9360000" cy="5796000"/>
          </a:xfrm>
        </p:grpSpPr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1ABC1C5C-A5DA-4EB3-B01E-8D75036C5553}"/>
                </a:ext>
              </a:extLst>
            </p:cNvPr>
            <p:cNvSpPr/>
            <p:nvPr/>
          </p:nvSpPr>
          <p:spPr>
            <a:xfrm>
              <a:off x="12572057" y="4849"/>
              <a:ext cx="9360000" cy="5796000"/>
            </a:xfrm>
            <a:prstGeom prst="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91925FDB-4FD6-4DDA-A197-927C63A89427}"/>
                </a:ext>
              </a:extLst>
            </p:cNvPr>
            <p:cNvSpPr txBox="1"/>
            <p:nvPr/>
          </p:nvSpPr>
          <p:spPr>
            <a:xfrm>
              <a:off x="12724457" y="157246"/>
              <a:ext cx="61098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Editing the header and footer</a:t>
              </a:r>
              <a:endParaRPr kumimoji="0" lang="de-C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F3DB58BC-7CAE-441F-B4EF-916243E1A37C}"/>
                </a:ext>
              </a:extLst>
            </p:cNvPr>
            <p:cNvSpPr txBox="1"/>
            <p:nvPr/>
          </p:nvSpPr>
          <p:spPr>
            <a:xfrm>
              <a:off x="12724457" y="792337"/>
              <a:ext cx="65465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Menu: "Insert" &gt; "Header and Footer" (see screenshot 1)</a:t>
              </a: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CDABBF1B-88D5-43FA-9657-57AD29E3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15486" y="1481782"/>
              <a:ext cx="8779602" cy="920638"/>
            </a:xfrm>
            <a:prstGeom prst="rect">
              <a:avLst/>
            </a:prstGeom>
          </p:spPr>
        </p:pic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FE2F1701-2827-40C9-AB97-84473EB4C5E8}"/>
                </a:ext>
              </a:extLst>
            </p:cNvPr>
            <p:cNvSpPr txBox="1"/>
            <p:nvPr/>
          </p:nvSpPr>
          <p:spPr>
            <a:xfrm>
              <a:off x="12724457" y="1195691"/>
              <a:ext cx="50461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Screenshot 1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66F1CB0C-3FC9-4850-A700-E0D2CFB1DD44}"/>
                </a:ext>
              </a:extLst>
            </p:cNvPr>
            <p:cNvSpPr txBox="1"/>
            <p:nvPr/>
          </p:nvSpPr>
          <p:spPr>
            <a:xfrm>
              <a:off x="12724457" y="2947698"/>
              <a:ext cx="4307945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Adapt the input dialog to your individual needs and confirm the input by clicking the </a:t>
              </a:r>
              <a:b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"Apply to all" button if the change is to be made globally for all slides.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In case of partial change of single slides, </a:t>
              </a:r>
              <a:b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you have to confirm with the button "Apply". </a:t>
              </a:r>
              <a:b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(see screenshot 2)</a:t>
              </a:r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480B5319-4E69-430D-B813-478C6A3B34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5" t="4215" r="3045" b="3447"/>
            <a:stretch/>
          </p:blipFill>
          <p:spPr>
            <a:xfrm>
              <a:off x="17586852" y="2997154"/>
              <a:ext cx="4008235" cy="2547966"/>
            </a:xfrm>
            <a:prstGeom prst="rect">
              <a:avLst/>
            </a:prstGeom>
          </p:spPr>
        </p:pic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400701A2-BA4C-4126-8F58-5C36702060D0}"/>
                </a:ext>
              </a:extLst>
            </p:cNvPr>
            <p:cNvSpPr txBox="1"/>
            <p:nvPr/>
          </p:nvSpPr>
          <p:spPr>
            <a:xfrm>
              <a:off x="17498074" y="2750933"/>
              <a:ext cx="40970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Screenshot 2</a:t>
              </a:r>
            </a:p>
          </p:txBody>
        </p:sp>
        <p:sp>
          <p:nvSpPr>
            <p:cNvPr id="38" name="Ellipse 7">
              <a:extLst>
                <a:ext uri="{FF2B5EF4-FFF2-40B4-BE49-F238E27FC236}">
                  <a16:creationId xmlns:a16="http://schemas.microsoft.com/office/drawing/2014/main" id="{CB9D128F-6D13-4928-9A40-72234AD082DD}"/>
                </a:ext>
              </a:extLst>
            </p:cNvPr>
            <p:cNvSpPr/>
            <p:nvPr/>
          </p:nvSpPr>
          <p:spPr>
            <a:xfrm>
              <a:off x="17713206" y="1790425"/>
              <a:ext cx="589273" cy="561923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5147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orient="horz" pos="210">
          <p15:clr>
            <a:srgbClr val="F26B43"/>
          </p15:clr>
        </p15:guide>
        <p15:guide id="3" pos="7242">
          <p15:clr>
            <a:srgbClr val="F26B43"/>
          </p15:clr>
        </p15:guide>
        <p15:guide id="4" orient="horz" pos="1026">
          <p15:clr>
            <a:srgbClr val="F26B43"/>
          </p15:clr>
        </p15:guide>
        <p15:guide id="5" orient="horz" pos="4110">
          <p15:clr>
            <a:srgbClr val="F26B43"/>
          </p15:clr>
        </p15:guide>
        <p15:guide id="6" orient="horz" pos="93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07AC2-9B02-4668-BD0A-DA464E28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AA03F-3624-482E-9813-12A6E3E28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2BACA-CECC-4134-BBD9-048552420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B1A59-E76E-4D65-AEDF-0FD68AA6C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EEC1C-2E13-468B-854D-D2DBA9DF1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05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jpe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4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hyperlink" Target="https://www.immobilienscout24.de/" TargetMode="External"/><Relationship Id="rId4" Type="http://schemas.openxmlformats.org/officeDocument/2006/relationships/hyperlink" Target="https://arxiv.org/html/2407.10121v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0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866522C6-15B9-4AE8-9B42-91782BB9B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799" y="3637211"/>
            <a:ext cx="9792752" cy="1141439"/>
          </a:xfrm>
        </p:spPr>
        <p:txBody>
          <a:bodyPr/>
          <a:lstStyle/>
          <a:p>
            <a:r>
              <a:rPr lang="de-DE" sz="3000" dirty="0">
                <a:solidFill>
                  <a:schemeClr val="bg2"/>
                </a:solidFill>
                <a:latin typeface="Calibri"/>
              </a:rPr>
              <a:t>Master Thesis Update</a:t>
            </a:r>
            <a:endParaRPr lang="en-GB" sz="3000" dirty="0">
              <a:solidFill>
                <a:schemeClr val="bg2"/>
              </a:solidFill>
              <a:latin typeface="Calibri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98C5F92-6142-46B9-BFE5-4AB8AFE1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40" y="1156547"/>
            <a:ext cx="9558828" cy="1855954"/>
          </a:xfrm>
        </p:spPr>
        <p:txBody>
          <a:bodyPr/>
          <a:lstStyle/>
          <a:p>
            <a:r>
              <a:rPr lang="en-GB" sz="3000" dirty="0"/>
              <a:t>Validation and Sensitivity Analysis of an Automatic Multizone Assignment Algorithm</a:t>
            </a:r>
            <a:endParaRPr lang="de-DE" sz="3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AF9B05-84A9-4D6B-9A24-29C7168333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A0F753-30A9-47D5-BD82-BEEB10DA0A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Sharon Thomas, DLR Institute of Solar Research, 22.01.2026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F361D9-205E-4580-9342-E9B8C0B14540}"/>
              </a:ext>
            </a:extLst>
          </p:cNvPr>
          <p:cNvSpPr txBox="1"/>
          <p:nvPr/>
        </p:nvSpPr>
        <p:spPr>
          <a:xfrm>
            <a:off x="4383156" y="5347510"/>
            <a:ext cx="3180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de-DE" sz="2000" dirty="0">
                <a:solidFill>
                  <a:prstClr val="black"/>
                </a:solidFill>
                <a:latin typeface="Calibri"/>
              </a:rPr>
              <a:t>Prepared </a:t>
            </a:r>
            <a:r>
              <a:rPr lang="de-DE" sz="2000" dirty="0" err="1">
                <a:solidFill>
                  <a:prstClr val="black"/>
                </a:solidFill>
                <a:latin typeface="Calibri"/>
              </a:rPr>
              <a:t>by</a:t>
            </a:r>
            <a:r>
              <a:rPr lang="de-DE" sz="2000" dirty="0">
                <a:solidFill>
                  <a:prstClr val="black"/>
                </a:solidFill>
                <a:latin typeface="Calibri"/>
              </a:rPr>
              <a:t> Sharon Thomas</a:t>
            </a:r>
          </a:p>
          <a:p>
            <a:pPr defTabSz="457200"/>
            <a:r>
              <a:rPr lang="de-DE" sz="2000" dirty="0">
                <a:solidFill>
                  <a:prstClr val="black"/>
                </a:solidFill>
                <a:latin typeface="Calibri"/>
              </a:rPr>
              <a:t>Supervised </a:t>
            </a:r>
            <a:r>
              <a:rPr lang="de-DE" sz="2000" dirty="0" err="1">
                <a:solidFill>
                  <a:prstClr val="black"/>
                </a:solidFill>
                <a:latin typeface="Calibri"/>
              </a:rPr>
              <a:t>by</a:t>
            </a:r>
            <a:r>
              <a:rPr lang="de-DE" sz="2000" dirty="0">
                <a:solidFill>
                  <a:prstClr val="black"/>
                </a:solidFill>
                <a:latin typeface="Calibri"/>
              </a:rPr>
              <a:t> Kevin </a:t>
            </a:r>
            <a:r>
              <a:rPr lang="de-DE" sz="2000" dirty="0" err="1">
                <a:solidFill>
                  <a:prstClr val="black"/>
                </a:solidFill>
                <a:latin typeface="Calibri"/>
              </a:rPr>
              <a:t>Waiz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84495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1CB0A-733D-92B7-CDFD-F5A09C22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D337A-E28B-B9EB-DE17-B4DACCAB17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6527-477B-677C-E3FC-25F381E11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Research, 22.01.2026</a:t>
            </a:r>
            <a:endParaRPr lang="de-DE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EA39296-0330-4308-4FD2-8B67AA3DDB97}"/>
              </a:ext>
            </a:extLst>
          </p:cNvPr>
          <p:cNvGrpSpPr/>
          <p:nvPr/>
        </p:nvGrpSpPr>
        <p:grpSpPr>
          <a:xfrm>
            <a:off x="645747" y="3651380"/>
            <a:ext cx="7530881" cy="2104616"/>
            <a:chOff x="5232569" y="1682333"/>
            <a:chExt cx="6654630" cy="210461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C25DA84-AB7E-855D-2082-451E2B989657}"/>
                </a:ext>
              </a:extLst>
            </p:cNvPr>
            <p:cNvSpPr txBox="1"/>
            <p:nvPr/>
          </p:nvSpPr>
          <p:spPr>
            <a:xfrm>
              <a:off x="5232569" y="1755624"/>
              <a:ext cx="665463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dirty="0"/>
            </a:p>
            <a:p>
              <a:endParaRPr lang="en-IN" dirty="0"/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dirty="0"/>
                <a:t>Ashvin Project - </a:t>
              </a:r>
              <a:r>
                <a:rPr lang="en-IN" i="1" dirty="0"/>
                <a:t>Digital Building Twins and IoT </a:t>
              </a:r>
              <a:r>
                <a:rPr lang="en-IN" dirty="0"/>
                <a:t>(TU Berlin)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dirty="0"/>
                <a:t>BASF - </a:t>
              </a:r>
              <a:r>
                <a:rPr lang="en-IN" i="1" dirty="0"/>
                <a:t>Real Estate Transaction Management </a:t>
              </a:r>
              <a:r>
                <a:rPr lang="en-IN" dirty="0"/>
                <a:t>(</a:t>
              </a:r>
              <a:r>
                <a:rPr lang="en-IN" dirty="0" err="1"/>
                <a:t>Werkingstudent</a:t>
              </a:r>
              <a:r>
                <a:rPr lang="en-IN" dirty="0"/>
                <a:t>)</a:t>
              </a:r>
              <a:endParaRPr lang="en-IN" b="1" i="1" dirty="0">
                <a:solidFill>
                  <a:srgbClr val="00658B"/>
                </a:solidFill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dirty="0"/>
                <a:t>One Click Reno - </a:t>
              </a:r>
              <a:r>
                <a:rPr lang="en-IN" i="1" dirty="0"/>
                <a:t>Building Renovation Passport </a:t>
              </a:r>
              <a:r>
                <a:rPr lang="en-IN" dirty="0"/>
                <a:t>(DEMO Consultants)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dirty="0"/>
                <a:t>Project Module - </a:t>
              </a:r>
              <a:r>
                <a:rPr lang="en-GB" i="1" dirty="0"/>
                <a:t>Virtual Temperature Sensing in Existing Buildings: Calibrating EnergyPlus Models with Sparse Sensor Data </a:t>
              </a:r>
              <a:r>
                <a:rPr lang="en-GB" dirty="0"/>
                <a:t>(TU Berlin)</a:t>
              </a:r>
              <a:endParaRPr lang="en-IN" b="1" i="1" dirty="0">
                <a:solidFill>
                  <a:srgbClr val="00658B"/>
                </a:solidFill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EB75992-8624-8DC9-87F2-FBABFD54E38A}"/>
                </a:ext>
              </a:extLst>
            </p:cNvPr>
            <p:cNvGrpSpPr/>
            <p:nvPr/>
          </p:nvGrpSpPr>
          <p:grpSpPr>
            <a:xfrm>
              <a:off x="5232569" y="1682333"/>
              <a:ext cx="6654629" cy="400110"/>
              <a:chOff x="5232571" y="1705765"/>
              <a:chExt cx="6654629" cy="40011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FC5C182-A6FB-8E71-34C2-93B9A7479D8A}"/>
                  </a:ext>
                </a:extLst>
              </p:cNvPr>
              <p:cNvSpPr/>
              <p:nvPr/>
            </p:nvSpPr>
            <p:spPr>
              <a:xfrm>
                <a:off x="5232571" y="1705765"/>
                <a:ext cx="6654629" cy="40011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n>
                      <a:solidFill>
                        <a:schemeClr val="bg2"/>
                      </a:solidFill>
                    </a:ln>
                    <a:solidFill>
                      <a:schemeClr val="bg1"/>
                    </a:solidFill>
                  </a:rPr>
                  <a:t>     Past Experiences</a:t>
                </a:r>
              </a:p>
            </p:txBody>
          </p:sp>
          <p:pic>
            <p:nvPicPr>
              <p:cNvPr id="25" name="Graphic 24" descr="Bullseye with solid fill">
                <a:extLst>
                  <a:ext uri="{FF2B5EF4-FFF2-40B4-BE49-F238E27FC236}">
                    <a16:creationId xmlns:a16="http://schemas.microsoft.com/office/drawing/2014/main" id="{3F2DF0E3-2B19-3C87-B0B3-94E5B1E6C9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418781" y="1705765"/>
                <a:ext cx="400110" cy="400110"/>
              </a:xfrm>
              <a:prstGeom prst="rect">
                <a:avLst/>
              </a:prstGeom>
            </p:spPr>
          </p:pic>
        </p:grp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EE3AC9EC-335A-866D-74FD-A1DA31CDE7B0}"/>
              </a:ext>
            </a:extLst>
          </p:cNvPr>
          <p:cNvSpPr/>
          <p:nvPr/>
        </p:nvSpPr>
        <p:spPr>
          <a:xfrm>
            <a:off x="785746" y="1288025"/>
            <a:ext cx="3798876" cy="1806358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chemeClr val="bg2"/>
                  </a:solidFill>
                </a:ln>
                <a:solidFill>
                  <a:schemeClr val="bg1"/>
                </a:solidFill>
              </a:rPr>
              <a:t>     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179FC2-A57B-CF77-618D-529E492D88F8}"/>
              </a:ext>
            </a:extLst>
          </p:cNvPr>
          <p:cNvSpPr txBox="1"/>
          <p:nvPr/>
        </p:nvSpPr>
        <p:spPr>
          <a:xfrm>
            <a:off x="939441" y="1302203"/>
            <a:ext cx="348313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2"/>
                </a:solidFill>
              </a:rPr>
              <a:t>Name: Sharon Thomas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2"/>
                </a:solidFill>
              </a:rPr>
              <a:t>DOB: 29.06.1998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2"/>
                </a:solidFill>
              </a:rPr>
              <a:t>Nationality: Indian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4A6C42D-F938-510E-A11A-EFFBD64DBF0E}"/>
              </a:ext>
            </a:extLst>
          </p:cNvPr>
          <p:cNvGrpSpPr/>
          <p:nvPr/>
        </p:nvGrpSpPr>
        <p:grpSpPr>
          <a:xfrm>
            <a:off x="5050172" y="1248589"/>
            <a:ext cx="6283355" cy="2000256"/>
            <a:chOff x="5050172" y="1248589"/>
            <a:chExt cx="6283355" cy="200025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8F833C0-EDFB-7846-B914-28A24DF77302}"/>
                </a:ext>
              </a:extLst>
            </p:cNvPr>
            <p:cNvSpPr/>
            <p:nvPr/>
          </p:nvSpPr>
          <p:spPr>
            <a:xfrm>
              <a:off x="5050174" y="1248589"/>
              <a:ext cx="6283353" cy="410046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n>
                    <a:solidFill>
                      <a:schemeClr val="bg2"/>
                    </a:solidFill>
                  </a:ln>
                  <a:solidFill>
                    <a:schemeClr val="bg1"/>
                  </a:solidFill>
                </a:rPr>
                <a:t>      Education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C40C1F-7BEA-3F8B-9248-18044E6CE618}"/>
                </a:ext>
              </a:extLst>
            </p:cNvPr>
            <p:cNvSpPr txBox="1"/>
            <p:nvPr/>
          </p:nvSpPr>
          <p:spPr>
            <a:xfrm>
              <a:off x="5050172" y="1771517"/>
              <a:ext cx="628335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IN" b="1" dirty="0">
                  <a:solidFill>
                    <a:srgbClr val="00658B"/>
                  </a:solidFill>
                </a:rPr>
                <a:t>2016–2020</a:t>
              </a:r>
              <a:r>
                <a:rPr lang="en-IN" b="1" dirty="0"/>
                <a:t> </a:t>
              </a:r>
              <a:r>
                <a:rPr lang="en-IN" dirty="0"/>
                <a:t>– Bachelor of Technology in Civil Engineering, KTU University, India</a:t>
              </a:r>
            </a:p>
            <a:p>
              <a:pPr>
                <a:buClr>
                  <a:schemeClr val="tx1"/>
                </a:buClr>
              </a:pPr>
              <a:endParaRPr lang="en-IN" dirty="0"/>
            </a:p>
            <a:p>
              <a:pPr marL="285750" indent="-285750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IN" b="1" dirty="0">
                  <a:solidFill>
                    <a:srgbClr val="00658B"/>
                  </a:solidFill>
                </a:rPr>
                <a:t>2022–present </a:t>
              </a:r>
              <a:r>
                <a:rPr lang="en-IN" dirty="0"/>
                <a:t>– Master of Science in Civil Systems Engineering, TU Berlin, Germany</a:t>
              </a:r>
            </a:p>
          </p:txBody>
        </p:sp>
        <p:pic>
          <p:nvPicPr>
            <p:cNvPr id="6" name="Graphic 5" descr="Graduation cap outline">
              <a:extLst>
                <a:ext uri="{FF2B5EF4-FFF2-40B4-BE49-F238E27FC236}">
                  <a16:creationId xmlns:a16="http://schemas.microsoft.com/office/drawing/2014/main" id="{4B1D87D7-FC79-68F3-D3C8-716982D955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50337" y="1258027"/>
              <a:ext cx="604204" cy="461812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5B624C6-AD0A-33FC-82AA-7239C3BCF0A4}"/>
              </a:ext>
            </a:extLst>
          </p:cNvPr>
          <p:cNvGrpSpPr/>
          <p:nvPr/>
        </p:nvGrpSpPr>
        <p:grpSpPr>
          <a:xfrm>
            <a:off x="8627951" y="3651380"/>
            <a:ext cx="3283819" cy="2136070"/>
            <a:chOff x="8627951" y="3651380"/>
            <a:chExt cx="3283819" cy="213607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EA8092FF-9203-29FF-D418-CA40A918BA9A}"/>
                </a:ext>
              </a:extLst>
            </p:cNvPr>
            <p:cNvGrpSpPr/>
            <p:nvPr/>
          </p:nvGrpSpPr>
          <p:grpSpPr>
            <a:xfrm>
              <a:off x="8627951" y="3651380"/>
              <a:ext cx="3283819" cy="2136070"/>
              <a:chOff x="4842045" y="4160800"/>
              <a:chExt cx="3283819" cy="2136070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54DD1796-7563-57F8-2C9F-2F964FC44149}"/>
                  </a:ext>
                </a:extLst>
              </p:cNvPr>
              <p:cNvGrpSpPr/>
              <p:nvPr/>
            </p:nvGrpSpPr>
            <p:grpSpPr>
              <a:xfrm>
                <a:off x="4842045" y="4160800"/>
                <a:ext cx="3283819" cy="429006"/>
                <a:chOff x="4885540" y="4125308"/>
                <a:chExt cx="3283819" cy="429006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EAEAA053-5608-9405-59B0-797BFAC4056C}"/>
                    </a:ext>
                  </a:extLst>
                </p:cNvPr>
                <p:cNvSpPr/>
                <p:nvPr/>
              </p:nvSpPr>
              <p:spPr>
                <a:xfrm>
                  <a:off x="4885540" y="4125308"/>
                  <a:ext cx="3283819" cy="429006"/>
                </a:xfrm>
                <a:prstGeom prst="rect">
                  <a:avLst/>
                </a:prstGeom>
                <a:solidFill>
                  <a:schemeClr val="accent1"/>
                </a:solidFill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>
                      <a:ln>
                        <a:solidFill>
                          <a:schemeClr val="bg2"/>
                        </a:solidFill>
                      </a:ln>
                      <a:solidFill>
                        <a:schemeClr val="bg1"/>
                      </a:solidFill>
                    </a:rPr>
                    <a:t>      Hobbies</a:t>
                  </a:r>
                </a:p>
              </p:txBody>
            </p:sp>
            <p:pic>
              <p:nvPicPr>
                <p:cNvPr id="51" name="Graphic 50" descr="Music with solid fill">
                  <a:extLst>
                    <a:ext uri="{FF2B5EF4-FFF2-40B4-BE49-F238E27FC236}">
                      <a16:creationId xmlns:a16="http://schemas.microsoft.com/office/drawing/2014/main" id="{816FFE73-1D67-4BA1-5947-01996FC943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51152" y="4176683"/>
                  <a:ext cx="426411" cy="360727"/>
                </a:xfrm>
                <a:prstGeom prst="rect">
                  <a:avLst/>
                </a:prstGeom>
              </p:spPr>
            </p:pic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BF84FA2-D0BB-6CE0-D684-92F3BF6C9485}"/>
                  </a:ext>
                </a:extLst>
              </p:cNvPr>
              <p:cNvSpPr txBox="1"/>
              <p:nvPr/>
            </p:nvSpPr>
            <p:spPr>
              <a:xfrm>
                <a:off x="5168183" y="4642571"/>
                <a:ext cx="1387063" cy="1654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140"/>
                  </a:spcAft>
                </a:pPr>
                <a:r>
                  <a:rPr lang="en-IN" dirty="0"/>
                  <a:t>Reading</a:t>
                </a:r>
              </a:p>
              <a:p>
                <a:pPr>
                  <a:lnSpc>
                    <a:spcPct val="150000"/>
                  </a:lnSpc>
                  <a:spcAft>
                    <a:spcPts val="140"/>
                  </a:spcAft>
                </a:pPr>
                <a:r>
                  <a:rPr lang="en-IN" dirty="0"/>
                  <a:t>Travelling</a:t>
                </a:r>
              </a:p>
              <a:p>
                <a:pPr>
                  <a:lnSpc>
                    <a:spcPct val="150000"/>
                  </a:lnSpc>
                  <a:spcAft>
                    <a:spcPts val="140"/>
                  </a:spcAft>
                </a:pPr>
                <a:r>
                  <a:rPr lang="en-IN" dirty="0"/>
                  <a:t>Swimming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p:grpSp>
        <p:pic>
          <p:nvPicPr>
            <p:cNvPr id="23" name="Graphic 22" descr="Airplane with solid fill">
              <a:extLst>
                <a:ext uri="{FF2B5EF4-FFF2-40B4-BE49-F238E27FC236}">
                  <a16:creationId xmlns:a16="http://schemas.microsoft.com/office/drawing/2014/main" id="{9D98B0C2-AC8B-2816-62CC-65AD9772CB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06855" y="4713066"/>
              <a:ext cx="247234" cy="247234"/>
            </a:xfrm>
            <a:prstGeom prst="rect">
              <a:avLst/>
            </a:prstGeom>
          </p:spPr>
        </p:pic>
        <p:pic>
          <p:nvPicPr>
            <p:cNvPr id="27" name="Graphic 26" descr="Wave with solid fill">
              <a:extLst>
                <a:ext uri="{FF2B5EF4-FFF2-40B4-BE49-F238E27FC236}">
                  <a16:creationId xmlns:a16="http://schemas.microsoft.com/office/drawing/2014/main" id="{00C1932F-180C-40B8-F27C-9868088454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663406" y="5136151"/>
              <a:ext cx="311529" cy="311529"/>
            </a:xfrm>
            <a:prstGeom prst="rect">
              <a:avLst/>
            </a:prstGeom>
          </p:spPr>
        </p:pic>
        <p:pic>
          <p:nvPicPr>
            <p:cNvPr id="29" name="Graphic 28" descr="Closed book with solid fill">
              <a:extLst>
                <a:ext uri="{FF2B5EF4-FFF2-40B4-BE49-F238E27FC236}">
                  <a16:creationId xmlns:a16="http://schemas.microsoft.com/office/drawing/2014/main" id="{91DA30E4-E7AD-7DFD-38F9-61C17B0D95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674707" y="4255305"/>
              <a:ext cx="311529" cy="28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693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181FF-1406-449C-88B9-16E7F2652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279764"/>
            <a:ext cx="6396851" cy="489585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Buildings strongly influence the energy demand in district and city scale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Urban energy simulations often rely on simplified building representations (LOD2/CityGML)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These data sets typically exclude the internal thermal zoning</a:t>
            </a:r>
            <a:endParaRPr lang="de-DE" sz="28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2019A-7D51-4165-B46B-AA8E6ED7E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27451-4976-4A0C-9F04-A8494D61C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Research, 22.01.2026</a:t>
            </a:r>
            <a:endParaRPr lang="de-D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781B04A-819C-A47A-EB13-4A409AF3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  <a:br>
              <a:rPr lang="de-DE" dirty="0"/>
            </a:br>
            <a:r>
              <a:rPr lang="de-DE" sz="2000" dirty="0"/>
              <a:t>MZA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68CDAF-BAEE-7DBB-BF3F-CFC13AC0F38A}"/>
              </a:ext>
            </a:extLst>
          </p:cNvPr>
          <p:cNvSpPr txBox="1"/>
          <p:nvPr/>
        </p:nvSpPr>
        <p:spPr>
          <a:xfrm>
            <a:off x="695325" y="6298724"/>
            <a:ext cx="4735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Source : </a:t>
            </a:r>
            <a:r>
              <a:rPr lang="en-GB" sz="1000" dirty="0"/>
              <a:t>CityGML for Berlin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C17854-E718-7727-2F87-87EAB2153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469" y="1974769"/>
            <a:ext cx="3623207" cy="250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86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181FF-1406-449C-88B9-16E7F2652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279764"/>
            <a:ext cx="6396851" cy="489585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The Multizone Assignment Algorithm automatically generates thermal zoning for large-scale energy simulation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However, it currently lacks: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Systematic validation of how realistically the algorithm reproduces zoning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Quantitative assessment of how zoning deviations affect thermal simulation results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Identification of key parameters influencing thermal energy demand</a:t>
            </a:r>
            <a:endParaRPr lang="en-GB" sz="18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2019A-7D51-4165-B46B-AA8E6ED7E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27451-4976-4A0C-9F04-A8494D61C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Research, 22.01.2026</a:t>
            </a:r>
            <a:endParaRPr lang="de-D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781B04A-819C-A47A-EB13-4A409AF3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  <a:br>
              <a:rPr lang="de-DE" dirty="0"/>
            </a:br>
            <a:r>
              <a:rPr lang="de-DE" sz="2000" dirty="0"/>
              <a:t>Validation and </a:t>
            </a:r>
            <a:r>
              <a:rPr lang="de-DE" sz="2000" dirty="0" err="1"/>
              <a:t>Sensitivity</a:t>
            </a:r>
            <a:r>
              <a:rPr lang="de-DE" sz="2000" dirty="0"/>
              <a:t> Analysis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97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66751D-EDB5-418E-8811-D13901A2A5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853A9-A51C-442B-9045-7255ACD6770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Sharon Thomas, DLR Institute of Solar Research, 22.01.2026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5EFFF5-AE19-4DF2-BE4E-D88944953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cap="none" dirty="0"/>
              <a:t>Thesis Timeline</a:t>
            </a:r>
            <a:endParaRPr lang="en-GB" cap="non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1C6520B-C812-4D67-A35F-722D8F6A53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5623" y="2735263"/>
            <a:ext cx="1806428" cy="3022385"/>
          </a:xfrm>
        </p:spPr>
        <p:txBody>
          <a:bodyPr/>
          <a:lstStyle/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Understanding the research topic and scope</a:t>
            </a:r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Familiarization with the MZA</a:t>
            </a:r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Identification of relevant datasets</a:t>
            </a:r>
            <a:endParaRPr lang="en-US" sz="1200" dirty="0"/>
          </a:p>
          <a:p>
            <a:pPr marL="165600">
              <a:lnSpc>
                <a:spcPct val="100000"/>
              </a:lnSpc>
            </a:pPr>
            <a:endParaRPr lang="en-US" sz="1200" dirty="0"/>
          </a:p>
          <a:p>
            <a:endParaRPr lang="en-GB" sz="12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590649-706B-467C-AA36-B895153791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47465" y="2744411"/>
            <a:ext cx="1841392" cy="1453948"/>
          </a:xfrm>
        </p:spPr>
        <p:txBody>
          <a:bodyPr/>
          <a:lstStyle/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Dataset preprocessing for MZA</a:t>
            </a:r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Preparation of Ground Truth</a:t>
            </a:r>
          </a:p>
          <a:p>
            <a:pPr marL="214313" indent="-214313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Initial zoning comparison and MZA refinement</a:t>
            </a:r>
            <a:endParaRPr lang="en-US" sz="1200" dirty="0"/>
          </a:p>
          <a:p>
            <a:pPr marL="128588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28588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28588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GB" sz="12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A10BAEC-C262-483D-A95F-DC65871A43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94271" y="2744411"/>
            <a:ext cx="1734738" cy="1547878"/>
          </a:xfrm>
        </p:spPr>
        <p:txBody>
          <a:bodyPr/>
          <a:lstStyle/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Systematic comparison of MZA zoning with </a:t>
            </a:r>
            <a:r>
              <a:rPr lang="de-DE" sz="1200" dirty="0"/>
              <a:t>Ground Truth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556A69-E554-4B1F-9ACA-E5F737D3CA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94915" y="2744410"/>
            <a:ext cx="1734738" cy="839183"/>
          </a:xfrm>
        </p:spPr>
        <p:txBody>
          <a:bodyPr/>
          <a:lstStyle/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Initial simulation analysis to identify key parameters for base archetypes</a:t>
            </a:r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Full-scale sensitivity analysis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FF771D6-0BB0-469C-96B2-4D211E208C3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95559" y="2744410"/>
            <a:ext cx="1554480" cy="839183"/>
          </a:xfrm>
        </p:spPr>
        <p:txBody>
          <a:bodyPr/>
          <a:lstStyle/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Evaluate results </a:t>
            </a:r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Final presentation​</a:t>
            </a:r>
          </a:p>
          <a:p>
            <a:endParaRPr lang="en-US" sz="1200" dirty="0"/>
          </a:p>
          <a:p>
            <a:endParaRPr lang="en-GB" sz="12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1F681B-3B9E-44BF-9944-17DFCF88A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/>
              <a:t>1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EAA80B6-7638-4F50-84F0-96E37B105C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2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A66F182-7482-4739-AC43-7CE48CCD3D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3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FAE363-980E-414B-BD69-C3686C8DEFB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72446" y="3953257"/>
            <a:ext cx="1186179" cy="678064"/>
          </a:xfrm>
        </p:spPr>
        <p:txBody>
          <a:bodyPr/>
          <a:lstStyle/>
          <a:p>
            <a:r>
              <a:rPr lang="de-DE" dirty="0"/>
              <a:t>4</a:t>
            </a:r>
            <a:endParaRPr lang="en-GB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7CEAEC5-70F0-4BAD-8B7D-5CB98CB31DE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/>
              <a:t>5</a:t>
            </a:r>
            <a:endParaRPr lang="en-GB" dirty="0"/>
          </a:p>
        </p:txBody>
      </p:sp>
      <p:pic>
        <p:nvPicPr>
          <p:cNvPr id="34" name="Graphic 33" descr="City with solid fill">
            <a:extLst>
              <a:ext uri="{FF2B5EF4-FFF2-40B4-BE49-F238E27FC236}">
                <a16:creationId xmlns:a16="http://schemas.microsoft.com/office/drawing/2014/main" id="{F2932337-E508-8B09-D855-01958B03F1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9804" y="4834148"/>
            <a:ext cx="539496" cy="539496"/>
          </a:xfrm>
          <a:prstGeom prst="rect">
            <a:avLst/>
          </a:prstGeom>
        </p:spPr>
      </p:pic>
      <p:pic>
        <p:nvPicPr>
          <p:cNvPr id="36" name="Graphic 35" descr="Presentation with pie chart with solid fill">
            <a:extLst>
              <a:ext uri="{FF2B5EF4-FFF2-40B4-BE49-F238E27FC236}">
                <a16:creationId xmlns:a16="http://schemas.microsoft.com/office/drawing/2014/main" id="{90A5F39A-03E5-2F78-AF84-A21B2C8F9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1869" y="3700083"/>
            <a:ext cx="541860" cy="541860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16CAE72B-3884-B0F0-9A2E-02659383D42B}"/>
              </a:ext>
            </a:extLst>
          </p:cNvPr>
          <p:cNvGrpSpPr/>
          <p:nvPr/>
        </p:nvGrpSpPr>
        <p:grpSpPr>
          <a:xfrm>
            <a:off x="810616" y="1187954"/>
            <a:ext cx="2386761" cy="1154112"/>
            <a:chOff x="810617" y="1187954"/>
            <a:chExt cx="2824332" cy="1154112"/>
          </a:xfrm>
        </p:grpSpPr>
        <p:sp>
          <p:nvSpPr>
            <p:cNvPr id="42" name="Arrow: Pentagon 41">
              <a:extLst>
                <a:ext uri="{FF2B5EF4-FFF2-40B4-BE49-F238E27FC236}">
                  <a16:creationId xmlns:a16="http://schemas.microsoft.com/office/drawing/2014/main" id="{6E824EDF-D44C-9B77-CE79-C9CC16DB4F69}"/>
                </a:ext>
              </a:extLst>
            </p:cNvPr>
            <p:cNvSpPr/>
            <p:nvPr/>
          </p:nvSpPr>
          <p:spPr>
            <a:xfrm>
              <a:off x="810617" y="1187954"/>
              <a:ext cx="2672891" cy="1154112"/>
            </a:xfrm>
            <a:prstGeom prst="homePlate">
              <a:avLst/>
            </a:prstGeom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Text Placeholder 7">
              <a:extLst>
                <a:ext uri="{FF2B5EF4-FFF2-40B4-BE49-F238E27FC236}">
                  <a16:creationId xmlns:a16="http://schemas.microsoft.com/office/drawing/2014/main" id="{28381EFD-A988-C2C0-76EE-E6E2C37BC0BA}"/>
                </a:ext>
              </a:extLst>
            </p:cNvPr>
            <p:cNvSpPr txBox="1">
              <a:spLocks/>
            </p:cNvSpPr>
            <p:nvPr/>
          </p:nvSpPr>
          <p:spPr>
            <a:xfrm>
              <a:off x="1153318" y="1582840"/>
              <a:ext cx="2481631" cy="41800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Wingdings" panose="05000000000000000000" pitchFamily="2" charset="2"/>
                <a:buNone/>
                <a:defRPr sz="1050" b="1" kern="1200" spc="30" baseline="0">
                  <a:solidFill>
                    <a:schemeClr val="accent1">
                      <a:lumMod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3429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6858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0287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3716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bg2"/>
                  </a:solidFill>
                </a:rPr>
                <a:t>Preparation</a:t>
              </a:r>
              <a:endParaRPr lang="en-GB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DBEBB53-A420-68D6-6744-29E5802F92F5}"/>
              </a:ext>
            </a:extLst>
          </p:cNvPr>
          <p:cNvGrpSpPr/>
          <p:nvPr/>
        </p:nvGrpSpPr>
        <p:grpSpPr>
          <a:xfrm>
            <a:off x="2558641" y="1179564"/>
            <a:ext cx="2597031" cy="1158541"/>
            <a:chOff x="2919369" y="1179564"/>
            <a:chExt cx="2800622" cy="1158541"/>
          </a:xfrm>
        </p:grpSpPr>
        <p:sp>
          <p:nvSpPr>
            <p:cNvPr id="46" name="Arrow: Chevron 45">
              <a:extLst>
                <a:ext uri="{FF2B5EF4-FFF2-40B4-BE49-F238E27FC236}">
                  <a16:creationId xmlns:a16="http://schemas.microsoft.com/office/drawing/2014/main" id="{07518868-9687-F727-A00A-E6A1A9CA8A1E}"/>
                </a:ext>
              </a:extLst>
            </p:cNvPr>
            <p:cNvSpPr/>
            <p:nvPr/>
          </p:nvSpPr>
          <p:spPr>
            <a:xfrm>
              <a:off x="2919369" y="1179564"/>
              <a:ext cx="2800622" cy="1158541"/>
            </a:xfrm>
            <a:prstGeom prst="chevron">
              <a:avLst/>
            </a:prstGeom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7" name="Text Placeholder 7">
              <a:extLst>
                <a:ext uri="{FF2B5EF4-FFF2-40B4-BE49-F238E27FC236}">
                  <a16:creationId xmlns:a16="http://schemas.microsoft.com/office/drawing/2014/main" id="{E4A04652-34DC-E5A6-E2AF-8AC3AD9972F7}"/>
                </a:ext>
              </a:extLst>
            </p:cNvPr>
            <p:cNvSpPr txBox="1">
              <a:spLocks/>
            </p:cNvSpPr>
            <p:nvPr/>
          </p:nvSpPr>
          <p:spPr>
            <a:xfrm>
              <a:off x="3514407" y="1511609"/>
              <a:ext cx="2100525" cy="41800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Wingdings" panose="05000000000000000000" pitchFamily="2" charset="2"/>
                <a:buNone/>
                <a:defRPr sz="1050" b="1" kern="1200" spc="30" baseline="0">
                  <a:solidFill>
                    <a:schemeClr val="accent1">
                      <a:lumMod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3429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6858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0287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3716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bg2"/>
                  </a:solidFill>
                </a:rPr>
                <a:t>Data Collection and Preprocessing</a:t>
              </a:r>
            </a:p>
            <a:p>
              <a:endParaRPr lang="en-GB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406A56D-47EB-7722-1682-42A729C0BBD7}"/>
              </a:ext>
            </a:extLst>
          </p:cNvPr>
          <p:cNvGrpSpPr/>
          <p:nvPr/>
        </p:nvGrpSpPr>
        <p:grpSpPr>
          <a:xfrm>
            <a:off x="6723695" y="1196811"/>
            <a:ext cx="2597031" cy="1145255"/>
            <a:chOff x="5557460" y="1192849"/>
            <a:chExt cx="3677720" cy="1145255"/>
          </a:xfrm>
        </p:grpSpPr>
        <p:sp>
          <p:nvSpPr>
            <p:cNvPr id="51" name="Arrow: Chevron 50">
              <a:extLst>
                <a:ext uri="{FF2B5EF4-FFF2-40B4-BE49-F238E27FC236}">
                  <a16:creationId xmlns:a16="http://schemas.microsoft.com/office/drawing/2014/main" id="{8AB85DD9-178E-82B3-3979-7D11AA13D849}"/>
                </a:ext>
              </a:extLst>
            </p:cNvPr>
            <p:cNvSpPr/>
            <p:nvPr/>
          </p:nvSpPr>
          <p:spPr>
            <a:xfrm>
              <a:off x="5557460" y="1192849"/>
              <a:ext cx="3677720" cy="1145255"/>
            </a:xfrm>
            <a:prstGeom prst="chevron">
              <a:avLst/>
            </a:prstGeom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2" name="Text Placeholder 7">
              <a:extLst>
                <a:ext uri="{FF2B5EF4-FFF2-40B4-BE49-F238E27FC236}">
                  <a16:creationId xmlns:a16="http://schemas.microsoft.com/office/drawing/2014/main" id="{BCEF07A0-032F-EEFC-4E1B-995877024C5E}"/>
                </a:ext>
              </a:extLst>
            </p:cNvPr>
            <p:cNvSpPr txBox="1">
              <a:spLocks/>
            </p:cNvSpPr>
            <p:nvPr/>
          </p:nvSpPr>
          <p:spPr>
            <a:xfrm>
              <a:off x="6753549" y="1595498"/>
              <a:ext cx="2481631" cy="41800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Wingdings" panose="05000000000000000000" pitchFamily="2" charset="2"/>
                <a:buNone/>
                <a:defRPr sz="1050" b="1" kern="1200" spc="30" baseline="0">
                  <a:solidFill>
                    <a:schemeClr val="accent1">
                      <a:lumMod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3429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6858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0287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3716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bg2"/>
                  </a:solidFill>
                </a:rPr>
                <a:t>Simulation</a:t>
              </a:r>
              <a:endParaRPr lang="en-GB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12E8593-8FB8-E58C-CD06-838C81FC9FE7}"/>
              </a:ext>
            </a:extLst>
          </p:cNvPr>
          <p:cNvGrpSpPr/>
          <p:nvPr/>
        </p:nvGrpSpPr>
        <p:grpSpPr>
          <a:xfrm>
            <a:off x="4655797" y="1179563"/>
            <a:ext cx="2743605" cy="1158541"/>
            <a:chOff x="4655797" y="1179563"/>
            <a:chExt cx="2743605" cy="1158541"/>
          </a:xfrm>
        </p:grpSpPr>
        <p:sp>
          <p:nvSpPr>
            <p:cNvPr id="64" name="Arrow: Chevron 63">
              <a:extLst>
                <a:ext uri="{FF2B5EF4-FFF2-40B4-BE49-F238E27FC236}">
                  <a16:creationId xmlns:a16="http://schemas.microsoft.com/office/drawing/2014/main" id="{1B3F80CB-2693-FE44-6F85-1D0D3945417A}"/>
                </a:ext>
              </a:extLst>
            </p:cNvPr>
            <p:cNvSpPr/>
            <p:nvPr/>
          </p:nvSpPr>
          <p:spPr>
            <a:xfrm>
              <a:off x="4655797" y="1179563"/>
              <a:ext cx="2556408" cy="1158541"/>
            </a:xfrm>
            <a:prstGeom prst="chevron">
              <a:avLst/>
            </a:prstGeom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5" name="Text Placeholder 7">
              <a:extLst>
                <a:ext uri="{FF2B5EF4-FFF2-40B4-BE49-F238E27FC236}">
                  <a16:creationId xmlns:a16="http://schemas.microsoft.com/office/drawing/2014/main" id="{A2CCFB7A-604D-D603-3CDA-7941F9D0C40A}"/>
                </a:ext>
              </a:extLst>
            </p:cNvPr>
            <p:cNvSpPr txBox="1">
              <a:spLocks/>
            </p:cNvSpPr>
            <p:nvPr/>
          </p:nvSpPr>
          <p:spPr>
            <a:xfrm>
              <a:off x="5454389" y="1589646"/>
              <a:ext cx="1945013" cy="41800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Wingdings" panose="05000000000000000000" pitchFamily="2" charset="2"/>
                <a:buNone/>
                <a:defRPr sz="1050" b="1" kern="1200" spc="30" baseline="0">
                  <a:solidFill>
                    <a:schemeClr val="accent1">
                      <a:lumMod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3429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6858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0287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3716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bg2"/>
                  </a:solidFill>
                </a:rPr>
                <a:t>Comparison</a:t>
              </a:r>
              <a:endParaRPr lang="en-GB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029307B-E0C4-8540-F425-FAAFDB667764}"/>
              </a:ext>
            </a:extLst>
          </p:cNvPr>
          <p:cNvGrpSpPr/>
          <p:nvPr/>
        </p:nvGrpSpPr>
        <p:grpSpPr>
          <a:xfrm>
            <a:off x="8822361" y="1196341"/>
            <a:ext cx="2559324" cy="1145255"/>
            <a:chOff x="8822361" y="1196341"/>
            <a:chExt cx="2559324" cy="1145255"/>
          </a:xfrm>
        </p:grpSpPr>
        <p:sp>
          <p:nvSpPr>
            <p:cNvPr id="67" name="Arrow: Chevron 66">
              <a:extLst>
                <a:ext uri="{FF2B5EF4-FFF2-40B4-BE49-F238E27FC236}">
                  <a16:creationId xmlns:a16="http://schemas.microsoft.com/office/drawing/2014/main" id="{641837E7-76FF-7B03-4058-26D728C5CF6B}"/>
                </a:ext>
              </a:extLst>
            </p:cNvPr>
            <p:cNvSpPr/>
            <p:nvPr/>
          </p:nvSpPr>
          <p:spPr>
            <a:xfrm>
              <a:off x="8822361" y="1196341"/>
              <a:ext cx="2559324" cy="1145255"/>
            </a:xfrm>
            <a:custGeom>
              <a:avLst/>
              <a:gdLst>
                <a:gd name="connsiteX0" fmla="*/ 0 w 3131951"/>
                <a:gd name="connsiteY0" fmla="*/ 0 h 1145255"/>
                <a:gd name="connsiteX1" fmla="*/ 2559324 w 3131951"/>
                <a:gd name="connsiteY1" fmla="*/ 0 h 1145255"/>
                <a:gd name="connsiteX2" fmla="*/ 3131951 w 3131951"/>
                <a:gd name="connsiteY2" fmla="*/ 572628 h 1145255"/>
                <a:gd name="connsiteX3" fmla="*/ 2559324 w 3131951"/>
                <a:gd name="connsiteY3" fmla="*/ 1145255 h 1145255"/>
                <a:gd name="connsiteX4" fmla="*/ 0 w 3131951"/>
                <a:gd name="connsiteY4" fmla="*/ 1145255 h 1145255"/>
                <a:gd name="connsiteX5" fmla="*/ 572628 w 3131951"/>
                <a:gd name="connsiteY5" fmla="*/ 572628 h 1145255"/>
                <a:gd name="connsiteX6" fmla="*/ 0 w 3131951"/>
                <a:gd name="connsiteY6" fmla="*/ 0 h 1145255"/>
                <a:gd name="connsiteX0" fmla="*/ 0 w 2578278"/>
                <a:gd name="connsiteY0" fmla="*/ 0 h 1145255"/>
                <a:gd name="connsiteX1" fmla="*/ 2559324 w 2578278"/>
                <a:gd name="connsiteY1" fmla="*/ 0 h 1145255"/>
                <a:gd name="connsiteX2" fmla="*/ 2578278 w 2578278"/>
                <a:gd name="connsiteY2" fmla="*/ 497127 h 1145255"/>
                <a:gd name="connsiteX3" fmla="*/ 2559324 w 2578278"/>
                <a:gd name="connsiteY3" fmla="*/ 1145255 h 1145255"/>
                <a:gd name="connsiteX4" fmla="*/ 0 w 2578278"/>
                <a:gd name="connsiteY4" fmla="*/ 1145255 h 1145255"/>
                <a:gd name="connsiteX5" fmla="*/ 572628 w 2578278"/>
                <a:gd name="connsiteY5" fmla="*/ 572628 h 1145255"/>
                <a:gd name="connsiteX6" fmla="*/ 0 w 2578278"/>
                <a:gd name="connsiteY6" fmla="*/ 0 h 1145255"/>
                <a:gd name="connsiteX0" fmla="*/ 0 w 2559324"/>
                <a:gd name="connsiteY0" fmla="*/ 0 h 1145255"/>
                <a:gd name="connsiteX1" fmla="*/ 2559324 w 2559324"/>
                <a:gd name="connsiteY1" fmla="*/ 0 h 1145255"/>
                <a:gd name="connsiteX2" fmla="*/ 2553111 w 2559324"/>
                <a:gd name="connsiteY2" fmla="*/ 497127 h 1145255"/>
                <a:gd name="connsiteX3" fmla="*/ 2559324 w 2559324"/>
                <a:gd name="connsiteY3" fmla="*/ 1145255 h 1145255"/>
                <a:gd name="connsiteX4" fmla="*/ 0 w 2559324"/>
                <a:gd name="connsiteY4" fmla="*/ 1145255 h 1145255"/>
                <a:gd name="connsiteX5" fmla="*/ 572628 w 2559324"/>
                <a:gd name="connsiteY5" fmla="*/ 572628 h 1145255"/>
                <a:gd name="connsiteX6" fmla="*/ 0 w 2559324"/>
                <a:gd name="connsiteY6" fmla="*/ 0 h 1145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59324" h="1145255">
                  <a:moveTo>
                    <a:pt x="0" y="0"/>
                  </a:moveTo>
                  <a:lnTo>
                    <a:pt x="2559324" y="0"/>
                  </a:lnTo>
                  <a:lnTo>
                    <a:pt x="2553111" y="497127"/>
                  </a:lnTo>
                  <a:lnTo>
                    <a:pt x="2559324" y="1145255"/>
                  </a:lnTo>
                  <a:lnTo>
                    <a:pt x="0" y="1145255"/>
                  </a:lnTo>
                  <a:lnTo>
                    <a:pt x="572628" y="572628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9" name="Text Placeholder 9">
              <a:extLst>
                <a:ext uri="{FF2B5EF4-FFF2-40B4-BE49-F238E27FC236}">
                  <a16:creationId xmlns:a16="http://schemas.microsoft.com/office/drawing/2014/main" id="{3B55A077-DB14-1BD0-1F4C-7BDA5651BC52}"/>
                </a:ext>
              </a:extLst>
            </p:cNvPr>
            <p:cNvSpPr txBox="1">
              <a:spLocks/>
            </p:cNvSpPr>
            <p:nvPr/>
          </p:nvSpPr>
          <p:spPr>
            <a:xfrm>
              <a:off x="9392947" y="1487044"/>
              <a:ext cx="1945013" cy="3048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Wingdings" panose="05000000000000000000" pitchFamily="2" charset="2"/>
                <a:buNone/>
                <a:defRPr sz="1050" b="1" kern="1200" spc="30" baseline="0">
                  <a:solidFill>
                    <a:schemeClr val="accent1">
                      <a:lumMod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3429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6858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0287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3716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 Analysis and Results</a:t>
              </a:r>
            </a:p>
            <a:p>
              <a:endParaRPr lang="en-GB" dirty="0"/>
            </a:p>
          </p:txBody>
        </p:sp>
      </p:grpSp>
      <p:pic>
        <p:nvPicPr>
          <p:cNvPr id="6" name="Graphic 5" descr="Venn diagram with solid fill">
            <a:extLst>
              <a:ext uri="{FF2B5EF4-FFF2-40B4-BE49-F238E27FC236}">
                <a16:creationId xmlns:a16="http://schemas.microsoft.com/office/drawing/2014/main" id="{3B5320CE-7FD8-1A65-1E8D-F1AD23CEFE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6252" y="3656931"/>
            <a:ext cx="539496" cy="539496"/>
          </a:xfrm>
          <a:prstGeom prst="rect">
            <a:avLst/>
          </a:prstGeom>
        </p:spPr>
      </p:pic>
      <p:pic>
        <p:nvPicPr>
          <p:cNvPr id="8" name="Graphic 7" descr="Tools with solid fill">
            <a:extLst>
              <a:ext uri="{FF2B5EF4-FFF2-40B4-BE49-F238E27FC236}">
                <a16:creationId xmlns:a16="http://schemas.microsoft.com/office/drawing/2014/main" id="{11E208AB-2F2B-AB5A-BFA0-355FBE0A5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86705" y="4888523"/>
            <a:ext cx="540902" cy="540902"/>
          </a:xfrm>
          <a:prstGeom prst="rect">
            <a:avLst/>
          </a:prstGeom>
        </p:spPr>
      </p:pic>
      <p:pic>
        <p:nvPicPr>
          <p:cNvPr id="10" name="Graphic 9" descr="Bar chart with solid fill">
            <a:extLst>
              <a:ext uri="{FF2B5EF4-FFF2-40B4-BE49-F238E27FC236}">
                <a16:creationId xmlns:a16="http://schemas.microsoft.com/office/drawing/2014/main" id="{DDFB066C-C4E2-F6EF-29EC-5EBB972782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2677" y="4292289"/>
            <a:ext cx="541859" cy="54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0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2" grpId="0" uiExpand="1" build="p"/>
      <p:bldP spid="13" grpId="0" build="p"/>
      <p:bldP spid="14" grpId="0" uiExpand="1" build="p"/>
      <p:bldP spid="1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55EB7C-8AC9-45E6-A5F6-5C936EB2F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05A344-4E48-4731-A227-0D90870674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Research, 22.01.2026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35EDFB9-4882-2C29-EAB4-E2F083058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74" y="1908047"/>
            <a:ext cx="872501" cy="114543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BB12D89-4E5C-DC6C-9BFB-B4B8BB1678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52" t="10328" r="36932"/>
          <a:stretch/>
        </p:blipFill>
        <p:spPr>
          <a:xfrm>
            <a:off x="1995447" y="3027943"/>
            <a:ext cx="1193528" cy="458182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0DAB9582-51FF-A1F7-A166-AC1532C57090}"/>
              </a:ext>
            </a:extLst>
          </p:cNvPr>
          <p:cNvSpPr>
            <a:spLocks/>
          </p:cNvSpPr>
          <p:nvPr/>
        </p:nvSpPr>
        <p:spPr>
          <a:xfrm>
            <a:off x="842641" y="2447635"/>
            <a:ext cx="881124" cy="872077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Frutiger LT Pro 45 Light" panose="020B0403030504020204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9579067-42A8-E7D6-0F0B-8BD4091DE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311" y="1919406"/>
            <a:ext cx="881124" cy="455473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4E55891E-19AA-0D1E-D6A2-3E2D9D3B42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5582" y="5705904"/>
            <a:ext cx="1331352" cy="355169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4291228-E4B1-85F9-5D2F-45BC144C65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5582" y="3985863"/>
            <a:ext cx="1724365" cy="1149576"/>
          </a:xfrm>
          <a:prstGeom prst="rect">
            <a:avLst/>
          </a:prstGeom>
          <a:ln>
            <a:solidFill>
              <a:srgbClr val="003345"/>
            </a:solidFill>
          </a:ln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A9ADC771-750E-3E8E-5D90-F1D349A80DEB}"/>
              </a:ext>
            </a:extLst>
          </p:cNvPr>
          <p:cNvSpPr/>
          <p:nvPr/>
        </p:nvSpPr>
        <p:spPr>
          <a:xfrm>
            <a:off x="6782595" y="5072302"/>
            <a:ext cx="1616998" cy="507108"/>
          </a:xfrm>
          <a:prstGeom prst="rect">
            <a:avLst/>
          </a:prstGeom>
          <a:solidFill>
            <a:srgbClr val="8BC6DC"/>
          </a:solidFill>
          <a:ln w="9525">
            <a:solidFill>
              <a:srgbClr val="0033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+ DIN 18040-2 </a:t>
            </a:r>
          </a:p>
        </p:txBody>
      </p:sp>
      <p:sp>
        <p:nvSpPr>
          <p:cNvPr id="22" name="Inhaltsplatzhalter 8">
            <a:extLst>
              <a:ext uri="{FF2B5EF4-FFF2-40B4-BE49-F238E27FC236}">
                <a16:creationId xmlns:a16="http://schemas.microsoft.com/office/drawing/2014/main" id="{D1EC73EA-E00C-F0CB-2A16-BCF51FD931FD}"/>
              </a:ext>
            </a:extLst>
          </p:cNvPr>
          <p:cNvSpPr txBox="1">
            <a:spLocks/>
          </p:cNvSpPr>
          <p:nvPr/>
        </p:nvSpPr>
        <p:spPr>
          <a:xfrm>
            <a:off x="777534" y="3615062"/>
            <a:ext cx="2724601" cy="249876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3D </a:t>
            </a:r>
            <a:r>
              <a:rPr lang="de-DE" sz="1600" dirty="0" err="1"/>
              <a:t>building</a:t>
            </a:r>
            <a:r>
              <a:rPr lang="de-DE" sz="1600" dirty="0"/>
              <a:t> </a:t>
            </a:r>
            <a:r>
              <a:rPr lang="de-DE" sz="1600" dirty="0" err="1"/>
              <a:t>envelope</a:t>
            </a:r>
            <a:r>
              <a:rPr lang="de-DE" sz="1600" dirty="0"/>
              <a:t> (LoD2) </a:t>
            </a:r>
          </a:p>
          <a:p>
            <a:r>
              <a:rPr lang="de-DE" sz="1600" dirty="0" err="1"/>
              <a:t>Address</a:t>
            </a:r>
            <a:r>
              <a:rPr lang="de-DE" sz="1600" dirty="0"/>
              <a:t> </a:t>
            </a:r>
            <a:r>
              <a:rPr lang="de-DE" sz="1600" dirty="0" err="1"/>
              <a:t>point</a:t>
            </a:r>
            <a:r>
              <a:rPr lang="de-DE" sz="1600" dirty="0"/>
              <a:t> and </a:t>
            </a:r>
            <a:r>
              <a:rPr lang="de-DE" sz="1600" dirty="0" err="1"/>
              <a:t>street</a:t>
            </a:r>
            <a:r>
              <a:rPr lang="de-DE" sz="1600" dirty="0"/>
              <a:t> </a:t>
            </a:r>
            <a:r>
              <a:rPr lang="de-DE" sz="1600" dirty="0" err="1"/>
              <a:t>layout</a:t>
            </a:r>
            <a:endParaRPr lang="de-DE" sz="1600" dirty="0"/>
          </a:p>
          <a:p>
            <a:r>
              <a:rPr lang="de-DE" sz="1600" dirty="0"/>
              <a:t>Orientation</a:t>
            </a:r>
          </a:p>
          <a:p>
            <a:r>
              <a:rPr lang="de-DE" sz="1600" dirty="0"/>
              <a:t>Roof type</a:t>
            </a:r>
          </a:p>
          <a:p>
            <a:r>
              <a:rPr lang="de-DE" sz="1600" dirty="0"/>
              <a:t>Year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construction</a:t>
            </a:r>
            <a:endParaRPr lang="de-DE" sz="1600" dirty="0"/>
          </a:p>
          <a:p>
            <a:r>
              <a:rPr lang="de-DE" sz="1600" dirty="0"/>
              <a:t>…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1C84D35-4BFF-CD4E-63BB-E9EABCA3A93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112" t="19443" r="54961" b="3889"/>
          <a:stretch/>
        </p:blipFill>
        <p:spPr>
          <a:xfrm>
            <a:off x="4628301" y="1157424"/>
            <a:ext cx="2079470" cy="1900325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C835B450-BE9C-FFC6-97D9-DD7CBA66B5D5}"/>
              </a:ext>
            </a:extLst>
          </p:cNvPr>
          <p:cNvSpPr/>
          <p:nvPr/>
        </p:nvSpPr>
        <p:spPr>
          <a:xfrm>
            <a:off x="777534" y="1412019"/>
            <a:ext cx="2642391" cy="339451"/>
          </a:xfrm>
          <a:prstGeom prst="rect">
            <a:avLst/>
          </a:prstGeom>
          <a:solidFill>
            <a:srgbClr val="D1E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Geodata</a:t>
            </a:r>
            <a:r>
              <a:rPr lang="de-DE" b="1" dirty="0">
                <a:solidFill>
                  <a:schemeClr val="tx1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input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25" name="Inhaltsplatzhalter 8">
            <a:extLst>
              <a:ext uri="{FF2B5EF4-FFF2-40B4-BE49-F238E27FC236}">
                <a16:creationId xmlns:a16="http://schemas.microsoft.com/office/drawing/2014/main" id="{9AA85E15-714A-7A92-033D-4F34B0FB7A28}"/>
              </a:ext>
            </a:extLst>
          </p:cNvPr>
          <p:cNvSpPr txBox="1">
            <a:spLocks/>
          </p:cNvSpPr>
          <p:nvPr/>
        </p:nvSpPr>
        <p:spPr>
          <a:xfrm>
            <a:off x="3732512" y="4376738"/>
            <a:ext cx="2285554" cy="168433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err="1"/>
              <a:t>Staircase</a:t>
            </a:r>
            <a:r>
              <a:rPr lang="de-DE" sz="1600" dirty="0"/>
              <a:t> </a:t>
            </a:r>
            <a:r>
              <a:rPr lang="de-DE" sz="1600" dirty="0" err="1"/>
              <a:t>measures</a:t>
            </a:r>
            <a:endParaRPr lang="de-DE" sz="1600" dirty="0"/>
          </a:p>
          <a:p>
            <a:r>
              <a:rPr lang="de-DE" sz="1600" dirty="0" err="1"/>
              <a:t>Corridor</a:t>
            </a:r>
            <a:r>
              <a:rPr lang="de-DE" sz="1600" dirty="0"/>
              <a:t> </a:t>
            </a:r>
            <a:r>
              <a:rPr lang="de-DE" sz="1600" dirty="0" err="1"/>
              <a:t>dimensions</a:t>
            </a:r>
            <a:endParaRPr lang="de-DE" sz="1600" dirty="0"/>
          </a:p>
          <a:p>
            <a:r>
              <a:rPr lang="de-DE" sz="1600" dirty="0"/>
              <a:t>Average </a:t>
            </a:r>
            <a:r>
              <a:rPr lang="de-DE" sz="1600" dirty="0" err="1"/>
              <a:t>apartment</a:t>
            </a:r>
            <a:r>
              <a:rPr lang="de-DE" sz="1600" dirty="0"/>
              <a:t> </a:t>
            </a:r>
            <a:r>
              <a:rPr lang="de-DE" sz="1600" dirty="0" err="1"/>
              <a:t>areas</a:t>
            </a:r>
            <a:endParaRPr lang="de-DE" sz="1600" dirty="0"/>
          </a:p>
          <a:p>
            <a:r>
              <a:rPr lang="de-DE" sz="1600" dirty="0"/>
              <a:t>WWR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C0353D9-9F83-C4CF-0BD6-293D2ED9C996}"/>
              </a:ext>
            </a:extLst>
          </p:cNvPr>
          <p:cNvSpPr/>
          <p:nvPr/>
        </p:nvSpPr>
        <p:spPr>
          <a:xfrm>
            <a:off x="3651092" y="3985863"/>
            <a:ext cx="2366974" cy="330916"/>
          </a:xfrm>
          <a:prstGeom prst="rect">
            <a:avLst/>
          </a:prstGeom>
          <a:solidFill>
            <a:srgbClr val="8BC6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Inner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building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data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22F367A-857B-1539-1A5D-4843C8FC6E75}"/>
              </a:ext>
            </a:extLst>
          </p:cNvPr>
          <p:cNvSpPr/>
          <p:nvPr/>
        </p:nvSpPr>
        <p:spPr>
          <a:xfrm>
            <a:off x="7715370" y="5705904"/>
            <a:ext cx="670588" cy="3551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LBO</a:t>
            </a:r>
          </a:p>
        </p:txBody>
      </p:sp>
      <p:sp>
        <p:nvSpPr>
          <p:cNvPr id="29" name="Inhaltsplatzhalter 8">
            <a:extLst>
              <a:ext uri="{FF2B5EF4-FFF2-40B4-BE49-F238E27FC236}">
                <a16:creationId xmlns:a16="http://schemas.microsoft.com/office/drawing/2014/main" id="{6A09B1C6-E225-B7EA-13AC-E03F019473CB}"/>
              </a:ext>
            </a:extLst>
          </p:cNvPr>
          <p:cNvSpPr txBox="1">
            <a:spLocks/>
          </p:cNvSpPr>
          <p:nvPr/>
        </p:nvSpPr>
        <p:spPr>
          <a:xfrm>
            <a:off x="7859947" y="1868838"/>
            <a:ext cx="2951492" cy="211702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Data clean </a:t>
            </a:r>
            <a:r>
              <a:rPr lang="de-DE" sz="1600" dirty="0" err="1"/>
              <a:t>up</a:t>
            </a:r>
            <a:r>
              <a:rPr lang="de-DE" sz="1600" dirty="0"/>
              <a:t> </a:t>
            </a:r>
          </a:p>
          <a:p>
            <a:r>
              <a:rPr lang="de-DE" sz="1600" dirty="0" err="1"/>
              <a:t>Coordinate</a:t>
            </a:r>
            <a:r>
              <a:rPr lang="de-DE" sz="1600" dirty="0"/>
              <a:t> </a:t>
            </a:r>
            <a:r>
              <a:rPr lang="de-DE" sz="1600" dirty="0" err="1"/>
              <a:t>transformation</a:t>
            </a:r>
            <a:endParaRPr lang="de-DE" sz="1600" dirty="0"/>
          </a:p>
          <a:p>
            <a:r>
              <a:rPr lang="de-DE" sz="1600" dirty="0"/>
              <a:t>Front </a:t>
            </a:r>
            <a:r>
              <a:rPr lang="de-DE" sz="1600" dirty="0" err="1"/>
              <a:t>facade</a:t>
            </a:r>
            <a:r>
              <a:rPr lang="de-DE" sz="1600" dirty="0"/>
              <a:t> </a:t>
            </a:r>
            <a:r>
              <a:rPr lang="de-DE" sz="1600" dirty="0" err="1"/>
              <a:t>detection</a:t>
            </a:r>
            <a:endParaRPr lang="de-DE" sz="1600" dirty="0"/>
          </a:p>
          <a:p>
            <a:r>
              <a:rPr lang="de-DE" sz="1600" dirty="0" err="1"/>
              <a:t>Discretization</a:t>
            </a:r>
            <a:endParaRPr lang="de-DE" sz="1600" dirty="0"/>
          </a:p>
          <a:p>
            <a:endParaRPr lang="de-DE" sz="1600" dirty="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DB62540-0DD3-9860-94DC-7A43D08425C1}"/>
              </a:ext>
            </a:extLst>
          </p:cNvPr>
          <p:cNvSpPr/>
          <p:nvPr/>
        </p:nvSpPr>
        <p:spPr>
          <a:xfrm>
            <a:off x="7859947" y="1412020"/>
            <a:ext cx="2951492" cy="330916"/>
          </a:xfrm>
          <a:prstGeom prst="rect">
            <a:avLst/>
          </a:prstGeom>
          <a:solidFill>
            <a:srgbClr val="3773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Preparation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33" name="Pfeil: nach oben 32">
            <a:extLst>
              <a:ext uri="{FF2B5EF4-FFF2-40B4-BE49-F238E27FC236}">
                <a16:creationId xmlns:a16="http://schemas.microsoft.com/office/drawing/2014/main" id="{B16D26B4-F408-B486-38FF-AD384766AB2C}"/>
              </a:ext>
            </a:extLst>
          </p:cNvPr>
          <p:cNvSpPr/>
          <p:nvPr/>
        </p:nvSpPr>
        <p:spPr>
          <a:xfrm rot="5400000">
            <a:off x="4034486" y="1807226"/>
            <a:ext cx="330917" cy="769221"/>
          </a:xfrm>
          <a:prstGeom prst="upArrow">
            <a:avLst/>
          </a:prstGeom>
          <a:solidFill>
            <a:srgbClr val="D1E8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Pfeil: nach oben 33">
            <a:extLst>
              <a:ext uri="{FF2B5EF4-FFF2-40B4-BE49-F238E27FC236}">
                <a16:creationId xmlns:a16="http://schemas.microsoft.com/office/drawing/2014/main" id="{8752B7A8-94D4-D09A-B1C5-ADB79B535D84}"/>
              </a:ext>
            </a:extLst>
          </p:cNvPr>
          <p:cNvSpPr/>
          <p:nvPr/>
        </p:nvSpPr>
        <p:spPr>
          <a:xfrm>
            <a:off x="5616127" y="3199331"/>
            <a:ext cx="330917" cy="644950"/>
          </a:xfrm>
          <a:prstGeom prst="upArrow">
            <a:avLst/>
          </a:prstGeom>
          <a:solidFill>
            <a:srgbClr val="8BC6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Pfeil: nach oben 34">
            <a:extLst>
              <a:ext uri="{FF2B5EF4-FFF2-40B4-BE49-F238E27FC236}">
                <a16:creationId xmlns:a16="http://schemas.microsoft.com/office/drawing/2014/main" id="{3497F0ED-EF9E-FD49-6FBC-30271B450D12}"/>
              </a:ext>
            </a:extLst>
          </p:cNvPr>
          <p:cNvSpPr/>
          <p:nvPr/>
        </p:nvSpPr>
        <p:spPr>
          <a:xfrm rot="5400000">
            <a:off x="7035692" y="1803594"/>
            <a:ext cx="330917" cy="769221"/>
          </a:xfrm>
          <a:prstGeom prst="upArrow">
            <a:avLst/>
          </a:prstGeom>
          <a:solidFill>
            <a:srgbClr val="3773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6" name="Picture 2" descr="Binary Space Partitioning Trees in Computer Graphics">
            <a:extLst>
              <a:ext uri="{FF2B5EF4-FFF2-40B4-BE49-F238E27FC236}">
                <a16:creationId xmlns:a16="http://schemas.microsoft.com/office/drawing/2014/main" id="{855A1303-967E-273E-864B-9EC9C110C1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7" r="24988"/>
          <a:stretch/>
        </p:blipFill>
        <p:spPr bwMode="auto">
          <a:xfrm>
            <a:off x="8592227" y="3317926"/>
            <a:ext cx="3271224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5FF010DD-7EC6-F026-72EC-82558A50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3" y="416579"/>
            <a:ext cx="10643616" cy="717279"/>
          </a:xfrm>
        </p:spPr>
        <p:txBody>
          <a:bodyPr/>
          <a:lstStyle/>
          <a:p>
            <a:r>
              <a:rPr lang="de-DE" cap="none" dirty="0"/>
              <a:t>Multizone </a:t>
            </a:r>
            <a:r>
              <a:rPr lang="de-DE" cap="none" dirty="0" err="1"/>
              <a:t>Assignment</a:t>
            </a:r>
            <a:r>
              <a:rPr lang="de-DE" cap="none" dirty="0"/>
              <a:t> </a:t>
            </a:r>
            <a:r>
              <a:rPr lang="de-DE" cap="none" dirty="0" err="1"/>
              <a:t>Algorithm</a:t>
            </a:r>
            <a:endParaRPr lang="en-GB" cap="none" dirty="0"/>
          </a:p>
        </p:txBody>
      </p:sp>
    </p:spTree>
    <p:extLst>
      <p:ext uri="{BB962C8B-B14F-4D97-AF65-F5344CB8AC3E}">
        <p14:creationId xmlns:p14="http://schemas.microsoft.com/office/powerpoint/2010/main" val="243398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/>
      <p:bldP spid="30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CEC76D08-4D8F-902C-4FA8-EBAFE7BB9020}"/>
              </a:ext>
            </a:extLst>
          </p:cNvPr>
          <p:cNvGrpSpPr/>
          <p:nvPr/>
        </p:nvGrpSpPr>
        <p:grpSpPr>
          <a:xfrm>
            <a:off x="1122274" y="1492057"/>
            <a:ext cx="1690334" cy="2193550"/>
            <a:chOff x="1082131" y="3691281"/>
            <a:chExt cx="1690334" cy="2193550"/>
          </a:xfrm>
        </p:grpSpPr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FEE1ED8A-193B-6A4F-095B-3B91E808A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205" t="8616" r="32278" b="55013"/>
            <a:stretch/>
          </p:blipFill>
          <p:spPr>
            <a:xfrm rot="15960534">
              <a:off x="830523" y="3942889"/>
              <a:ext cx="2193550" cy="1690334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50D2B005-CF01-119C-A7C4-D34CA9FBA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117" t="52572" r="41579" b="20296"/>
            <a:stretch/>
          </p:blipFill>
          <p:spPr>
            <a:xfrm rot="15997364">
              <a:off x="2063225" y="4582734"/>
              <a:ext cx="278584" cy="534958"/>
            </a:xfrm>
            <a:prstGeom prst="rect">
              <a:avLst/>
            </a:prstGeom>
          </p:spPr>
        </p:pic>
      </p:grp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55EB7C-8AC9-45E6-A5F6-5C936EB2F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05A344-4E48-4731-A227-0D90870674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Research, 22.01.2026</a:t>
            </a:r>
            <a:endParaRPr lang="de-DE" dirty="0"/>
          </a:p>
        </p:txBody>
      </p:sp>
      <p:sp>
        <p:nvSpPr>
          <p:cNvPr id="43" name="Inhaltsplatzhalter 8">
            <a:extLst>
              <a:ext uri="{FF2B5EF4-FFF2-40B4-BE49-F238E27FC236}">
                <a16:creationId xmlns:a16="http://schemas.microsoft.com/office/drawing/2014/main" id="{9646154D-D019-6698-F8CA-BC44A7CF7292}"/>
              </a:ext>
            </a:extLst>
          </p:cNvPr>
          <p:cNvSpPr txBox="1">
            <a:spLocks/>
          </p:cNvSpPr>
          <p:nvPr/>
        </p:nvSpPr>
        <p:spPr>
          <a:xfrm>
            <a:off x="772018" y="3717827"/>
            <a:ext cx="4038107" cy="22256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Seed </a:t>
            </a:r>
            <a:r>
              <a:rPr lang="de-DE" sz="1600" dirty="0" err="1"/>
              <a:t>placement</a:t>
            </a:r>
            <a:r>
              <a:rPr lang="de-DE" sz="1600" dirty="0"/>
              <a:t> </a:t>
            </a:r>
            <a:r>
              <a:rPr lang="de-DE" sz="1600" dirty="0" err="1"/>
              <a:t>along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staircase</a:t>
            </a:r>
            <a:r>
              <a:rPr lang="de-DE" sz="1600" dirty="0"/>
              <a:t>/</a:t>
            </a:r>
            <a:r>
              <a:rPr lang="de-DE" sz="1600" dirty="0" err="1"/>
              <a:t>corridor</a:t>
            </a:r>
            <a:r>
              <a:rPr lang="de-DE" sz="1600" dirty="0"/>
              <a:t> </a:t>
            </a:r>
            <a:r>
              <a:rPr lang="de-DE" sz="1600" dirty="0" err="1"/>
              <a:t>walls</a:t>
            </a:r>
            <a:r>
              <a:rPr lang="de-DE" sz="1600" dirty="0"/>
              <a:t> („</a:t>
            </a:r>
            <a:r>
              <a:rPr lang="de-DE" sz="1600" dirty="0" err="1"/>
              <a:t>doors</a:t>
            </a:r>
            <a:r>
              <a:rPr lang="de-DE" sz="1600" dirty="0"/>
              <a:t>“)</a:t>
            </a:r>
          </a:p>
          <a:p>
            <a:r>
              <a:rPr lang="de-DE" sz="1600" dirty="0"/>
              <a:t>X-</a:t>
            </a:r>
            <a:r>
              <a:rPr lang="de-DE" sz="1600" dirty="0" err="1"/>
              <a:t>iterations</a:t>
            </a:r>
            <a:r>
              <a:rPr lang="de-DE" sz="1600" dirty="0"/>
              <a:t> (different </a:t>
            </a:r>
            <a:r>
              <a:rPr lang="de-DE" sz="1600" dirty="0" err="1"/>
              <a:t>seed</a:t>
            </a:r>
            <a:r>
              <a:rPr lang="de-DE" sz="1600" dirty="0"/>
              <a:t> </a:t>
            </a:r>
            <a:r>
              <a:rPr lang="de-DE" sz="1600" dirty="0" err="1"/>
              <a:t>placements</a:t>
            </a:r>
            <a:r>
              <a:rPr lang="de-DE" sz="1600" dirty="0"/>
              <a:t>)</a:t>
            </a:r>
          </a:p>
          <a:p>
            <a:r>
              <a:rPr lang="de-DE" sz="1600" dirty="0" err="1"/>
              <a:t>Continuous</a:t>
            </a:r>
            <a:r>
              <a:rPr lang="de-DE" sz="1600" dirty="0"/>
              <a:t> </a:t>
            </a:r>
            <a:r>
              <a:rPr lang="de-DE" sz="1600" dirty="0" err="1"/>
              <a:t>evaluation</a:t>
            </a:r>
            <a:r>
              <a:rPr lang="de-DE" sz="1600" dirty="0"/>
              <a:t>:</a:t>
            </a:r>
          </a:p>
          <a:p>
            <a:pPr lvl="1"/>
            <a:r>
              <a:rPr lang="de-DE" sz="1400" dirty="0"/>
              <a:t>Outer wall </a:t>
            </a:r>
            <a:r>
              <a:rPr lang="de-DE" sz="1400" dirty="0" err="1"/>
              <a:t>connection</a:t>
            </a:r>
            <a:endParaRPr lang="de-DE" sz="1400" dirty="0"/>
          </a:p>
          <a:p>
            <a:pPr lvl="1"/>
            <a:r>
              <a:rPr lang="de-DE" sz="1400" dirty="0" err="1"/>
              <a:t>Adjacend</a:t>
            </a:r>
            <a:r>
              <a:rPr lang="de-DE" sz="1400" dirty="0"/>
              <a:t> </a:t>
            </a:r>
            <a:r>
              <a:rPr lang="de-DE" sz="1400" dirty="0" err="1"/>
              <a:t>buildings</a:t>
            </a:r>
            <a:r>
              <a:rPr lang="de-DE" sz="1400" dirty="0"/>
              <a:t> / </a:t>
            </a:r>
            <a:r>
              <a:rPr lang="de-DE" sz="1400" dirty="0" err="1"/>
              <a:t>blocked</a:t>
            </a:r>
            <a:r>
              <a:rPr lang="de-DE" sz="1400" dirty="0"/>
              <a:t> </a:t>
            </a:r>
            <a:r>
              <a:rPr lang="de-DE" sz="1400" dirty="0" err="1"/>
              <a:t>walls</a:t>
            </a:r>
            <a:endParaRPr lang="de-DE" sz="1400" dirty="0"/>
          </a:p>
          <a:p>
            <a:pPr lvl="1"/>
            <a:r>
              <a:rPr lang="de-DE" sz="1400" dirty="0"/>
              <a:t>Windows </a:t>
            </a:r>
            <a:r>
              <a:rPr lang="de-DE" sz="1400" dirty="0" err="1"/>
              <a:t>accordingly</a:t>
            </a:r>
            <a:r>
              <a:rPr lang="de-DE" sz="1400" dirty="0"/>
              <a:t>? (</a:t>
            </a:r>
            <a:r>
              <a:rPr lang="de-DE" sz="1400" dirty="0" err="1"/>
              <a:t>if</a:t>
            </a:r>
            <a:r>
              <a:rPr lang="de-DE" sz="1400" dirty="0"/>
              <a:t> LoD3)</a:t>
            </a:r>
          </a:p>
          <a:p>
            <a:pPr lvl="1"/>
            <a:r>
              <a:rPr lang="de-DE" sz="1400" dirty="0" err="1"/>
              <a:t>Artifacts</a:t>
            </a:r>
            <a:r>
              <a:rPr lang="de-DE" sz="1400" dirty="0"/>
              <a:t>, </a:t>
            </a:r>
            <a:r>
              <a:rPr lang="de-DE" sz="1400" dirty="0" err="1"/>
              <a:t>area</a:t>
            </a:r>
            <a:r>
              <a:rPr lang="de-DE" sz="1400" dirty="0"/>
              <a:t> </a:t>
            </a:r>
            <a:r>
              <a:rPr lang="de-DE" sz="1400" dirty="0" err="1"/>
              <a:t>connectivity</a:t>
            </a:r>
            <a:r>
              <a:rPr lang="de-DE" sz="1400" dirty="0"/>
              <a:t> </a:t>
            </a:r>
          </a:p>
        </p:txBody>
      </p:sp>
      <p:sp>
        <p:nvSpPr>
          <p:cNvPr id="44" name="Pfeil: nach oben 43">
            <a:extLst>
              <a:ext uri="{FF2B5EF4-FFF2-40B4-BE49-F238E27FC236}">
                <a16:creationId xmlns:a16="http://schemas.microsoft.com/office/drawing/2014/main" id="{DB122E49-8EA2-718F-C938-D67B0E306EE7}"/>
              </a:ext>
            </a:extLst>
          </p:cNvPr>
          <p:cNvSpPr/>
          <p:nvPr/>
        </p:nvSpPr>
        <p:spPr>
          <a:xfrm rot="5400000">
            <a:off x="3260532" y="2590104"/>
            <a:ext cx="330917" cy="769221"/>
          </a:xfrm>
          <a:prstGeom prst="up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Pfeil: nach oben 44">
            <a:extLst>
              <a:ext uri="{FF2B5EF4-FFF2-40B4-BE49-F238E27FC236}">
                <a16:creationId xmlns:a16="http://schemas.microsoft.com/office/drawing/2014/main" id="{EBF0FC46-8F45-DA13-CE6C-8DCC29FA4E27}"/>
              </a:ext>
            </a:extLst>
          </p:cNvPr>
          <p:cNvSpPr/>
          <p:nvPr/>
        </p:nvSpPr>
        <p:spPr>
          <a:xfrm rot="5400000">
            <a:off x="7537783" y="2621305"/>
            <a:ext cx="330917" cy="604353"/>
          </a:xfrm>
          <a:prstGeom prst="upArrow">
            <a:avLst/>
          </a:prstGeom>
          <a:solidFill>
            <a:srgbClr val="00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EEFA0DFC-DC70-1A99-DF4D-E1AF43E7ADF2}"/>
              </a:ext>
            </a:extLst>
          </p:cNvPr>
          <p:cNvSpPr/>
          <p:nvPr/>
        </p:nvSpPr>
        <p:spPr>
          <a:xfrm>
            <a:off x="1037738" y="1318264"/>
            <a:ext cx="2601233" cy="330916"/>
          </a:xfrm>
          <a:prstGeom prst="rect">
            <a:avLst/>
          </a:prstGeom>
          <a:solidFill>
            <a:srgbClr val="254D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Voronoi-Seperation</a:t>
            </a:r>
            <a:endParaRPr lang="de-DE" b="1" dirty="0">
              <a:solidFill>
                <a:schemeClr val="bg1"/>
              </a:solidFill>
            </a:endParaRPr>
          </a:p>
        </p:txBody>
      </p:sp>
      <p:pic>
        <p:nvPicPr>
          <p:cNvPr id="51" name="Grafik 50">
            <a:extLst>
              <a:ext uri="{FF2B5EF4-FFF2-40B4-BE49-F238E27FC236}">
                <a16:creationId xmlns:a16="http://schemas.microsoft.com/office/drawing/2014/main" id="{03D4BF75-2532-1535-FD6A-D53C18863D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827" t="12350" r="27872" b="12952"/>
          <a:stretch/>
        </p:blipFill>
        <p:spPr>
          <a:xfrm>
            <a:off x="8655837" y="2052596"/>
            <a:ext cx="2380302" cy="4203369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1FF7EC39-C62E-17D2-1197-976C8CBB7BC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311" t="15271" r="6063" b="14290"/>
          <a:stretch/>
        </p:blipFill>
        <p:spPr>
          <a:xfrm>
            <a:off x="4221024" y="1332350"/>
            <a:ext cx="3175380" cy="2643045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FDE66E95-AE87-1A11-AB37-F391BD85A075}"/>
              </a:ext>
            </a:extLst>
          </p:cNvPr>
          <p:cNvSpPr/>
          <p:nvPr/>
        </p:nvSpPr>
        <p:spPr>
          <a:xfrm>
            <a:off x="8137768" y="1520170"/>
            <a:ext cx="3170289" cy="330916"/>
          </a:xfrm>
          <a:prstGeom prst="rect">
            <a:avLst/>
          </a:prstGeom>
          <a:solidFill>
            <a:srgbClr val="254D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Postprocessing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6" name="Inhaltsplatzhalter 8">
            <a:extLst>
              <a:ext uri="{FF2B5EF4-FFF2-40B4-BE49-F238E27FC236}">
                <a16:creationId xmlns:a16="http://schemas.microsoft.com/office/drawing/2014/main" id="{2913DBC5-0FC1-B7F3-410F-C876A477C405}"/>
              </a:ext>
            </a:extLst>
          </p:cNvPr>
          <p:cNvSpPr txBox="1">
            <a:spLocks/>
          </p:cNvSpPr>
          <p:nvPr/>
        </p:nvSpPr>
        <p:spPr>
          <a:xfrm>
            <a:off x="5657896" y="4496744"/>
            <a:ext cx="2672731" cy="102890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600" dirty="0" err="1"/>
              <a:t>Eliminate</a:t>
            </a:r>
            <a:r>
              <a:rPr lang="de-DE" sz="1600" dirty="0"/>
              <a:t> „</a:t>
            </a:r>
            <a:r>
              <a:rPr lang="de-DE" sz="1600" dirty="0" err="1"/>
              <a:t>jagged</a:t>
            </a:r>
            <a:r>
              <a:rPr lang="de-DE" sz="1600" dirty="0"/>
              <a:t> </a:t>
            </a:r>
            <a:r>
              <a:rPr lang="de-DE" sz="1600" dirty="0" err="1"/>
              <a:t>patterns</a:t>
            </a:r>
            <a:r>
              <a:rPr lang="de-DE" sz="1600" dirty="0"/>
              <a:t>“ </a:t>
            </a:r>
            <a:r>
              <a:rPr lang="de-DE" sz="1600" dirty="0" err="1"/>
              <a:t>caused</a:t>
            </a:r>
            <a:r>
              <a:rPr lang="de-DE" sz="1600" dirty="0"/>
              <a:t> </a:t>
            </a: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sz="1600" dirty="0" err="1"/>
              <a:t>voronoi</a:t>
            </a:r>
            <a:r>
              <a:rPr lang="de-DE" sz="1600" dirty="0"/>
              <a:t> (</a:t>
            </a:r>
            <a:r>
              <a:rPr lang="de-DE" sz="1600" dirty="0" err="1"/>
              <a:t>with</a:t>
            </a:r>
            <a:r>
              <a:rPr lang="de-DE" sz="1600" dirty="0"/>
              <a:t> </a:t>
            </a:r>
            <a:r>
              <a:rPr lang="de-DE" sz="1600" dirty="0" err="1"/>
              <a:t>respect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restrictions</a:t>
            </a:r>
            <a:r>
              <a:rPr lang="de-DE" sz="1600" dirty="0"/>
              <a:t>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B70FBF6-410F-616D-97F5-DE07805BA17C}"/>
              </a:ext>
            </a:extLst>
          </p:cNvPr>
          <p:cNvSpPr/>
          <p:nvPr/>
        </p:nvSpPr>
        <p:spPr>
          <a:xfrm>
            <a:off x="6000174" y="2096189"/>
            <a:ext cx="1396230" cy="985287"/>
          </a:xfrm>
          <a:prstGeom prst="rect">
            <a:avLst/>
          </a:prstGeom>
          <a:solidFill>
            <a:srgbClr val="FF9D89">
              <a:alpha val="9804"/>
            </a:srgbClr>
          </a:solidFill>
          <a:ln w="571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Pfeil: gebogen 8">
            <a:extLst>
              <a:ext uri="{FF2B5EF4-FFF2-40B4-BE49-F238E27FC236}">
                <a16:creationId xmlns:a16="http://schemas.microsoft.com/office/drawing/2014/main" id="{06FAFB65-80A3-69A2-4C9B-9205DBBFC435}"/>
              </a:ext>
            </a:extLst>
          </p:cNvPr>
          <p:cNvSpPr/>
          <p:nvPr/>
        </p:nvSpPr>
        <p:spPr>
          <a:xfrm rot="10516196" flipH="1">
            <a:off x="7475750" y="3256991"/>
            <a:ext cx="1209339" cy="1198511"/>
          </a:xfrm>
          <a:prstGeom prst="bentArrow">
            <a:avLst>
              <a:gd name="adj1" fmla="val 11448"/>
              <a:gd name="adj2" fmla="val 16561"/>
              <a:gd name="adj3" fmla="val 25000"/>
              <a:gd name="adj4" fmla="val 7590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EB5F39A-AE40-5319-538B-0A889DE5C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3" y="416579"/>
            <a:ext cx="10643616" cy="717279"/>
          </a:xfrm>
        </p:spPr>
        <p:txBody>
          <a:bodyPr/>
          <a:lstStyle/>
          <a:p>
            <a:r>
              <a:rPr lang="de-DE" cap="none" dirty="0"/>
              <a:t>Multizone </a:t>
            </a:r>
            <a:r>
              <a:rPr lang="de-DE" cap="none" dirty="0" err="1"/>
              <a:t>Assignment</a:t>
            </a:r>
            <a:r>
              <a:rPr lang="de-DE" cap="none" dirty="0"/>
              <a:t> </a:t>
            </a:r>
            <a:r>
              <a:rPr lang="de-DE" cap="none" dirty="0" err="1"/>
              <a:t>Algorithm</a:t>
            </a:r>
            <a:endParaRPr lang="en-GB" cap="none" dirty="0"/>
          </a:p>
        </p:txBody>
      </p:sp>
    </p:spTree>
    <p:extLst>
      <p:ext uri="{BB962C8B-B14F-4D97-AF65-F5344CB8AC3E}">
        <p14:creationId xmlns:p14="http://schemas.microsoft.com/office/powerpoint/2010/main" val="152710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  <p:bldP spid="3" grpId="0" animBg="1"/>
      <p:bldP spid="6" grpId="0" animBg="1"/>
      <p:bldP spid="7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CEC76D08-4D8F-902C-4FA8-EBAFE7BB9020}"/>
              </a:ext>
            </a:extLst>
          </p:cNvPr>
          <p:cNvGrpSpPr/>
          <p:nvPr/>
        </p:nvGrpSpPr>
        <p:grpSpPr>
          <a:xfrm>
            <a:off x="1122274" y="1492057"/>
            <a:ext cx="1690334" cy="2193550"/>
            <a:chOff x="1082131" y="3691281"/>
            <a:chExt cx="1690334" cy="2193550"/>
          </a:xfrm>
        </p:grpSpPr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FEE1ED8A-193B-6A4F-095B-3B91E808A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205" t="8616" r="32278" b="55013"/>
            <a:stretch/>
          </p:blipFill>
          <p:spPr>
            <a:xfrm rot="15960534">
              <a:off x="830523" y="3942889"/>
              <a:ext cx="2193550" cy="1690334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50D2B005-CF01-119C-A7C4-D34CA9FBA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117" t="52572" r="41579" b="20296"/>
            <a:stretch/>
          </p:blipFill>
          <p:spPr>
            <a:xfrm rot="15997364">
              <a:off x="2063225" y="4582734"/>
              <a:ext cx="278584" cy="534958"/>
            </a:xfrm>
            <a:prstGeom prst="rect">
              <a:avLst/>
            </a:prstGeom>
          </p:spPr>
        </p:pic>
      </p:grp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55EB7C-8AC9-45E6-A5F6-5C936EB2F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05A344-4E48-4731-A227-0D90870674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Research, 22.01.2026</a:t>
            </a:r>
            <a:endParaRPr lang="de-DE" dirty="0"/>
          </a:p>
        </p:txBody>
      </p:sp>
      <p:sp>
        <p:nvSpPr>
          <p:cNvPr id="43" name="Inhaltsplatzhalter 8">
            <a:extLst>
              <a:ext uri="{FF2B5EF4-FFF2-40B4-BE49-F238E27FC236}">
                <a16:creationId xmlns:a16="http://schemas.microsoft.com/office/drawing/2014/main" id="{9646154D-D019-6698-F8CA-BC44A7CF7292}"/>
              </a:ext>
            </a:extLst>
          </p:cNvPr>
          <p:cNvSpPr txBox="1">
            <a:spLocks/>
          </p:cNvSpPr>
          <p:nvPr/>
        </p:nvSpPr>
        <p:spPr>
          <a:xfrm>
            <a:off x="772018" y="3717827"/>
            <a:ext cx="4038107" cy="22256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Seed </a:t>
            </a:r>
            <a:r>
              <a:rPr lang="de-DE" sz="1600" dirty="0" err="1"/>
              <a:t>placement</a:t>
            </a:r>
            <a:r>
              <a:rPr lang="de-DE" sz="1600" dirty="0"/>
              <a:t> </a:t>
            </a:r>
            <a:r>
              <a:rPr lang="de-DE" sz="1600" dirty="0" err="1"/>
              <a:t>along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staircase</a:t>
            </a:r>
            <a:r>
              <a:rPr lang="de-DE" sz="1600" dirty="0"/>
              <a:t>/</a:t>
            </a:r>
            <a:r>
              <a:rPr lang="de-DE" sz="1600" dirty="0" err="1"/>
              <a:t>corridor</a:t>
            </a:r>
            <a:r>
              <a:rPr lang="de-DE" sz="1600" dirty="0"/>
              <a:t> </a:t>
            </a:r>
            <a:r>
              <a:rPr lang="de-DE" sz="1600" dirty="0" err="1"/>
              <a:t>walls</a:t>
            </a:r>
            <a:r>
              <a:rPr lang="de-DE" sz="1600" dirty="0"/>
              <a:t> („</a:t>
            </a:r>
            <a:r>
              <a:rPr lang="de-DE" sz="1600" dirty="0" err="1"/>
              <a:t>doors</a:t>
            </a:r>
            <a:r>
              <a:rPr lang="de-DE" sz="1600" dirty="0"/>
              <a:t>“)</a:t>
            </a:r>
          </a:p>
          <a:p>
            <a:r>
              <a:rPr lang="de-DE" sz="1600" dirty="0"/>
              <a:t>X-</a:t>
            </a:r>
            <a:r>
              <a:rPr lang="de-DE" sz="1600" dirty="0" err="1"/>
              <a:t>iterations</a:t>
            </a:r>
            <a:r>
              <a:rPr lang="de-DE" sz="1600" dirty="0"/>
              <a:t> (different </a:t>
            </a:r>
            <a:r>
              <a:rPr lang="de-DE" sz="1600" dirty="0" err="1"/>
              <a:t>seed</a:t>
            </a:r>
            <a:r>
              <a:rPr lang="de-DE" sz="1600" dirty="0"/>
              <a:t> </a:t>
            </a:r>
            <a:r>
              <a:rPr lang="de-DE" sz="1600" dirty="0" err="1"/>
              <a:t>placements</a:t>
            </a:r>
            <a:r>
              <a:rPr lang="de-DE" sz="1600" dirty="0"/>
              <a:t>)</a:t>
            </a:r>
          </a:p>
          <a:p>
            <a:r>
              <a:rPr lang="de-DE" sz="1600" dirty="0" err="1"/>
              <a:t>Continuous</a:t>
            </a:r>
            <a:r>
              <a:rPr lang="de-DE" sz="1600" dirty="0"/>
              <a:t> </a:t>
            </a:r>
            <a:r>
              <a:rPr lang="de-DE" sz="1600" dirty="0" err="1"/>
              <a:t>evaluation</a:t>
            </a:r>
            <a:r>
              <a:rPr lang="de-DE" sz="1600" dirty="0"/>
              <a:t>:</a:t>
            </a:r>
          </a:p>
          <a:p>
            <a:pPr lvl="1"/>
            <a:r>
              <a:rPr lang="de-DE" sz="1400" dirty="0"/>
              <a:t>Outer wall </a:t>
            </a:r>
            <a:r>
              <a:rPr lang="de-DE" sz="1400" dirty="0" err="1"/>
              <a:t>connection</a:t>
            </a:r>
            <a:endParaRPr lang="de-DE" sz="1400" dirty="0"/>
          </a:p>
          <a:p>
            <a:pPr lvl="1"/>
            <a:r>
              <a:rPr lang="de-DE" sz="1400" dirty="0" err="1"/>
              <a:t>Adjacend</a:t>
            </a:r>
            <a:r>
              <a:rPr lang="de-DE" sz="1400" dirty="0"/>
              <a:t> </a:t>
            </a:r>
            <a:r>
              <a:rPr lang="de-DE" sz="1400" dirty="0" err="1"/>
              <a:t>buildings</a:t>
            </a:r>
            <a:r>
              <a:rPr lang="de-DE" sz="1400" dirty="0"/>
              <a:t> / </a:t>
            </a:r>
            <a:r>
              <a:rPr lang="de-DE" sz="1400" dirty="0" err="1"/>
              <a:t>blocked</a:t>
            </a:r>
            <a:r>
              <a:rPr lang="de-DE" sz="1400" dirty="0"/>
              <a:t> </a:t>
            </a:r>
            <a:r>
              <a:rPr lang="de-DE" sz="1400" dirty="0" err="1"/>
              <a:t>walls</a:t>
            </a:r>
            <a:endParaRPr lang="de-DE" sz="1400" dirty="0"/>
          </a:p>
          <a:p>
            <a:pPr lvl="1"/>
            <a:r>
              <a:rPr lang="de-DE" sz="1400" dirty="0"/>
              <a:t>Windows </a:t>
            </a:r>
            <a:r>
              <a:rPr lang="de-DE" sz="1400" dirty="0" err="1"/>
              <a:t>accordingly</a:t>
            </a:r>
            <a:r>
              <a:rPr lang="de-DE" sz="1400" dirty="0"/>
              <a:t>? (</a:t>
            </a:r>
            <a:r>
              <a:rPr lang="de-DE" sz="1400" dirty="0" err="1"/>
              <a:t>if</a:t>
            </a:r>
            <a:r>
              <a:rPr lang="de-DE" sz="1400" dirty="0"/>
              <a:t> LoD3)</a:t>
            </a:r>
          </a:p>
          <a:p>
            <a:pPr lvl="1"/>
            <a:r>
              <a:rPr lang="de-DE" sz="1400" dirty="0" err="1"/>
              <a:t>Artifacts</a:t>
            </a:r>
            <a:r>
              <a:rPr lang="de-DE" sz="1400" dirty="0"/>
              <a:t>, </a:t>
            </a:r>
            <a:r>
              <a:rPr lang="de-DE" sz="1400" dirty="0" err="1"/>
              <a:t>area</a:t>
            </a:r>
            <a:r>
              <a:rPr lang="de-DE" sz="1400" dirty="0"/>
              <a:t> </a:t>
            </a:r>
            <a:r>
              <a:rPr lang="de-DE" sz="1400" dirty="0" err="1"/>
              <a:t>connectivity</a:t>
            </a:r>
            <a:r>
              <a:rPr lang="de-DE" sz="1400" dirty="0"/>
              <a:t> </a:t>
            </a:r>
          </a:p>
        </p:txBody>
      </p:sp>
      <p:sp>
        <p:nvSpPr>
          <p:cNvPr id="44" name="Pfeil: nach oben 43">
            <a:extLst>
              <a:ext uri="{FF2B5EF4-FFF2-40B4-BE49-F238E27FC236}">
                <a16:creationId xmlns:a16="http://schemas.microsoft.com/office/drawing/2014/main" id="{DB122E49-8EA2-718F-C938-D67B0E306EE7}"/>
              </a:ext>
            </a:extLst>
          </p:cNvPr>
          <p:cNvSpPr/>
          <p:nvPr/>
        </p:nvSpPr>
        <p:spPr>
          <a:xfrm rot="5400000">
            <a:off x="3260532" y="2590104"/>
            <a:ext cx="330917" cy="769221"/>
          </a:xfrm>
          <a:prstGeom prst="up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EEFA0DFC-DC70-1A99-DF4D-E1AF43E7ADF2}"/>
              </a:ext>
            </a:extLst>
          </p:cNvPr>
          <p:cNvSpPr/>
          <p:nvPr/>
        </p:nvSpPr>
        <p:spPr>
          <a:xfrm>
            <a:off x="1037738" y="1318264"/>
            <a:ext cx="2601233" cy="330916"/>
          </a:xfrm>
          <a:prstGeom prst="rect">
            <a:avLst/>
          </a:prstGeom>
          <a:solidFill>
            <a:srgbClr val="254D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Voronoi-Seperation</a:t>
            </a:r>
            <a:endParaRPr lang="de-DE" b="1" dirty="0">
              <a:solidFill>
                <a:schemeClr val="bg1"/>
              </a:solidFill>
            </a:endParaRPr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1FF7EC39-C62E-17D2-1197-976C8CBB7B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311" t="15271" r="6063" b="14290"/>
          <a:stretch/>
        </p:blipFill>
        <p:spPr>
          <a:xfrm>
            <a:off x="4221024" y="1332350"/>
            <a:ext cx="3175380" cy="2643045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FDE66E95-AE87-1A11-AB37-F391BD85A075}"/>
              </a:ext>
            </a:extLst>
          </p:cNvPr>
          <p:cNvSpPr/>
          <p:nvPr/>
        </p:nvSpPr>
        <p:spPr>
          <a:xfrm>
            <a:off x="8137768" y="1520170"/>
            <a:ext cx="3170289" cy="330916"/>
          </a:xfrm>
          <a:prstGeom prst="rect">
            <a:avLst/>
          </a:prstGeom>
          <a:solidFill>
            <a:srgbClr val="254D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Result</a:t>
            </a:r>
            <a:endParaRPr lang="de-DE" b="1" dirty="0">
              <a:solidFill>
                <a:schemeClr val="bg1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F1E6F95-0100-2E82-6B04-140C53CA79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973" t="4861" r="7632" b="8525"/>
          <a:stretch/>
        </p:blipFill>
        <p:spPr>
          <a:xfrm>
            <a:off x="8055615" y="2153397"/>
            <a:ext cx="3327816" cy="36767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2CBA5434-9FE9-A6AA-19DD-DB7F2AF433E1}"/>
                  </a:ext>
                </a:extLst>
              </p:cNvPr>
              <p:cNvSpPr/>
              <p:nvPr/>
            </p:nvSpPr>
            <p:spPr>
              <a:xfrm>
                <a:off x="5408982" y="4755097"/>
                <a:ext cx="2632429" cy="1028906"/>
              </a:xfrm>
              <a:prstGeom prst="rect">
                <a:avLst/>
              </a:prstGeom>
              <a:solidFill>
                <a:srgbClr val="254D70"/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b="1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600" b="1" i="0" dirty="0"/>
                        <m:t>SCORE = </m:t>
                      </m:r>
                    </m:oMath>
                  </m:oMathPara>
                </a14:m>
                <a:endParaRPr lang="de-DE" sz="1600" b="1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600" b="1" i="0" dirty="0"/>
                        <m:t>Total perimeter + </m:t>
                      </m:r>
                    </m:oMath>
                  </m:oMathPara>
                </a14:m>
                <a:endParaRPr lang="en-US" sz="1600" b="1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nor/>
                        </m:rPr>
                        <a:rPr lang="en-US" sz="1600" b="1" i="0" dirty="0"/>
                        <m:t> ∗ area range</m:t>
                      </m:r>
                    </m:oMath>
                  </m:oMathPara>
                </a14:m>
                <a:endParaRPr lang="de-DE" sz="1600" b="1" dirty="0"/>
              </a:p>
              <a:p>
                <a:pPr algn="ctr"/>
                <a:endParaRPr lang="de-DE" sz="1600" b="1" dirty="0"/>
              </a:p>
            </p:txBody>
          </p:sp>
        </mc:Choice>
        <mc:Fallback xmlns=""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2CBA5434-9FE9-A6AA-19DD-DB7F2AF433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8982" y="4755097"/>
                <a:ext cx="2632429" cy="10289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feil: gebogen 10">
            <a:extLst>
              <a:ext uri="{FF2B5EF4-FFF2-40B4-BE49-F238E27FC236}">
                <a16:creationId xmlns:a16="http://schemas.microsoft.com/office/drawing/2014/main" id="{2228688A-4A5C-935D-B8ED-37B3BD0D67F7}"/>
              </a:ext>
            </a:extLst>
          </p:cNvPr>
          <p:cNvSpPr/>
          <p:nvPr/>
        </p:nvSpPr>
        <p:spPr>
          <a:xfrm rot="10516196" flipH="1">
            <a:off x="7475750" y="3256991"/>
            <a:ext cx="1209339" cy="1198511"/>
          </a:xfrm>
          <a:prstGeom prst="bentArrow">
            <a:avLst>
              <a:gd name="adj1" fmla="val 11448"/>
              <a:gd name="adj2" fmla="val 16561"/>
              <a:gd name="adj3" fmla="val 25000"/>
              <a:gd name="adj4" fmla="val 7590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6EBA612B-F6BA-1081-900A-62EC19CD2933}"/>
              </a:ext>
            </a:extLst>
          </p:cNvPr>
          <p:cNvSpPr txBox="1">
            <a:spLocks/>
          </p:cNvSpPr>
          <p:nvPr/>
        </p:nvSpPr>
        <p:spPr>
          <a:xfrm>
            <a:off x="6035040" y="4277706"/>
            <a:ext cx="2270760" cy="52792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b="1" dirty="0" err="1">
                <a:solidFill>
                  <a:srgbClr val="C00000"/>
                </a:solidFill>
              </a:rPr>
              <a:t>Highest</a:t>
            </a:r>
            <a:r>
              <a:rPr lang="de-DE" sz="2000" b="1" dirty="0">
                <a:solidFill>
                  <a:srgbClr val="C00000"/>
                </a:solidFill>
              </a:rPr>
              <a:t> SCORE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794ECD6-8810-DDAE-80A9-68F99F1B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3" y="416579"/>
            <a:ext cx="10643616" cy="717279"/>
          </a:xfrm>
        </p:spPr>
        <p:txBody>
          <a:bodyPr/>
          <a:lstStyle/>
          <a:p>
            <a:r>
              <a:rPr lang="de-DE" cap="none" dirty="0"/>
              <a:t>Multizone </a:t>
            </a:r>
            <a:r>
              <a:rPr lang="de-DE" cap="none" dirty="0" err="1"/>
              <a:t>Assignment</a:t>
            </a:r>
            <a:r>
              <a:rPr lang="de-DE" cap="none" dirty="0"/>
              <a:t> </a:t>
            </a:r>
            <a:r>
              <a:rPr lang="de-DE" cap="none" dirty="0" err="1"/>
              <a:t>Algorithm</a:t>
            </a:r>
            <a:endParaRPr lang="en-GB" cap="none" dirty="0"/>
          </a:p>
        </p:txBody>
      </p:sp>
    </p:spTree>
    <p:extLst>
      <p:ext uri="{BB962C8B-B14F-4D97-AF65-F5344CB8AC3E}">
        <p14:creationId xmlns:p14="http://schemas.microsoft.com/office/powerpoint/2010/main" val="309876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77BE-589A-4002-86C4-3B3F0830B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293619"/>
            <a:ext cx="10056093" cy="723794"/>
          </a:xfrm>
        </p:spPr>
        <p:txBody>
          <a:bodyPr/>
          <a:lstStyle/>
          <a:p>
            <a:r>
              <a:rPr lang="de-DE" dirty="0"/>
              <a:t>Datasets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87354-4754-4C02-BE07-74C3A2E36F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90818-079B-4057-A14A-74CFBD9C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15D1377-D8A6-493D-92F4-20C846588C5D}"/>
              </a:ext>
            </a:extLst>
          </p:cNvPr>
          <p:cNvSpPr txBox="1"/>
          <p:nvPr/>
        </p:nvSpPr>
        <p:spPr>
          <a:xfrm>
            <a:off x="445954" y="1168415"/>
            <a:ext cx="445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Modified</a:t>
            </a:r>
            <a:r>
              <a:rPr lang="de-DE" dirty="0"/>
              <a:t> Swiss </a:t>
            </a:r>
            <a:r>
              <a:rPr lang="de-DE" dirty="0" err="1"/>
              <a:t>Dwellings</a:t>
            </a:r>
            <a:r>
              <a:rPr lang="de-DE" dirty="0"/>
              <a:t> (MSD)</a:t>
            </a:r>
            <a:endParaRPr lang="en-GB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F97D80-1E6F-4F33-993B-3CED4FCF521F}"/>
              </a:ext>
            </a:extLst>
          </p:cNvPr>
          <p:cNvSpPr txBox="1"/>
          <p:nvPr/>
        </p:nvSpPr>
        <p:spPr>
          <a:xfrm>
            <a:off x="6271152" y="1168415"/>
            <a:ext cx="5366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Real Estate Data</a:t>
            </a:r>
            <a:endParaRPr lang="en-GB" b="1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9B04E9F-1270-402D-9DFD-90567C3C530C}"/>
              </a:ext>
            </a:extLst>
          </p:cNvPr>
          <p:cNvCxnSpPr>
            <a:cxnSpLocks/>
          </p:cNvCxnSpPr>
          <p:nvPr/>
        </p:nvCxnSpPr>
        <p:spPr>
          <a:xfrm flipV="1">
            <a:off x="6096000" y="1017413"/>
            <a:ext cx="0" cy="53844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453A694-633C-5403-20E4-714D1E3D2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954" y="1688749"/>
            <a:ext cx="5336360" cy="421259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Floor plan dataset with multimodal representations (image, geometry, graph) derived from real floor plans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Graph based structure enables identification of apartments based on adjacency 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Over 5,000 floor plans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7B999AF-0DD7-CCE3-8193-9956BEC319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77" y="3511550"/>
            <a:ext cx="5728235" cy="25757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4E9714D-6D33-B88D-47A6-F83EB9903B3F}"/>
              </a:ext>
            </a:extLst>
          </p:cNvPr>
          <p:cNvSpPr txBox="1"/>
          <p:nvPr/>
        </p:nvSpPr>
        <p:spPr>
          <a:xfrm>
            <a:off x="691916" y="6359022"/>
            <a:ext cx="83262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Source : </a:t>
            </a:r>
            <a:r>
              <a:rPr lang="en-GB" sz="1000" dirty="0">
                <a:hlinkClick r:id="rId4"/>
              </a:rPr>
              <a:t>MSD: A Benchmark Dataset for Floor Plan Generation of Building Complexes</a:t>
            </a:r>
            <a:r>
              <a:rPr lang="en-GB" sz="1000" dirty="0"/>
              <a:t>, </a:t>
            </a:r>
            <a:r>
              <a:rPr lang="de-DE" sz="1000" dirty="0">
                <a:hlinkClick r:id="rId5"/>
              </a:rPr>
              <a:t>ImmoScout24 – Die Nr. 1 für Immobilien</a:t>
            </a:r>
            <a:endParaRPr lang="en-GB" sz="10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D72B4E6-CCD8-8D78-61F7-5F5D603C54E3}"/>
              </a:ext>
            </a:extLst>
          </p:cNvPr>
          <p:cNvSpPr txBox="1">
            <a:spLocks/>
          </p:cNvSpPr>
          <p:nvPr/>
        </p:nvSpPr>
        <p:spPr>
          <a:xfrm>
            <a:off x="6301370" y="1688749"/>
            <a:ext cx="5336360" cy="4212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Floor plans collected from real estate websites (Immoscout24).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Provided mainly as PDF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Include geometric information such as area and layout proportions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Collected over 40 real floor plans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194777B-B8DD-8713-C55E-29C018ED60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523" y="3756453"/>
            <a:ext cx="2742099" cy="231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8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77BE-589A-4002-86C4-3B3F0830B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293619"/>
            <a:ext cx="10056093" cy="723794"/>
          </a:xfrm>
        </p:spPr>
        <p:txBody>
          <a:bodyPr>
            <a:normAutofit fontScale="90000"/>
          </a:bodyPr>
          <a:lstStyle/>
          <a:p>
            <a:r>
              <a:rPr lang="de-DE" dirty="0"/>
              <a:t>Dataset </a:t>
            </a:r>
            <a:r>
              <a:rPr lang="de-DE" dirty="0" err="1"/>
              <a:t>Preprocessing</a:t>
            </a:r>
            <a:r>
              <a:rPr lang="de-DE" dirty="0"/>
              <a:t> and </a:t>
            </a:r>
            <a:r>
              <a:rPr lang="en-GB" dirty="0"/>
              <a:t>Ground Truth Generation</a:t>
            </a:r>
            <a:br>
              <a:rPr lang="de-DE" dirty="0"/>
            </a:br>
            <a:r>
              <a:rPr lang="de-DE" sz="2200" dirty="0"/>
              <a:t>MSD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87354-4754-4C02-BE07-74C3A2E36F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90818-079B-4057-A14A-74CFBD9C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08DDD10-6DB5-4956-514A-14D898ACF961}"/>
              </a:ext>
            </a:extLst>
          </p:cNvPr>
          <p:cNvGrpSpPr/>
          <p:nvPr/>
        </p:nvGrpSpPr>
        <p:grpSpPr>
          <a:xfrm>
            <a:off x="404439" y="1757361"/>
            <a:ext cx="4387172" cy="3951018"/>
            <a:chOff x="546324" y="2218318"/>
            <a:chExt cx="4387172" cy="395101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9E3ECE-E7DD-2552-67B1-A4F49FC5D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642"/>
            <a:stretch/>
          </p:blipFill>
          <p:spPr>
            <a:xfrm>
              <a:off x="1284675" y="2218318"/>
              <a:ext cx="2859234" cy="347472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848E9CE-4E1C-71B5-F538-8A1C89326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155" t="27005" r="8605" b="26087"/>
            <a:stretch/>
          </p:blipFill>
          <p:spPr>
            <a:xfrm>
              <a:off x="546324" y="3158675"/>
              <a:ext cx="718711" cy="118839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9771E31-11AC-5077-4FF6-9045DBEA7AAA}"/>
                </a:ext>
              </a:extLst>
            </p:cNvPr>
            <p:cNvSpPr txBox="1"/>
            <p:nvPr/>
          </p:nvSpPr>
          <p:spPr>
            <a:xfrm>
              <a:off x="2350635" y="5892337"/>
              <a:ext cx="2582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Raw Dataset</a:t>
              </a:r>
              <a:endParaRPr lang="en-GB" sz="12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459431-83E3-7D21-861F-DEDF8D1C7A61}"/>
              </a:ext>
            </a:extLst>
          </p:cNvPr>
          <p:cNvGrpSpPr/>
          <p:nvPr/>
        </p:nvGrpSpPr>
        <p:grpSpPr>
          <a:xfrm>
            <a:off x="3818267" y="1378963"/>
            <a:ext cx="4541852" cy="4334121"/>
            <a:chOff x="2952748" y="1340239"/>
            <a:chExt cx="4541852" cy="433412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9B9FABB-1791-48F1-99A5-8EE5BD9E4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4" t="8106" r="77594" b="-8106"/>
            <a:stretch/>
          </p:blipFill>
          <p:spPr>
            <a:xfrm>
              <a:off x="4079022" y="1340239"/>
              <a:ext cx="2847975" cy="4121452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FB3B719-ABAF-BF36-F1EE-3A49BF2E2046}"/>
                </a:ext>
              </a:extLst>
            </p:cNvPr>
            <p:cNvCxnSpPr>
              <a:cxnSpLocks/>
            </p:cNvCxnSpPr>
            <p:nvPr/>
          </p:nvCxnSpPr>
          <p:spPr>
            <a:xfrm>
              <a:off x="2952748" y="3168390"/>
              <a:ext cx="1126274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61736A0-FE63-3457-94B3-A8DFDF6D758F}"/>
                </a:ext>
              </a:extLst>
            </p:cNvPr>
            <p:cNvSpPr txBox="1"/>
            <p:nvPr/>
          </p:nvSpPr>
          <p:spPr>
            <a:xfrm>
              <a:off x="4911739" y="5336056"/>
              <a:ext cx="2582861" cy="338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Apartment Classification</a:t>
              </a:r>
              <a:endParaRPr lang="en-GB" sz="12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2AB98E8-4996-DED2-3991-C4D0F841FABD}"/>
              </a:ext>
            </a:extLst>
          </p:cNvPr>
          <p:cNvGrpSpPr/>
          <p:nvPr/>
        </p:nvGrpSpPr>
        <p:grpSpPr>
          <a:xfrm>
            <a:off x="7542631" y="1336650"/>
            <a:ext cx="4153604" cy="4302264"/>
            <a:chOff x="6333916" y="1363647"/>
            <a:chExt cx="4153604" cy="430226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17EEE4C-F689-7F3B-9CD5-499D950F5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07" t="8905" r="51727" b="-8905"/>
            <a:stretch/>
          </p:blipFill>
          <p:spPr>
            <a:xfrm>
              <a:off x="7416518" y="1363647"/>
              <a:ext cx="3071002" cy="4094730"/>
            </a:xfrm>
            <a:prstGeom prst="rect">
              <a:avLst/>
            </a:prstGeom>
          </p:spPr>
        </p:pic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697B835-0D66-DE7F-DCA1-FDB87A70885C}"/>
                </a:ext>
              </a:extLst>
            </p:cNvPr>
            <p:cNvCxnSpPr>
              <a:cxnSpLocks/>
            </p:cNvCxnSpPr>
            <p:nvPr/>
          </p:nvCxnSpPr>
          <p:spPr>
            <a:xfrm>
              <a:off x="6333916" y="3234111"/>
              <a:ext cx="1082602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6E6994B-FD19-2E09-2617-C25D1B98ADC3}"/>
                </a:ext>
              </a:extLst>
            </p:cNvPr>
            <p:cNvSpPr txBox="1"/>
            <p:nvPr/>
          </p:nvSpPr>
          <p:spPr>
            <a:xfrm>
              <a:off x="8067059" y="5388912"/>
              <a:ext cx="2010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Apartment Footprint (GT)</a:t>
              </a:r>
              <a:endParaRPr lang="en-GB" sz="1200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E0932E2-DCBA-25B0-3C35-767CAC53103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585"/>
          <a:stretch/>
        </p:blipFill>
        <p:spPr>
          <a:xfrm>
            <a:off x="1091572" y="1684343"/>
            <a:ext cx="2867322" cy="3553242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197E314-4365-CA70-35B3-265DE0171892}"/>
              </a:ext>
            </a:extLst>
          </p:cNvPr>
          <p:cNvSpPr/>
          <p:nvPr/>
        </p:nvSpPr>
        <p:spPr>
          <a:xfrm rot="20220000">
            <a:off x="1606853" y="2775471"/>
            <a:ext cx="406409" cy="1343640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1F5153-CDB0-1C55-FB3C-EA409A1EF417}"/>
              </a:ext>
            </a:extLst>
          </p:cNvPr>
          <p:cNvSpPr/>
          <p:nvPr/>
        </p:nvSpPr>
        <p:spPr>
          <a:xfrm>
            <a:off x="4602372" y="976227"/>
            <a:ext cx="2847975" cy="561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64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77BE-589A-4002-86C4-3B3F0830B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293619"/>
            <a:ext cx="10056093" cy="723794"/>
          </a:xfrm>
        </p:spPr>
        <p:txBody>
          <a:bodyPr>
            <a:normAutofit fontScale="90000"/>
          </a:bodyPr>
          <a:lstStyle/>
          <a:p>
            <a:r>
              <a:rPr lang="de-DE" dirty="0"/>
              <a:t>MZA Input </a:t>
            </a:r>
            <a:r>
              <a:rPr lang="de-DE" dirty="0" err="1"/>
              <a:t>Preparation</a:t>
            </a:r>
            <a:br>
              <a:rPr lang="de-DE" dirty="0"/>
            </a:br>
            <a:r>
              <a:rPr lang="de-DE" sz="2200" dirty="0"/>
              <a:t>MSD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87354-4754-4C02-BE07-74C3A2E36F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90818-079B-4057-A14A-74CFBD9C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4EC86E5-E242-07A8-8546-73AFF1811F45}"/>
              </a:ext>
            </a:extLst>
          </p:cNvPr>
          <p:cNvGrpSpPr/>
          <p:nvPr/>
        </p:nvGrpSpPr>
        <p:grpSpPr>
          <a:xfrm>
            <a:off x="7159503" y="1596730"/>
            <a:ext cx="5127394" cy="2208110"/>
            <a:chOff x="7233445" y="1920580"/>
            <a:chExt cx="5127394" cy="220811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7BCECC2-69D0-3CE2-3483-8AD19DD415BC}"/>
                </a:ext>
              </a:extLst>
            </p:cNvPr>
            <p:cNvGrpSpPr/>
            <p:nvPr/>
          </p:nvGrpSpPr>
          <p:grpSpPr>
            <a:xfrm>
              <a:off x="7233445" y="1920580"/>
              <a:ext cx="5003586" cy="2007117"/>
              <a:chOff x="2556880" y="1920580"/>
              <a:chExt cx="5003586" cy="2007117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C8AE3991-B7F7-C244-B19B-C0DE3268D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6880" y="2495550"/>
                <a:ext cx="1110245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74D2DAE7-EC32-A56F-319F-78677E1016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095960" y="1920580"/>
                <a:ext cx="2582861" cy="1931111"/>
              </a:xfrm>
              <a:prstGeom prst="rect">
                <a:avLst/>
              </a:prstGeom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0243941-80DE-4E60-0BD8-C8F7C5878AEC}"/>
                  </a:ext>
                </a:extLst>
              </p:cNvPr>
              <p:cNvSpPr txBox="1"/>
              <p:nvPr/>
            </p:nvSpPr>
            <p:spPr>
              <a:xfrm>
                <a:off x="4977605" y="3650698"/>
                <a:ext cx="2582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CityGML</a:t>
                </a:r>
                <a:endParaRPr lang="en-GB" sz="1200" dirty="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F09BF07-ED4D-3879-0207-D175B79CA81D}"/>
                </a:ext>
              </a:extLst>
            </p:cNvPr>
            <p:cNvSpPr txBox="1"/>
            <p:nvPr/>
          </p:nvSpPr>
          <p:spPr>
            <a:xfrm>
              <a:off x="9777978" y="3851691"/>
              <a:ext cx="2582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.</a:t>
              </a:r>
              <a:r>
                <a:rPr lang="de-DE" sz="1200" dirty="0" err="1"/>
                <a:t>gml</a:t>
              </a:r>
              <a:endParaRPr lang="en-GB" sz="12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7F3E588-701B-91D5-E3FC-96692112B52B}"/>
              </a:ext>
            </a:extLst>
          </p:cNvPr>
          <p:cNvGrpSpPr/>
          <p:nvPr/>
        </p:nvGrpSpPr>
        <p:grpSpPr>
          <a:xfrm>
            <a:off x="2482938" y="1603343"/>
            <a:ext cx="5198673" cy="2243232"/>
            <a:chOff x="2556880" y="1927193"/>
            <a:chExt cx="5198673" cy="224323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710A6C6-C7AE-894E-C357-CC2E56AE5885}"/>
                </a:ext>
              </a:extLst>
            </p:cNvPr>
            <p:cNvGrpSpPr/>
            <p:nvPr/>
          </p:nvGrpSpPr>
          <p:grpSpPr>
            <a:xfrm>
              <a:off x="2556880" y="1927193"/>
              <a:ext cx="4783761" cy="2042238"/>
              <a:chOff x="2556880" y="1927193"/>
              <a:chExt cx="4783761" cy="2042238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24D2318-CC8D-E0A7-24C6-F70CF5444F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6880" y="2495550"/>
                <a:ext cx="1110245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3EF9EE-2EEE-790E-FF2D-467C2ADA1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49643" y="1927193"/>
                <a:ext cx="3303850" cy="1518803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612E08C-AE2F-E651-31CE-DBF0A8A86292}"/>
                  </a:ext>
                </a:extLst>
              </p:cNvPr>
              <p:cNvSpPr txBox="1"/>
              <p:nvPr/>
            </p:nvSpPr>
            <p:spPr>
              <a:xfrm>
                <a:off x="4757780" y="3692432"/>
                <a:ext cx="2582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Building Footprint GeoJSON</a:t>
                </a:r>
                <a:endParaRPr lang="en-GB" sz="1200" dirty="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8526F1-7DAA-F8A0-181F-D359F8285952}"/>
                </a:ext>
              </a:extLst>
            </p:cNvPr>
            <p:cNvSpPr txBox="1"/>
            <p:nvPr/>
          </p:nvSpPr>
          <p:spPr>
            <a:xfrm>
              <a:off x="5172692" y="3893426"/>
              <a:ext cx="2582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.</a:t>
              </a:r>
              <a:r>
                <a:rPr lang="de-DE" sz="1200" dirty="0" err="1"/>
                <a:t>geojson</a:t>
              </a:r>
              <a:endParaRPr lang="en-GB" sz="12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8883BB8-B32E-712E-A37E-602E922E4D13}"/>
              </a:ext>
            </a:extLst>
          </p:cNvPr>
          <p:cNvGrpSpPr/>
          <p:nvPr/>
        </p:nvGrpSpPr>
        <p:grpSpPr>
          <a:xfrm>
            <a:off x="6096000" y="3929644"/>
            <a:ext cx="6190896" cy="2566915"/>
            <a:chOff x="6096000" y="3929644"/>
            <a:chExt cx="6190896" cy="2566915"/>
          </a:xfrm>
        </p:grpSpPr>
        <p:sp>
          <p:nvSpPr>
            <p:cNvPr id="54" name="Pfeil: gebogen 10">
              <a:extLst>
                <a:ext uri="{FF2B5EF4-FFF2-40B4-BE49-F238E27FC236}">
                  <a16:creationId xmlns:a16="http://schemas.microsoft.com/office/drawing/2014/main" id="{C8F42BA2-AE56-A4C4-0965-D7C34137F304}"/>
                </a:ext>
              </a:extLst>
            </p:cNvPr>
            <p:cNvSpPr/>
            <p:nvPr/>
          </p:nvSpPr>
          <p:spPr>
            <a:xfrm rot="11083804">
              <a:off x="9160977" y="3929644"/>
              <a:ext cx="838501" cy="1071919"/>
            </a:xfrm>
            <a:prstGeom prst="bentArrow">
              <a:avLst>
                <a:gd name="adj1" fmla="val 16180"/>
                <a:gd name="adj2" fmla="val 16561"/>
                <a:gd name="adj3" fmla="val 25000"/>
                <a:gd name="adj4" fmla="val 75903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55" name="Inhaltsplatzhalter 8">
              <a:extLst>
                <a:ext uri="{FF2B5EF4-FFF2-40B4-BE49-F238E27FC236}">
                  <a16:creationId xmlns:a16="http://schemas.microsoft.com/office/drawing/2014/main" id="{2AC0BE6D-3915-816D-F8EF-640D825BAD75}"/>
                </a:ext>
              </a:extLst>
            </p:cNvPr>
            <p:cNvSpPr txBox="1">
              <a:spLocks/>
            </p:cNvSpPr>
            <p:nvPr/>
          </p:nvSpPr>
          <p:spPr>
            <a:xfrm>
              <a:off x="9878113" y="4663484"/>
              <a:ext cx="2408783" cy="527929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Char char="§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Char char="§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2000" b="1" dirty="0">
                  <a:solidFill>
                    <a:srgbClr val="C00000"/>
                  </a:solidFill>
                </a:rPr>
                <a:t>Input File </a:t>
              </a:r>
              <a:r>
                <a:rPr lang="de-DE" sz="2000" b="1" dirty="0" err="1">
                  <a:solidFill>
                    <a:srgbClr val="C00000"/>
                  </a:solidFill>
                </a:rPr>
                <a:t>for</a:t>
              </a:r>
              <a:r>
                <a:rPr lang="de-DE" sz="2000" b="1" dirty="0">
                  <a:solidFill>
                    <a:srgbClr val="C00000"/>
                  </a:solidFill>
                </a:rPr>
                <a:t> MZA</a:t>
              </a: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764C5C84-B8A2-299D-06DE-BEFFD43D9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96000" y="4251691"/>
              <a:ext cx="2793118" cy="1790005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7BF012E-2F7C-5107-6726-09525E03DA65}"/>
                </a:ext>
              </a:extLst>
            </p:cNvPr>
            <p:cNvSpPr txBox="1"/>
            <p:nvPr/>
          </p:nvSpPr>
          <p:spPr>
            <a:xfrm>
              <a:off x="7159503" y="6018567"/>
              <a:ext cx="2582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MZA </a:t>
              </a:r>
              <a:r>
                <a:rPr lang="de-DE" sz="1200" dirty="0" err="1"/>
                <a:t>zoning</a:t>
              </a:r>
              <a:endParaRPr lang="en-GB" sz="12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21C90DA-6387-D86C-A54E-90327E2E7537}"/>
                </a:ext>
              </a:extLst>
            </p:cNvPr>
            <p:cNvSpPr txBox="1"/>
            <p:nvPr/>
          </p:nvSpPr>
          <p:spPr>
            <a:xfrm>
              <a:off x="7283311" y="6219560"/>
              <a:ext cx="2582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.pickle</a:t>
              </a:r>
              <a:endParaRPr lang="en-GB" sz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D455D2E-B721-D790-BB6A-73E409F47D8D}"/>
              </a:ext>
            </a:extLst>
          </p:cNvPr>
          <p:cNvGrpSpPr/>
          <p:nvPr/>
        </p:nvGrpSpPr>
        <p:grpSpPr>
          <a:xfrm>
            <a:off x="365534" y="957322"/>
            <a:ext cx="3582269" cy="3061696"/>
            <a:chOff x="2827616" y="2203026"/>
            <a:chExt cx="3582269" cy="3061696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BF9CB87-369E-936F-4EAC-5DD6323E04D9}"/>
                </a:ext>
              </a:extLst>
            </p:cNvPr>
            <p:cNvSpPr txBox="1"/>
            <p:nvPr/>
          </p:nvSpPr>
          <p:spPr>
            <a:xfrm>
              <a:off x="3827024" y="4987723"/>
              <a:ext cx="2582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.pickle</a:t>
              </a:r>
              <a:endParaRPr lang="en-GB" sz="1200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8B42810-4E6F-DBAB-B4E5-1C36AD3F1845}"/>
                </a:ext>
              </a:extLst>
            </p:cNvPr>
            <p:cNvGrpSpPr/>
            <p:nvPr/>
          </p:nvGrpSpPr>
          <p:grpSpPr>
            <a:xfrm>
              <a:off x="2827616" y="2203026"/>
              <a:ext cx="2386739" cy="2926627"/>
              <a:chOff x="6708569" y="1965686"/>
              <a:chExt cx="2386739" cy="2926627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C41B394-AB1F-5480-2CA0-6D2CD219C2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507" t="8905" r="51727" b="-8905"/>
              <a:stretch/>
            </p:blipFill>
            <p:spPr>
              <a:xfrm>
                <a:off x="6708569" y="1965686"/>
                <a:ext cx="2194938" cy="2926627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7E3FF7-2D6F-15F4-3A21-92A9BF1E77F2}"/>
                  </a:ext>
                </a:extLst>
              </p:cNvPr>
              <p:cNvSpPr txBox="1"/>
              <p:nvPr/>
            </p:nvSpPr>
            <p:spPr>
              <a:xfrm>
                <a:off x="7085119" y="4574060"/>
                <a:ext cx="20101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Apartment Footprint (GT)</a:t>
                </a:r>
                <a:endParaRPr lang="en-GB" sz="1200" dirty="0"/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8F71111-E4F0-4FFF-0427-995FE606E921}"/>
              </a:ext>
            </a:extLst>
          </p:cNvPr>
          <p:cNvSpPr txBox="1"/>
          <p:nvPr/>
        </p:nvSpPr>
        <p:spPr>
          <a:xfrm>
            <a:off x="1112067" y="5062894"/>
            <a:ext cx="3088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GeoJSON acts as an interoperable bridge between Pickle and CityGML, while also providing a normalised building geometry.</a:t>
            </a:r>
          </a:p>
        </p:txBody>
      </p:sp>
    </p:spTree>
    <p:extLst>
      <p:ext uri="{BB962C8B-B14F-4D97-AF65-F5344CB8AC3E}">
        <p14:creationId xmlns:p14="http://schemas.microsoft.com/office/powerpoint/2010/main" val="23128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77BE-589A-4002-86C4-3B3F0830B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293619"/>
            <a:ext cx="10056093" cy="723794"/>
          </a:xfrm>
        </p:spPr>
        <p:txBody>
          <a:bodyPr>
            <a:normAutofit fontScale="90000"/>
          </a:bodyPr>
          <a:lstStyle/>
          <a:p>
            <a:r>
              <a:rPr lang="de-DE" dirty="0"/>
              <a:t>Dataset </a:t>
            </a:r>
            <a:r>
              <a:rPr lang="de-DE" dirty="0" err="1"/>
              <a:t>Preprocessing</a:t>
            </a:r>
            <a:r>
              <a:rPr lang="de-DE" dirty="0"/>
              <a:t> and </a:t>
            </a:r>
            <a:r>
              <a:rPr lang="en-GB" dirty="0"/>
              <a:t>Ground Truth Generation</a:t>
            </a:r>
            <a:br>
              <a:rPr lang="de-DE" dirty="0"/>
            </a:br>
            <a:r>
              <a:rPr lang="de-DE" sz="2200" dirty="0"/>
              <a:t>Real Estate Data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87354-4754-4C02-BE07-74C3A2E36F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90818-079B-4057-A14A-74CFBD9C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08DDD10-6DB5-4956-514A-14D898ACF961}"/>
              </a:ext>
            </a:extLst>
          </p:cNvPr>
          <p:cNvGrpSpPr/>
          <p:nvPr/>
        </p:nvGrpSpPr>
        <p:grpSpPr>
          <a:xfrm>
            <a:off x="422740" y="1074663"/>
            <a:ext cx="4866631" cy="2554362"/>
            <a:chOff x="797634" y="2647654"/>
            <a:chExt cx="3508164" cy="197080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9E3ECE-E7DD-2552-67B1-A4F49FC5D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85" b="28307"/>
            <a:stretch/>
          </p:blipFill>
          <p:spPr>
            <a:xfrm>
              <a:off x="797634" y="2647654"/>
              <a:ext cx="2938698" cy="174346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9771E31-11AC-5077-4FF6-9045DBEA7AAA}"/>
                </a:ext>
              </a:extLst>
            </p:cNvPr>
            <p:cNvSpPr txBox="1"/>
            <p:nvPr/>
          </p:nvSpPr>
          <p:spPr>
            <a:xfrm>
              <a:off x="1722937" y="4341457"/>
              <a:ext cx="2582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Raw Dataset</a:t>
              </a:r>
              <a:endParaRPr lang="en-GB" sz="12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F1CBD-BE33-688A-18C0-2FD02665A5B8}"/>
              </a:ext>
            </a:extLst>
          </p:cNvPr>
          <p:cNvGrpSpPr/>
          <p:nvPr/>
        </p:nvGrpSpPr>
        <p:grpSpPr>
          <a:xfrm>
            <a:off x="4482317" y="1873426"/>
            <a:ext cx="4715192" cy="3696988"/>
            <a:chOff x="4482317" y="1873426"/>
            <a:chExt cx="4715192" cy="3696988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E459431-83E3-7D21-861F-DEDF8D1C7A61}"/>
                </a:ext>
              </a:extLst>
            </p:cNvPr>
            <p:cNvGrpSpPr/>
            <p:nvPr/>
          </p:nvGrpSpPr>
          <p:grpSpPr>
            <a:xfrm>
              <a:off x="4482317" y="2695575"/>
              <a:ext cx="4715192" cy="2874839"/>
              <a:chOff x="3752850" y="2849799"/>
              <a:chExt cx="3681165" cy="1960005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C9B9FABB-1791-48F1-99A5-8EE5BD9E4B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615" t="12568" r="6556" b="9443"/>
              <a:stretch/>
            </p:blipFill>
            <p:spPr>
              <a:xfrm>
                <a:off x="3752850" y="2849799"/>
                <a:ext cx="3209772" cy="1683007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1736A0-FE63-3457-94B3-A8DFDF6D758F}"/>
                  </a:ext>
                </a:extLst>
              </p:cNvPr>
              <p:cNvSpPr txBox="1"/>
              <p:nvPr/>
            </p:nvSpPr>
            <p:spPr>
              <a:xfrm>
                <a:off x="4851154" y="4532805"/>
                <a:ext cx="2582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Manual </a:t>
                </a:r>
                <a:r>
                  <a:rPr lang="de-DE" sz="1200" dirty="0" err="1"/>
                  <a:t>Sketching</a:t>
                </a:r>
                <a:endParaRPr lang="en-GB" sz="1200" dirty="0"/>
              </a:p>
            </p:txBody>
          </p:sp>
        </p:grpSp>
        <p:sp>
          <p:nvSpPr>
            <p:cNvPr id="7" name="Arrow: Bent 6">
              <a:extLst>
                <a:ext uri="{FF2B5EF4-FFF2-40B4-BE49-F238E27FC236}">
                  <a16:creationId xmlns:a16="http://schemas.microsoft.com/office/drawing/2014/main" id="{C79189E3-4F77-896A-6982-7DA714DD5520}"/>
                </a:ext>
              </a:extLst>
            </p:cNvPr>
            <p:cNvSpPr/>
            <p:nvPr/>
          </p:nvSpPr>
          <p:spPr>
            <a:xfrm rot="5400000">
              <a:off x="4764433" y="1931919"/>
              <a:ext cx="924039" cy="807054"/>
            </a:xfrm>
            <a:prstGeom prst="bentArrow">
              <a:avLst>
                <a:gd name="adj1" fmla="val 20279"/>
                <a:gd name="adj2" fmla="val 25590"/>
                <a:gd name="adj3" fmla="val 25000"/>
                <a:gd name="adj4" fmla="val 4375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5C4E9F3-2668-DAE2-AB43-2C38A1D7A69C}"/>
              </a:ext>
            </a:extLst>
          </p:cNvPr>
          <p:cNvGrpSpPr/>
          <p:nvPr/>
        </p:nvGrpSpPr>
        <p:grpSpPr>
          <a:xfrm>
            <a:off x="7716269" y="4165477"/>
            <a:ext cx="4992234" cy="2683028"/>
            <a:chOff x="7716269" y="4165477"/>
            <a:chExt cx="4992234" cy="268302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24F0287-5CC5-414C-FA00-DAF911F1E501}"/>
                </a:ext>
              </a:extLst>
            </p:cNvPr>
            <p:cNvGrpSpPr/>
            <p:nvPr/>
          </p:nvGrpSpPr>
          <p:grpSpPr>
            <a:xfrm>
              <a:off x="8593703" y="4165477"/>
              <a:ext cx="4114800" cy="2683028"/>
              <a:chOff x="9134475" y="2517967"/>
              <a:chExt cx="3419458" cy="1840296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3E32B25C-0BF7-F163-90BF-8AE767A904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52" t="20439" r="-2553" b="22948"/>
              <a:stretch/>
            </p:blipFill>
            <p:spPr>
              <a:xfrm>
                <a:off x="9134475" y="2517967"/>
                <a:ext cx="3074243" cy="1683007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E1D9D9-9C81-A689-4DC8-322B9FAEC5A7}"/>
                  </a:ext>
                </a:extLst>
              </p:cNvPr>
              <p:cNvSpPr txBox="1"/>
              <p:nvPr/>
            </p:nvSpPr>
            <p:spPr>
              <a:xfrm>
                <a:off x="9971072" y="4168269"/>
                <a:ext cx="2582861" cy="189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Apartment Footprint (GT)</a:t>
                </a:r>
                <a:endParaRPr lang="en-GB" sz="1200" dirty="0"/>
              </a:p>
            </p:txBody>
          </p:sp>
        </p:grpSp>
        <p:sp>
          <p:nvSpPr>
            <p:cNvPr id="9" name="Arrow: Bent 8">
              <a:extLst>
                <a:ext uri="{FF2B5EF4-FFF2-40B4-BE49-F238E27FC236}">
                  <a16:creationId xmlns:a16="http://schemas.microsoft.com/office/drawing/2014/main" id="{BA4A4814-B267-48B3-71A7-9E6B32F91FA5}"/>
                </a:ext>
              </a:extLst>
            </p:cNvPr>
            <p:cNvSpPr/>
            <p:nvPr/>
          </p:nvSpPr>
          <p:spPr>
            <a:xfrm rot="10800000" flipH="1">
              <a:off x="7716269" y="5164125"/>
              <a:ext cx="924039" cy="807054"/>
            </a:xfrm>
            <a:prstGeom prst="bentArrow">
              <a:avLst>
                <a:gd name="adj1" fmla="val 20279"/>
                <a:gd name="adj2" fmla="val 25590"/>
                <a:gd name="adj3" fmla="val 25000"/>
                <a:gd name="adj4" fmla="val 4375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7498AC-773D-9E2B-777F-DBA9DE57BA33}"/>
                  </a:ext>
                </a:extLst>
              </p:cNvPr>
              <p:cNvSpPr txBox="1"/>
              <p:nvPr/>
            </p:nvSpPr>
            <p:spPr>
              <a:xfrm>
                <a:off x="1097322" y="4323373"/>
                <a:ext cx="1696229" cy="137294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160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16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6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600">
                              <a:latin typeface="Cambria Math" panose="02040503050406030204" pitchFamily="18" charset="0"/>
                            </a:rPr>
                            <m:t>𝐿𝑟</m:t>
                          </m:r>
                        </m:num>
                        <m:den>
                          <m:r>
                            <a:rPr lang="de-DE" sz="1600">
                              <a:latin typeface="Cambria Math" panose="02040503050406030204" pitchFamily="18" charset="0"/>
                            </a:rPr>
                            <m:t>𝐿𝑝</m:t>
                          </m:r>
                        </m:den>
                      </m:f>
                    </m:oMath>
                  </m:oMathPara>
                </a14:m>
                <a:endParaRPr lang="de-DE" sz="1600" dirty="0"/>
              </a:p>
              <a:p>
                <a14:m>
                  <m:oMath xmlns:m="http://schemas.openxmlformats.org/officeDocument/2006/math">
                    <m:r>
                      <a:rPr lang="de-DE" sz="1600" b="0" i="0" dirty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de-DE" sz="1600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160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z="16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de-DE" sz="16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sz="1600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600" dirty="0">
                                <a:latin typeface="Cambria Math" panose="02040503050406030204" pitchFamily="18" charset="0"/>
                              </a:rPr>
                              <m:t>𝐴𝑟</m:t>
                            </m:r>
                          </m:num>
                          <m:den>
                            <m:r>
                              <a:rPr lang="de-DE" sz="1600" dirty="0">
                                <a:latin typeface="Cambria Math" panose="02040503050406030204" pitchFamily="18" charset="0"/>
                              </a:rPr>
                              <m:t>𝐴𝑝</m:t>
                            </m:r>
                          </m:den>
                        </m:f>
                      </m:e>
                    </m:rad>
                  </m:oMath>
                </a14:m>
                <a:endParaRPr lang="de-DE" sz="1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de-DE" sz="16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16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600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baseline="-25000" dirty="0" err="1" smtClean="0">
                          <a:latin typeface="Cambria Math" panose="02040503050406030204" pitchFamily="18" charset="0"/>
                        </a:rPr>
                        <m:t>𝑟𝑒𝑓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7498AC-773D-9E2B-777F-DBA9DE57B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322" y="4323373"/>
                <a:ext cx="1696229" cy="1372940"/>
              </a:xfrm>
              <a:prstGeom prst="rect">
                <a:avLst/>
              </a:prstGeom>
              <a:blipFill>
                <a:blip r:embed="rId6"/>
                <a:stretch>
                  <a:fillRect b="-216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508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2BF0BC12-0FED-D7D9-FDA3-190AD8A3E179}"/>
              </a:ext>
            </a:extLst>
          </p:cNvPr>
          <p:cNvGrpSpPr/>
          <p:nvPr/>
        </p:nvGrpSpPr>
        <p:grpSpPr>
          <a:xfrm>
            <a:off x="8667660" y="1127908"/>
            <a:ext cx="4289289" cy="3905658"/>
            <a:chOff x="8667660" y="1127908"/>
            <a:chExt cx="4289289" cy="3905658"/>
          </a:xfrm>
        </p:grpSpPr>
        <p:sp>
          <p:nvSpPr>
            <p:cNvPr id="22" name="Inhaltsplatzhalter 8">
              <a:extLst>
                <a:ext uri="{FF2B5EF4-FFF2-40B4-BE49-F238E27FC236}">
                  <a16:creationId xmlns:a16="http://schemas.microsoft.com/office/drawing/2014/main" id="{8CA7FB3E-8D5A-A565-3888-3023859FAA8D}"/>
                </a:ext>
              </a:extLst>
            </p:cNvPr>
            <p:cNvSpPr txBox="1">
              <a:spLocks/>
            </p:cNvSpPr>
            <p:nvPr/>
          </p:nvSpPr>
          <p:spPr>
            <a:xfrm>
              <a:off x="9878534" y="4505637"/>
              <a:ext cx="2408783" cy="527929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Char char="§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Char char="§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2000" b="1" dirty="0">
                  <a:solidFill>
                    <a:srgbClr val="C00000"/>
                  </a:solidFill>
                </a:rPr>
                <a:t>Input File </a:t>
              </a:r>
              <a:r>
                <a:rPr lang="de-DE" sz="2000" b="1" dirty="0" err="1">
                  <a:solidFill>
                    <a:srgbClr val="C00000"/>
                  </a:solidFill>
                </a:rPr>
                <a:t>for</a:t>
              </a:r>
              <a:r>
                <a:rPr lang="de-DE" sz="2000" b="1" dirty="0">
                  <a:solidFill>
                    <a:srgbClr val="C00000"/>
                  </a:solidFill>
                </a:rPr>
                <a:t> MZA</a:t>
              </a:r>
            </a:p>
          </p:txBody>
        </p:sp>
        <p:sp>
          <p:nvSpPr>
            <p:cNvPr id="24" name="Pfeil: gebogen 10">
              <a:extLst>
                <a:ext uri="{FF2B5EF4-FFF2-40B4-BE49-F238E27FC236}">
                  <a16:creationId xmlns:a16="http://schemas.microsoft.com/office/drawing/2014/main" id="{CD786A01-A8A1-EDC7-13FC-AFE9D21AD1A4}"/>
                </a:ext>
              </a:extLst>
            </p:cNvPr>
            <p:cNvSpPr/>
            <p:nvPr/>
          </p:nvSpPr>
          <p:spPr>
            <a:xfrm rot="5116196" flipH="1">
              <a:off x="10003222" y="3545750"/>
              <a:ext cx="838501" cy="1071919"/>
            </a:xfrm>
            <a:prstGeom prst="bentArrow">
              <a:avLst>
                <a:gd name="adj1" fmla="val 16180"/>
                <a:gd name="adj2" fmla="val 16561"/>
                <a:gd name="adj3" fmla="val 25000"/>
                <a:gd name="adj4" fmla="val 75903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D2099CD-9D00-48E3-761C-141F6A5B04D8}"/>
                </a:ext>
              </a:extLst>
            </p:cNvPr>
            <p:cNvGrpSpPr/>
            <p:nvPr/>
          </p:nvGrpSpPr>
          <p:grpSpPr>
            <a:xfrm>
              <a:off x="8667660" y="1127908"/>
              <a:ext cx="4289289" cy="2491782"/>
              <a:chOff x="5576883" y="4004777"/>
              <a:chExt cx="4289289" cy="2491782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663510C7-162C-5BBA-8048-EFC3BD6C7F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638"/>
              <a:stretch/>
            </p:blipFill>
            <p:spPr>
              <a:xfrm>
                <a:off x="5576883" y="4004777"/>
                <a:ext cx="3373480" cy="2453713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6964A47-789B-8DA3-7265-CB64C89C26B0}"/>
                  </a:ext>
                </a:extLst>
              </p:cNvPr>
              <p:cNvSpPr txBox="1"/>
              <p:nvPr/>
            </p:nvSpPr>
            <p:spPr>
              <a:xfrm>
                <a:off x="7159503" y="6018567"/>
                <a:ext cx="2582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MZA </a:t>
                </a:r>
                <a:r>
                  <a:rPr lang="de-DE" sz="1200" dirty="0" err="1"/>
                  <a:t>zoning</a:t>
                </a:r>
                <a:endParaRPr lang="en-GB" sz="12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AE015DD-3603-0265-4A83-1BD62E06BE3A}"/>
                  </a:ext>
                </a:extLst>
              </p:cNvPr>
              <p:cNvSpPr txBox="1"/>
              <p:nvPr/>
            </p:nvSpPr>
            <p:spPr>
              <a:xfrm>
                <a:off x="7283311" y="6219560"/>
                <a:ext cx="2582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.pickle</a:t>
                </a:r>
                <a:endParaRPr lang="en-GB" sz="120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C6077BE-589A-4002-86C4-3B3F0830B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293619"/>
            <a:ext cx="10056093" cy="723794"/>
          </a:xfrm>
        </p:spPr>
        <p:txBody>
          <a:bodyPr>
            <a:normAutofit fontScale="90000"/>
          </a:bodyPr>
          <a:lstStyle/>
          <a:p>
            <a:r>
              <a:rPr lang="de-DE" dirty="0"/>
              <a:t>MZA Input </a:t>
            </a:r>
            <a:r>
              <a:rPr lang="de-DE" dirty="0" err="1"/>
              <a:t>Preparation</a:t>
            </a:r>
            <a:br>
              <a:rPr lang="de-DE" dirty="0"/>
            </a:br>
            <a:r>
              <a:rPr lang="de-DE" sz="2200" dirty="0"/>
              <a:t>Real Estate Data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87354-4754-4C02-BE07-74C3A2E36F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90818-079B-4057-A14A-74CFBD9C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FF18611-CF18-07A5-8773-5E29BD57D618}"/>
              </a:ext>
            </a:extLst>
          </p:cNvPr>
          <p:cNvGrpSpPr/>
          <p:nvPr/>
        </p:nvGrpSpPr>
        <p:grpSpPr>
          <a:xfrm>
            <a:off x="288000" y="1017412"/>
            <a:ext cx="4731185" cy="2447135"/>
            <a:chOff x="586533" y="1307028"/>
            <a:chExt cx="4731185" cy="244713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08DDD10-6DB5-4956-514A-14D898ACF961}"/>
                </a:ext>
              </a:extLst>
            </p:cNvPr>
            <p:cNvGrpSpPr/>
            <p:nvPr/>
          </p:nvGrpSpPr>
          <p:grpSpPr>
            <a:xfrm>
              <a:off x="586533" y="1307028"/>
              <a:ext cx="4354747" cy="2238602"/>
              <a:chOff x="915706" y="2826935"/>
              <a:chExt cx="3139167" cy="1727180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239E3ECE-E7DD-2552-67B1-A4F49FC5D4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18" t="27615" b="21819"/>
              <a:stretch/>
            </p:blipFill>
            <p:spPr>
              <a:xfrm>
                <a:off x="915706" y="2826935"/>
                <a:ext cx="2820626" cy="1564184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771E31-11AC-5077-4FF6-9045DBEA7AAA}"/>
                  </a:ext>
                </a:extLst>
              </p:cNvPr>
              <p:cNvSpPr txBox="1"/>
              <p:nvPr/>
            </p:nvSpPr>
            <p:spPr>
              <a:xfrm>
                <a:off x="1472012" y="4340398"/>
                <a:ext cx="2582861" cy="213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Apartment Footprint (GT)</a:t>
                </a: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B04CBD4-EF2B-6290-AEDA-58C8DF601A23}"/>
                </a:ext>
              </a:extLst>
            </p:cNvPr>
            <p:cNvSpPr txBox="1"/>
            <p:nvPr/>
          </p:nvSpPr>
          <p:spPr>
            <a:xfrm>
              <a:off x="1734695" y="3477164"/>
              <a:ext cx="35830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.pickle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650973-531D-81EE-B0AD-DB828C3A5C92}"/>
              </a:ext>
            </a:extLst>
          </p:cNvPr>
          <p:cNvGrpSpPr/>
          <p:nvPr/>
        </p:nvGrpSpPr>
        <p:grpSpPr>
          <a:xfrm>
            <a:off x="2945222" y="2169241"/>
            <a:ext cx="4530916" cy="3002825"/>
            <a:chOff x="3484070" y="2586759"/>
            <a:chExt cx="4530916" cy="300282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6EAD76-007D-234E-A1D4-17F28981936F}"/>
                </a:ext>
              </a:extLst>
            </p:cNvPr>
            <p:cNvGrpSpPr/>
            <p:nvPr/>
          </p:nvGrpSpPr>
          <p:grpSpPr>
            <a:xfrm>
              <a:off x="3484070" y="2586759"/>
              <a:ext cx="3393629" cy="2453712"/>
              <a:chOff x="3484070" y="2586759"/>
              <a:chExt cx="3393629" cy="2453712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C9B9FABB-1791-48F1-99A5-8EE5BD9E4B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851" b="544"/>
              <a:stretch/>
            </p:blipFill>
            <p:spPr>
              <a:xfrm>
                <a:off x="4366531" y="2586759"/>
                <a:ext cx="2511168" cy="2453712"/>
              </a:xfrm>
              <a:prstGeom prst="rect">
                <a:avLst/>
              </a:prstGeom>
            </p:spPr>
          </p:pic>
          <p:sp>
            <p:nvSpPr>
              <p:cNvPr id="9" name="Arrow: Bent 8">
                <a:extLst>
                  <a:ext uri="{FF2B5EF4-FFF2-40B4-BE49-F238E27FC236}">
                    <a16:creationId xmlns:a16="http://schemas.microsoft.com/office/drawing/2014/main" id="{BA4A4814-B267-48B3-71A7-9E6B32F91FA5}"/>
                  </a:ext>
                </a:extLst>
              </p:cNvPr>
              <p:cNvSpPr/>
              <p:nvPr/>
            </p:nvSpPr>
            <p:spPr>
              <a:xfrm rot="10800000" flipH="1">
                <a:off x="3484070" y="3270006"/>
                <a:ext cx="924039" cy="807054"/>
              </a:xfrm>
              <a:prstGeom prst="bentArrow">
                <a:avLst>
                  <a:gd name="adj1" fmla="val 20279"/>
                  <a:gd name="adj2" fmla="val 25590"/>
                  <a:gd name="adj3" fmla="val 25000"/>
                  <a:gd name="adj4" fmla="val 4375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D277D6-1333-4D8A-F26F-0F63AC868E9B}"/>
                </a:ext>
              </a:extLst>
            </p:cNvPr>
            <p:cNvSpPr txBox="1"/>
            <p:nvPr/>
          </p:nvSpPr>
          <p:spPr>
            <a:xfrm>
              <a:off x="5017213" y="5111591"/>
              <a:ext cx="2582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Building Footprint GeoJSON</a:t>
              </a:r>
              <a:endParaRPr lang="en-GB" sz="12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B10C46-ED5C-A518-391D-639B9BBFF603}"/>
                </a:ext>
              </a:extLst>
            </p:cNvPr>
            <p:cNvSpPr txBox="1"/>
            <p:nvPr/>
          </p:nvSpPr>
          <p:spPr>
            <a:xfrm>
              <a:off x="5432125" y="5312585"/>
              <a:ext cx="2582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.</a:t>
              </a:r>
              <a:r>
                <a:rPr lang="de-DE" sz="1200" dirty="0" err="1"/>
                <a:t>geojson</a:t>
              </a:r>
              <a:endParaRPr lang="en-GB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5232A4D-23F1-E8C6-E398-FF88D6DC305E}"/>
              </a:ext>
            </a:extLst>
          </p:cNvPr>
          <p:cNvGrpSpPr/>
          <p:nvPr/>
        </p:nvGrpSpPr>
        <p:grpSpPr>
          <a:xfrm>
            <a:off x="6573458" y="3011638"/>
            <a:ext cx="3904750" cy="3612184"/>
            <a:chOff x="7429164" y="3084986"/>
            <a:chExt cx="3904750" cy="3612184"/>
          </a:xfrm>
        </p:grpSpPr>
        <p:sp>
          <p:nvSpPr>
            <p:cNvPr id="7" name="Arrow: Bent 6">
              <a:extLst>
                <a:ext uri="{FF2B5EF4-FFF2-40B4-BE49-F238E27FC236}">
                  <a16:creationId xmlns:a16="http://schemas.microsoft.com/office/drawing/2014/main" id="{C79189E3-4F77-896A-6982-7DA714DD5520}"/>
                </a:ext>
              </a:extLst>
            </p:cNvPr>
            <p:cNvSpPr/>
            <p:nvPr/>
          </p:nvSpPr>
          <p:spPr>
            <a:xfrm rot="5400000">
              <a:off x="7370671" y="3143479"/>
              <a:ext cx="924039" cy="807054"/>
            </a:xfrm>
            <a:prstGeom prst="bentArrow">
              <a:avLst>
                <a:gd name="adj1" fmla="val 20279"/>
                <a:gd name="adj2" fmla="val 25590"/>
                <a:gd name="adj3" fmla="val 25000"/>
                <a:gd name="adj4" fmla="val 4375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E32B25C-0BF7-F163-90BF-8AE767A90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5" r="14222" b="14703"/>
            <a:stretch/>
          </p:blipFill>
          <p:spPr>
            <a:xfrm>
              <a:off x="7452262" y="4067629"/>
              <a:ext cx="3221416" cy="2092945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B89A9B2-AC50-4F60-22BB-66E6DCA09730}"/>
                </a:ext>
              </a:extLst>
            </p:cNvPr>
            <p:cNvSpPr txBox="1"/>
            <p:nvPr/>
          </p:nvSpPr>
          <p:spPr>
            <a:xfrm>
              <a:off x="8627245" y="6219178"/>
              <a:ext cx="2582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CityGML</a:t>
              </a:r>
              <a:endParaRPr lang="en-GB" sz="12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24F7BD-BC68-412D-87A4-FDF287FDF80C}"/>
                </a:ext>
              </a:extLst>
            </p:cNvPr>
            <p:cNvSpPr txBox="1"/>
            <p:nvPr/>
          </p:nvSpPr>
          <p:spPr>
            <a:xfrm>
              <a:off x="8751053" y="6420171"/>
              <a:ext cx="2582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.</a:t>
              </a:r>
              <a:r>
                <a:rPr lang="de-DE" sz="1200" dirty="0" err="1"/>
                <a:t>gml</a:t>
              </a:r>
              <a:endParaRPr lang="en-GB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5190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A1B04-D17C-4341-8BCA-AD921D20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Initial </a:t>
            </a:r>
            <a:r>
              <a:rPr lang="de-DE" dirty="0" err="1"/>
              <a:t>Comparison</a:t>
            </a:r>
            <a:r>
              <a:rPr lang="en-GB" dirty="0"/>
              <a:t>: MZA vs. Ground Truth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CD1CD-E3E1-49DA-9813-236F713BA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B0C1D-56DC-47CA-8BC7-AF89144A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55577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F35C56-7A13-78B0-43C4-279C958B0DC7}"/>
              </a:ext>
            </a:extLst>
          </p:cNvPr>
          <p:cNvGrpSpPr/>
          <p:nvPr/>
        </p:nvGrpSpPr>
        <p:grpSpPr>
          <a:xfrm>
            <a:off x="614680" y="3429000"/>
            <a:ext cx="5293650" cy="2991408"/>
            <a:chOff x="614680" y="3429000"/>
            <a:chExt cx="5293650" cy="299140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B924A0D-AD15-3F9A-33E0-F14807621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813" t="7366" r="24140"/>
            <a:stretch/>
          </p:blipFill>
          <p:spPr>
            <a:xfrm>
              <a:off x="3098455" y="3429000"/>
              <a:ext cx="2809875" cy="295947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B9344A2-54E8-9601-2BC6-6C595573E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366" r="79628"/>
            <a:stretch/>
          </p:blipFill>
          <p:spPr>
            <a:xfrm>
              <a:off x="614680" y="3460936"/>
              <a:ext cx="2483775" cy="2959472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8F1A38B5-0399-55F8-45D9-B837A179C5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3"/>
          <a:stretch/>
        </p:blipFill>
        <p:spPr>
          <a:xfrm>
            <a:off x="6751557" y="3460936"/>
            <a:ext cx="3523090" cy="300133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7B6BA9-B172-5872-FA09-7D8DB9CD797D}"/>
              </a:ext>
            </a:extLst>
          </p:cNvPr>
          <p:cNvSpPr txBox="1"/>
          <p:nvPr/>
        </p:nvSpPr>
        <p:spPr>
          <a:xfrm>
            <a:off x="445954" y="1168415"/>
            <a:ext cx="445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Zoning Comparison: IoU Metrics</a:t>
            </a:r>
            <a:endParaRPr lang="en-GB" b="1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C98B1F1-2608-6706-A743-E3F6756DC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954" y="1688749"/>
            <a:ext cx="5837718" cy="421259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All GT regions are geometrically compared with all MZA predicted zones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Geometric similarity is quantified using Intersection over Union (IoU)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The IoU matrix represents all possible overlaps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BE41CBA-748F-8CBD-49F8-632D6612B2E5}"/>
                  </a:ext>
                </a:extLst>
              </p:cNvPr>
              <p:cNvSpPr txBox="1"/>
              <p:nvPr/>
            </p:nvSpPr>
            <p:spPr>
              <a:xfrm>
                <a:off x="7943850" y="1552451"/>
                <a:ext cx="2333625" cy="54758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de-DE"/>
                </a:defPPr>
                <a:lvl1pPr>
                  <a:defRPr sz="1600"/>
                </a:lvl1pPr>
              </a:lstStyle>
              <a:p>
                <a:r>
                  <a:rPr lang="en-GB" dirty="0"/>
                  <a:t>IoU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0" dirty="0" smtClean="0"/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i="0" dirty="0" smtClean="0"/>
                          <m:t>Area(GT∪Pred)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i="0" dirty="0" smtClean="0"/>
                          <m:t>Area(GT∩Pred)​ </m:t>
                        </m:r>
                      </m:den>
                    </m:f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BE41CBA-748F-8CBD-49F8-632D6612B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850" y="1552451"/>
                <a:ext cx="2333625" cy="547586"/>
              </a:xfrm>
              <a:prstGeom prst="rect">
                <a:avLst/>
              </a:prstGeom>
              <a:blipFill>
                <a:blip r:embed="rId5"/>
                <a:stretch>
                  <a:fillRect l="-514" b="-5263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8C7CCE1-A95F-7739-5CA4-8489723B4EE8}"/>
              </a:ext>
            </a:extLst>
          </p:cNvPr>
          <p:cNvSpPr/>
          <p:nvPr/>
        </p:nvSpPr>
        <p:spPr>
          <a:xfrm>
            <a:off x="7745896" y="3326296"/>
            <a:ext cx="1431234" cy="172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96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A1B04-D17C-4341-8BCA-AD921D20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Initial </a:t>
            </a:r>
            <a:r>
              <a:rPr lang="de-DE" dirty="0" err="1"/>
              <a:t>Comparison</a:t>
            </a:r>
            <a:r>
              <a:rPr lang="en-GB" dirty="0"/>
              <a:t>: MZA vs. Ground Truth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CD1CD-E3E1-49DA-9813-236F713BA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B0C1D-56DC-47CA-8BC7-AF89144A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55577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F1A38B5-0399-55F8-45D9-B837A179C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3"/>
          <a:stretch/>
        </p:blipFill>
        <p:spPr>
          <a:xfrm>
            <a:off x="288000" y="2900009"/>
            <a:ext cx="3523090" cy="300133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7B6BA9-B172-5872-FA09-7D8DB9CD797D}"/>
              </a:ext>
            </a:extLst>
          </p:cNvPr>
          <p:cNvSpPr txBox="1"/>
          <p:nvPr/>
        </p:nvSpPr>
        <p:spPr>
          <a:xfrm>
            <a:off x="445954" y="1168415"/>
            <a:ext cx="501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Mean IoU</a:t>
            </a:r>
            <a:endParaRPr lang="en-GB" b="1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C98B1F1-2608-6706-A743-E3F6756DC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954" y="1688749"/>
            <a:ext cx="5837718" cy="421259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Hungarian assignment selects a globally one-to-one correspondence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This helps to maximize the total IoU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7CCE1-A95F-7739-5CA4-8489723B4EE8}"/>
              </a:ext>
            </a:extLst>
          </p:cNvPr>
          <p:cNvSpPr/>
          <p:nvPr/>
        </p:nvSpPr>
        <p:spPr>
          <a:xfrm>
            <a:off x="1173646" y="2763769"/>
            <a:ext cx="1431234" cy="172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E41CBA-748F-8CBD-49F8-632D6612B2E5}"/>
              </a:ext>
            </a:extLst>
          </p:cNvPr>
          <p:cNvSpPr txBox="1"/>
          <p:nvPr/>
        </p:nvSpPr>
        <p:spPr>
          <a:xfrm>
            <a:off x="8637227" y="3429000"/>
            <a:ext cx="1821224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600"/>
            </a:lvl1pPr>
          </a:lstStyle>
          <a:p>
            <a:r>
              <a:rPr lang="en-GB" dirty="0"/>
              <a:t>Mean IoU = 0.82</a:t>
            </a:r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3E4ECD-18D4-106E-45B1-1428BE7FA7BD}"/>
              </a:ext>
            </a:extLst>
          </p:cNvPr>
          <p:cNvSpPr txBox="1"/>
          <p:nvPr/>
        </p:nvSpPr>
        <p:spPr>
          <a:xfrm>
            <a:off x="4810125" y="3429000"/>
            <a:ext cx="4126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Selected matches:</a:t>
            </a:r>
          </a:p>
          <a:p>
            <a:r>
              <a:rPr lang="en-GB" dirty="0"/>
              <a:t>A0 → Z1 (IoU = 0.83)</a:t>
            </a:r>
          </a:p>
          <a:p>
            <a:r>
              <a:rPr lang="en-GB" dirty="0"/>
              <a:t>A1 → Z2 (IoU = 0.85)</a:t>
            </a:r>
          </a:p>
          <a:p>
            <a:r>
              <a:rPr lang="en-GB" dirty="0"/>
              <a:t>S0 → Z0 (IoU = 0.79)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1DC4F-F5DD-3657-F7EC-579ECB2DE5A6}"/>
              </a:ext>
            </a:extLst>
          </p:cNvPr>
          <p:cNvSpPr txBox="1"/>
          <p:nvPr/>
        </p:nvSpPr>
        <p:spPr>
          <a:xfrm>
            <a:off x="7777954" y="4629329"/>
            <a:ext cx="41260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 combined area of the ground truth region and the predicted zone, overlaps spatially by 82%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94C151-9FDC-64A9-BBE6-8E7817E38CB2}"/>
              </a:ext>
            </a:extLst>
          </p:cNvPr>
          <p:cNvCxnSpPr>
            <a:cxnSpLocks/>
          </p:cNvCxnSpPr>
          <p:nvPr/>
        </p:nvCxnSpPr>
        <p:spPr>
          <a:xfrm>
            <a:off x="9592837" y="3955327"/>
            <a:ext cx="0" cy="6740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20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 animBg="1"/>
      <p:bldP spid="3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A1B04-D17C-4341-8BCA-AD921D20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Challenges in Comparing GT and MZA Zoning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CD1CD-E3E1-49DA-9813-236F713BA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B0C1D-56DC-47CA-8BC7-AF89144A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55577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7B6BA9-B172-5872-FA09-7D8DB9CD797D}"/>
              </a:ext>
            </a:extLst>
          </p:cNvPr>
          <p:cNvSpPr txBox="1"/>
          <p:nvPr/>
        </p:nvSpPr>
        <p:spPr>
          <a:xfrm>
            <a:off x="445954" y="1168415"/>
            <a:ext cx="5030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Over-segmentation in MZA zoning</a:t>
            </a:r>
            <a:endParaRPr lang="en-GB" b="1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31BB0B1-519B-3FD4-ADC2-760023A02CD3}"/>
              </a:ext>
            </a:extLst>
          </p:cNvPr>
          <p:cNvGrpSpPr/>
          <p:nvPr/>
        </p:nvGrpSpPr>
        <p:grpSpPr>
          <a:xfrm>
            <a:off x="578309" y="1353081"/>
            <a:ext cx="10541916" cy="2795457"/>
            <a:chOff x="578309" y="1353081"/>
            <a:chExt cx="10541916" cy="279545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43E0882-33CF-14FC-7267-55AF7A553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6664" y="1353081"/>
              <a:ext cx="3473561" cy="276103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4E108F6-B76B-F50A-7DB5-B685ED33F3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644"/>
            <a:stretch/>
          </p:blipFill>
          <p:spPr>
            <a:xfrm>
              <a:off x="578309" y="1635113"/>
              <a:ext cx="2565354" cy="2447258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5A10747-87B5-AED6-2F2A-247835FB56D2}"/>
                </a:ext>
              </a:extLst>
            </p:cNvPr>
            <p:cNvGrpSpPr/>
            <p:nvPr/>
          </p:nvGrpSpPr>
          <p:grpSpPr>
            <a:xfrm>
              <a:off x="3255288" y="1701280"/>
              <a:ext cx="2969475" cy="2447258"/>
              <a:chOff x="4688663" y="5968225"/>
              <a:chExt cx="3067050" cy="2717029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05CEDB9-5219-2A3A-CF8B-39264D5BEE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824" t="4086" r="25019"/>
              <a:stretch/>
            </p:blipFill>
            <p:spPr>
              <a:xfrm>
                <a:off x="4688663" y="5968225"/>
                <a:ext cx="3067050" cy="2717029"/>
              </a:xfrm>
              <a:prstGeom prst="rect">
                <a:avLst/>
              </a:prstGeom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A561FF0-9F63-BBAB-3724-EACDC8EB0458}"/>
                  </a:ext>
                </a:extLst>
              </p:cNvPr>
              <p:cNvSpPr/>
              <p:nvPr/>
            </p:nvSpPr>
            <p:spPr>
              <a:xfrm>
                <a:off x="4688663" y="5968225"/>
                <a:ext cx="788212" cy="706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377635C-8730-DF84-652C-E06600CD5572}"/>
              </a:ext>
            </a:extLst>
          </p:cNvPr>
          <p:cNvGrpSpPr/>
          <p:nvPr/>
        </p:nvGrpSpPr>
        <p:grpSpPr>
          <a:xfrm>
            <a:off x="580065" y="4148538"/>
            <a:ext cx="10502959" cy="2633862"/>
            <a:chOff x="580065" y="4148538"/>
            <a:chExt cx="10502959" cy="263386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950F450-47AF-2778-3A8B-0CDCDC8C6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8166" y="4148538"/>
              <a:ext cx="3324858" cy="263386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E444F2D-7798-07AA-C370-501F7F83A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644"/>
            <a:stretch/>
          </p:blipFill>
          <p:spPr>
            <a:xfrm>
              <a:off x="580065" y="4148538"/>
              <a:ext cx="2425866" cy="2311082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D4337BD-8172-0CAD-B083-04E59F91672A}"/>
                </a:ext>
              </a:extLst>
            </p:cNvPr>
            <p:cNvGrpSpPr/>
            <p:nvPr/>
          </p:nvGrpSpPr>
          <p:grpSpPr>
            <a:xfrm>
              <a:off x="880910" y="4263471"/>
              <a:ext cx="5240323" cy="2328624"/>
              <a:chOff x="2341058" y="3258864"/>
              <a:chExt cx="6529637" cy="2688458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81213C3D-7E5A-AA7A-4F1D-FD402B09E4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698" t="4966" r="23911"/>
              <a:stretch/>
            </p:blipFill>
            <p:spPr>
              <a:xfrm>
                <a:off x="5775069" y="3258864"/>
                <a:ext cx="3095626" cy="2688458"/>
              </a:xfrm>
              <a:prstGeom prst="rect">
                <a:avLst/>
              </a:prstGeom>
            </p:spPr>
          </p:pic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76CE447-6B0C-C312-5553-57BB5999C272}"/>
                  </a:ext>
                </a:extLst>
              </p:cNvPr>
              <p:cNvSpPr/>
              <p:nvPr/>
            </p:nvSpPr>
            <p:spPr>
              <a:xfrm>
                <a:off x="2341058" y="3279767"/>
                <a:ext cx="254925" cy="2190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799008E-9731-F452-1E99-21F1802E0291}"/>
              </a:ext>
            </a:extLst>
          </p:cNvPr>
          <p:cNvSpPr/>
          <p:nvPr/>
        </p:nvSpPr>
        <p:spPr>
          <a:xfrm>
            <a:off x="3816626" y="4244495"/>
            <a:ext cx="201798" cy="6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C0CD76-D4A5-D474-A09D-8B56EB8928AD}"/>
              </a:ext>
            </a:extLst>
          </p:cNvPr>
          <p:cNvSpPr/>
          <p:nvPr/>
        </p:nvSpPr>
        <p:spPr>
          <a:xfrm>
            <a:off x="8521425" y="1721823"/>
            <a:ext cx="1431234" cy="172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7D7B97-B728-1612-844C-C6A2A247CD5A}"/>
              </a:ext>
            </a:extLst>
          </p:cNvPr>
          <p:cNvSpPr/>
          <p:nvPr/>
        </p:nvSpPr>
        <p:spPr>
          <a:xfrm>
            <a:off x="8754472" y="4225932"/>
            <a:ext cx="1431234" cy="172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18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A1B04-D17C-4341-8BCA-AD921D20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Challenges in Comparing GT and MZA Zoning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CD1CD-E3E1-49DA-9813-236F713BA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B0C1D-56DC-47CA-8BC7-AF89144A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55577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7B6BA9-B172-5872-FA09-7D8DB9CD797D}"/>
              </a:ext>
            </a:extLst>
          </p:cNvPr>
          <p:cNvSpPr txBox="1"/>
          <p:nvPr/>
        </p:nvSpPr>
        <p:spPr>
          <a:xfrm>
            <a:off x="445954" y="1168415"/>
            <a:ext cx="5030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Staircase comparison</a:t>
            </a:r>
            <a:endParaRPr lang="en-GB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3E0882-33CF-14FC-7267-55AF7A553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54587" y="1751533"/>
            <a:ext cx="2876568" cy="32153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E108F6-B76B-F50A-7DB5-B685ED33F3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0" r="779"/>
          <a:stretch/>
        </p:blipFill>
        <p:spPr>
          <a:xfrm>
            <a:off x="8562974" y="1821342"/>
            <a:ext cx="3629025" cy="32153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2DC408-D341-08AD-95BB-BED1E202FC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41" r="26876"/>
          <a:stretch/>
        </p:blipFill>
        <p:spPr>
          <a:xfrm>
            <a:off x="3013596" y="1702585"/>
            <a:ext cx="2529398" cy="32153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FB31EE-C8ED-D00C-4891-85D37DCF16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" r="80245"/>
          <a:stretch/>
        </p:blipFill>
        <p:spPr>
          <a:xfrm>
            <a:off x="451406" y="1800483"/>
            <a:ext cx="2393456" cy="31174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BAD1469-90FB-86D2-589F-5E89011CF244}"/>
              </a:ext>
            </a:extLst>
          </p:cNvPr>
          <p:cNvSpPr/>
          <p:nvPr/>
        </p:nvSpPr>
        <p:spPr>
          <a:xfrm>
            <a:off x="2844862" y="1622646"/>
            <a:ext cx="698447" cy="257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5926F-C9D4-615C-2E06-F84E2A17893C}"/>
              </a:ext>
            </a:extLst>
          </p:cNvPr>
          <p:cNvSpPr/>
          <p:nvPr/>
        </p:nvSpPr>
        <p:spPr>
          <a:xfrm>
            <a:off x="9468679" y="1790544"/>
            <a:ext cx="1431234" cy="172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01D83A-D1D3-79A6-38CD-6CF18B7C117F}"/>
              </a:ext>
            </a:extLst>
          </p:cNvPr>
          <p:cNvSpPr txBox="1"/>
          <p:nvPr/>
        </p:nvSpPr>
        <p:spPr>
          <a:xfrm>
            <a:off x="874395" y="5399721"/>
            <a:ext cx="5137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Staircases have a strong influence on the comparison due to their small area and sensitivity to geometric placement.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110325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77BE-589A-4002-86C4-3B3F0830B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293619"/>
            <a:ext cx="10056093" cy="723794"/>
          </a:xfrm>
        </p:spPr>
        <p:txBody>
          <a:bodyPr/>
          <a:lstStyle/>
          <a:p>
            <a:r>
              <a:rPr lang="en-GB" dirty="0"/>
              <a:t>Future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87354-4754-4C02-BE07-74C3A2E36F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90818-079B-4057-A14A-74CFBD9C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9B04E9F-1270-402D-9DFD-90567C3C530C}"/>
              </a:ext>
            </a:extLst>
          </p:cNvPr>
          <p:cNvCxnSpPr>
            <a:cxnSpLocks/>
          </p:cNvCxnSpPr>
          <p:nvPr/>
        </p:nvCxnSpPr>
        <p:spPr>
          <a:xfrm flipV="1">
            <a:off x="6096000" y="1017413"/>
            <a:ext cx="0" cy="53844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07FD4A9-D1CE-6187-2FB4-E7BAE07C344B}"/>
              </a:ext>
            </a:extLst>
          </p:cNvPr>
          <p:cNvSpPr txBox="1"/>
          <p:nvPr/>
        </p:nvSpPr>
        <p:spPr>
          <a:xfrm>
            <a:off x="445954" y="1168415"/>
            <a:ext cx="5030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Quantitative Analysis of Zoning Performance</a:t>
            </a:r>
            <a:endParaRPr lang="en-GB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5BAAE9-A3EB-4F28-26C2-E0FA41208BCD}"/>
              </a:ext>
            </a:extLst>
          </p:cNvPr>
          <p:cNvSpPr txBox="1">
            <a:spLocks/>
          </p:cNvSpPr>
          <p:nvPr/>
        </p:nvSpPr>
        <p:spPr>
          <a:xfrm>
            <a:off x="445954" y="1646815"/>
            <a:ext cx="5444677" cy="180530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Aggregation of evaluation metrics across the full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Statistical analysis of weakly performing zoning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Refinement of evaluation metrics and comparison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Identification of systematic patterns and recurring failures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F2D3F1-521A-3366-B479-5ACBA49DB964}"/>
              </a:ext>
            </a:extLst>
          </p:cNvPr>
          <p:cNvSpPr txBox="1"/>
          <p:nvPr/>
        </p:nvSpPr>
        <p:spPr>
          <a:xfrm>
            <a:off x="6253954" y="1168415"/>
            <a:ext cx="5030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Sensitivity Analysis</a:t>
            </a:r>
            <a:endParaRPr lang="en-GB" b="1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DBBE94-4850-43E9-DDC6-EA79BE072C54}"/>
              </a:ext>
            </a:extLst>
          </p:cNvPr>
          <p:cNvSpPr txBox="1">
            <a:spLocks/>
          </p:cNvSpPr>
          <p:nvPr/>
        </p:nvSpPr>
        <p:spPr>
          <a:xfrm>
            <a:off x="6202018" y="1575318"/>
            <a:ext cx="5950225" cy="4633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Initial energy simulations of representative building archetypes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Identify key parameters influencing energy demand, like: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dirty="0"/>
              <a:t>Year of Construction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dirty="0"/>
              <a:t>BSP granularity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dirty="0"/>
              <a:t>WWR Ratio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dirty="0"/>
              <a:t>Setpoint temperature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dirty="0"/>
              <a:t>Occupancy behaviour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dirty="0"/>
              <a:t>Heated/Unheated staircase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dirty="0"/>
              <a:t>Adjacent buildings,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Assess how zoning deviations affect energy simulation results, by: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dirty="0"/>
              <a:t>Comparing energy demand from GT zoning vs. MZA zoning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dirty="0"/>
              <a:t>Staircase placement and configuration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dirty="0"/>
              <a:t>Over and under segmentation of zones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55991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866522C6-15B9-4AE8-9B42-91782BB9B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799" y="3637211"/>
            <a:ext cx="9792752" cy="1141439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de-DE" sz="3000" dirty="0">
                <a:solidFill>
                  <a:schemeClr val="bg2"/>
                </a:solidFill>
                <a:latin typeface="Calibri"/>
              </a:rPr>
              <a:t>Thank You For Your Attention !</a:t>
            </a:r>
          </a:p>
          <a:p>
            <a:pPr algn="ctr"/>
            <a:r>
              <a:rPr lang="de-DE" sz="3000" dirty="0">
                <a:solidFill>
                  <a:schemeClr val="bg2"/>
                </a:solidFill>
                <a:latin typeface="Calibri"/>
              </a:rPr>
              <a:t>Questions/Feedback/Suggestions ?</a:t>
            </a:r>
            <a:endParaRPr lang="en-GB" sz="3000" dirty="0">
              <a:solidFill>
                <a:schemeClr val="bg2"/>
              </a:solidFill>
              <a:latin typeface="Calibri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98C5F92-6142-46B9-BFE5-4AB8AFE1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39" y="1156547"/>
            <a:ext cx="9147767" cy="1855954"/>
          </a:xfrm>
        </p:spPr>
        <p:txBody>
          <a:bodyPr/>
          <a:lstStyle/>
          <a:p>
            <a:r>
              <a:rPr lang="en-GB" sz="3000" dirty="0"/>
              <a:t>Validation and Sensitivity Analysis of an Automatic Multizone Assignment Algorithm</a:t>
            </a:r>
            <a:endParaRPr lang="de-DE" sz="3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AF9B05-84A9-4D6B-9A24-29C7168333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A0F753-30A9-47D5-BD82-BEEB10DA0A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B95635-2E64-56F9-CAB7-8BD1779F21BA}"/>
              </a:ext>
            </a:extLst>
          </p:cNvPr>
          <p:cNvSpPr txBox="1"/>
          <p:nvPr/>
        </p:nvSpPr>
        <p:spPr>
          <a:xfrm>
            <a:off x="4317442" y="5403360"/>
            <a:ext cx="3180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de-DE" sz="2000" dirty="0">
                <a:solidFill>
                  <a:prstClr val="black"/>
                </a:solidFill>
                <a:latin typeface="Calibri"/>
              </a:rPr>
              <a:t>Prepared </a:t>
            </a:r>
            <a:r>
              <a:rPr lang="de-DE" sz="2000" dirty="0" err="1">
                <a:solidFill>
                  <a:prstClr val="black"/>
                </a:solidFill>
                <a:latin typeface="Calibri"/>
              </a:rPr>
              <a:t>by</a:t>
            </a:r>
            <a:r>
              <a:rPr lang="de-DE" sz="2000" dirty="0">
                <a:solidFill>
                  <a:prstClr val="black"/>
                </a:solidFill>
                <a:latin typeface="Calibri"/>
              </a:rPr>
              <a:t> Sharon Thomas</a:t>
            </a:r>
          </a:p>
          <a:p>
            <a:pPr defTabSz="457200"/>
            <a:r>
              <a:rPr lang="de-DE" sz="2000" dirty="0">
                <a:solidFill>
                  <a:prstClr val="black"/>
                </a:solidFill>
                <a:latin typeface="Calibri"/>
              </a:rPr>
              <a:t>Supervised </a:t>
            </a:r>
            <a:r>
              <a:rPr lang="de-DE" sz="2000" dirty="0" err="1">
                <a:solidFill>
                  <a:prstClr val="black"/>
                </a:solidFill>
                <a:latin typeface="Calibri"/>
              </a:rPr>
              <a:t>by</a:t>
            </a:r>
            <a:r>
              <a:rPr lang="de-DE" sz="2000" dirty="0">
                <a:solidFill>
                  <a:prstClr val="black"/>
                </a:solidFill>
                <a:latin typeface="Calibri"/>
              </a:rPr>
              <a:t> Kevin </a:t>
            </a:r>
            <a:r>
              <a:rPr lang="de-DE" sz="2000" dirty="0" err="1">
                <a:solidFill>
                  <a:prstClr val="black"/>
                </a:solidFill>
                <a:latin typeface="Calibri"/>
              </a:rPr>
              <a:t>Waiz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79116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DL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00658B"/>
      </a:accent1>
      <a:accent2>
        <a:srgbClr val="F8DE53"/>
      </a:accent2>
      <a:accent3>
        <a:srgbClr val="0094A8"/>
      </a:accent3>
      <a:accent4>
        <a:srgbClr val="B7D260"/>
      </a:accent4>
      <a:accent5>
        <a:srgbClr val="5F98CB"/>
      </a:accent5>
      <a:accent6>
        <a:srgbClr val="B1B1B1"/>
      </a:accent6>
      <a:hlink>
        <a:srgbClr val="00B0F0"/>
      </a:hlink>
      <a:folHlink>
        <a:srgbClr val="00658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u 1">
      <a:srgbClr val="00658B"/>
    </a:custClr>
    <a:custClr name="Blau 2">
      <a:srgbClr val="3B98CB"/>
    </a:custClr>
    <a:custClr name="Blau 3">
      <a:srgbClr val="6CB9DC"/>
    </a:custClr>
    <a:custClr name="Blau 4">
      <a:srgbClr val="A7D3EC"/>
    </a:custClr>
    <a:custClr name="Blau 5">
      <a:srgbClr val="D1E8FA"/>
    </a:custClr>
    <a:custClr name="Gelb 1">
      <a:srgbClr val="D2AE3D"/>
    </a:custClr>
    <a:custClr name="Gelb 2">
      <a:srgbClr val="F2CD51"/>
    </a:custClr>
    <a:custClr name="Gelb 3">
      <a:srgbClr val="F8DE53"/>
    </a:custClr>
    <a:custClr name="Gelb 4">
      <a:srgbClr val="FCEA7A"/>
    </a:custClr>
    <a:custClr name="Gelb 5">
      <a:srgbClr val="FFF8BE"/>
    </a:custClr>
    <a:custClr name="Grün 1">
      <a:srgbClr val="82A043"/>
    </a:custClr>
    <a:custClr name="Grün 2">
      <a:srgbClr val="A6BF51"/>
    </a:custClr>
    <a:custClr name="Grün 3">
      <a:srgbClr val="CAD55C"/>
    </a:custClr>
    <a:custClr name="Grün 4">
      <a:srgbClr val="D9DF78"/>
    </a:custClr>
    <a:custClr name="Grün 5">
      <a:srgbClr val="E6EAAF"/>
    </a:custClr>
    <a:custClr name="Grau 1">
      <a:srgbClr val="666666"/>
    </a:custClr>
    <a:custClr name="Grau 2">
      <a:srgbClr val="868585"/>
    </a:custClr>
    <a:custClr name="Grau 3">
      <a:srgbClr val="B1B1B1"/>
    </a:custClr>
    <a:custClr name="Grau 4">
      <a:srgbClr val="CFCFCF"/>
    </a:custClr>
    <a:custClr name="Grau 5">
      <a:srgbClr val="EBEBEB"/>
    </a:custClr>
  </a:custClrLst>
  <a:extLst>
    <a:ext uri="{05A4C25C-085E-4340-85A3-A5531E510DB2}">
      <thm15:themeFamily xmlns:thm15="http://schemas.microsoft.com/office/thememl/2012/main" name="DLR-PPT-Master_1.30_EN.pptx" id="{6250988B-F8D4-4672-99CB-10E86376C3D6}" vid="{13BA9046-8FD7-4B45-83ED-4CF3CC1D07E9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">
  <a:themeElements>
    <a:clrScheme name="DL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00658B"/>
      </a:accent1>
      <a:accent2>
        <a:srgbClr val="F8DE53"/>
      </a:accent2>
      <a:accent3>
        <a:srgbClr val="0094A8"/>
      </a:accent3>
      <a:accent4>
        <a:srgbClr val="B7D260"/>
      </a:accent4>
      <a:accent5>
        <a:srgbClr val="5F98CB"/>
      </a:accent5>
      <a:accent6>
        <a:srgbClr val="B1B1B1"/>
      </a:accent6>
      <a:hlink>
        <a:srgbClr val="00B0F0"/>
      </a:hlink>
      <a:folHlink>
        <a:srgbClr val="00658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u 1">
      <a:srgbClr val="00658B"/>
    </a:custClr>
    <a:custClr name="Blau 2">
      <a:srgbClr val="3B98CB"/>
    </a:custClr>
    <a:custClr name="Blau 3">
      <a:srgbClr val="6CB9DC"/>
    </a:custClr>
    <a:custClr name="Blau 4">
      <a:srgbClr val="A7D3EC"/>
    </a:custClr>
    <a:custClr name="Blau 5">
      <a:srgbClr val="D1E8FA"/>
    </a:custClr>
    <a:custClr name="Gelb 1">
      <a:srgbClr val="D2AE3D"/>
    </a:custClr>
    <a:custClr name="Gelb 2">
      <a:srgbClr val="F2CD51"/>
    </a:custClr>
    <a:custClr name="Gelb 3">
      <a:srgbClr val="F8DE53"/>
    </a:custClr>
    <a:custClr name="Gelb 4">
      <a:srgbClr val="FCEA7A"/>
    </a:custClr>
    <a:custClr name="Gelb 5">
      <a:srgbClr val="FFF8BE"/>
    </a:custClr>
    <a:custClr name="Grün 1">
      <a:srgbClr val="82A043"/>
    </a:custClr>
    <a:custClr name="Grün 2">
      <a:srgbClr val="A6BF51"/>
    </a:custClr>
    <a:custClr name="Grün 3">
      <a:srgbClr val="CAD55C"/>
    </a:custClr>
    <a:custClr name="Grün 4">
      <a:srgbClr val="D9DF78"/>
    </a:custClr>
    <a:custClr name="Grün 5">
      <a:srgbClr val="E6EAAF"/>
    </a:custClr>
    <a:custClr name="Grau 1">
      <a:srgbClr val="666666"/>
    </a:custClr>
    <a:custClr name="Grau 2">
      <a:srgbClr val="868585"/>
    </a:custClr>
    <a:custClr name="Grau 3">
      <a:srgbClr val="B1B1B1"/>
    </a:custClr>
    <a:custClr name="Grau 4">
      <a:srgbClr val="CFCFCF"/>
    </a:custClr>
    <a:custClr name="Grau 5">
      <a:srgbClr val="EBEBEB"/>
    </a:custClr>
  </a:custClrLst>
  <a:extLst>
    <a:ext uri="{05A4C25C-085E-4340-85A3-A5531E510DB2}">
      <thm15:themeFamily xmlns:thm15="http://schemas.microsoft.com/office/thememl/2012/main" name="DLR-PPT-Master_1.30_EN.pptx" id="{6250988B-F8D4-4672-99CB-10E86376C3D6}" vid="{13BA9046-8FD7-4B45-83ED-4CF3CC1D07E9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50B0CA5-6D5D-482F-B16A-B22C22FDD920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954367121BF6742A4E5E52580897276" ma:contentTypeVersion="6" ma:contentTypeDescription="Ein neues Dokument erstellen." ma:contentTypeScope="" ma:versionID="1ab30052a3a4e0ce76f98d80484e89f4">
  <xsd:schema xmlns:xsd="http://www.w3.org/2001/XMLSchema" xmlns:xs="http://www.w3.org/2001/XMLSchema" xmlns:p="http://schemas.microsoft.com/office/2006/metadata/properties" xmlns:ns3="7377a6cf-c5b1-4878-b96a-ffdcce450f4c" targetNamespace="http://schemas.microsoft.com/office/2006/metadata/properties" ma:root="true" ma:fieldsID="b3127b82e560c37ead19b85af97b7c25" ns3:_="">
    <xsd:import namespace="7377a6cf-c5b1-4878-b96a-ffdcce450f4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77a6cf-c5b1-4878-b96a-ffdcce450f4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77a6cf-c5b1-4878-b96a-ffdcce450f4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8FD400-91F9-4E5F-A286-85936D1BB5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77a6cf-c5b1-4878-b96a-ffdcce450f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37BC8C-11DB-4C45-8A65-00DF0F82144A}">
  <ds:schemaRefs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7377a6cf-c5b1-4878-b96a-ffdcce450f4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C9E1988-C11F-4659-9D70-6A9C618CB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DLR_Präsentation_16zu9_EN</Template>
  <TotalTime>0</TotalTime>
  <Words>1525</Words>
  <Application>Microsoft Office PowerPoint</Application>
  <PresentationFormat>Widescreen</PresentationFormat>
  <Paragraphs>275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Frutiger LT Pro 45 Light</vt:lpstr>
      <vt:lpstr>Wingdings</vt:lpstr>
      <vt:lpstr>Office</vt:lpstr>
      <vt:lpstr>1_Custom Design</vt:lpstr>
      <vt:lpstr>1_Office</vt:lpstr>
      <vt:lpstr>Custom Design</vt:lpstr>
      <vt:lpstr>Validation and Sensitivity Analysis of an Automatic Multizone Assignment Algorithm</vt:lpstr>
      <vt:lpstr>Introduction</vt:lpstr>
      <vt:lpstr>Motivation MZA</vt:lpstr>
      <vt:lpstr>Motivation Validation and Sensitivity Analysis</vt:lpstr>
      <vt:lpstr>Thesis Timeline</vt:lpstr>
      <vt:lpstr>Multizone Assignment Algorithm</vt:lpstr>
      <vt:lpstr>Multizone Assignment Algorithm</vt:lpstr>
      <vt:lpstr>Multizone Assignment Algorithm</vt:lpstr>
      <vt:lpstr>Datasets</vt:lpstr>
      <vt:lpstr>Dataset Preprocessing and Ground Truth Generation MSD</vt:lpstr>
      <vt:lpstr>MZA Input Preparation MSD</vt:lpstr>
      <vt:lpstr>Dataset Preprocessing and Ground Truth Generation Real Estate Data</vt:lpstr>
      <vt:lpstr>MZA Input Preparation Real Estate Data</vt:lpstr>
      <vt:lpstr>Initial Comparison: MZA vs. Ground Truth</vt:lpstr>
      <vt:lpstr>Initial Comparison: MZA vs. Ground Truth</vt:lpstr>
      <vt:lpstr>Challenges in Comparing GT and MZA Zoning</vt:lpstr>
      <vt:lpstr>Challenges in Comparing GT and MZA Zoning</vt:lpstr>
      <vt:lpstr>Future Works</vt:lpstr>
      <vt:lpstr>Validation and Sensitivity Analysis of an Automatic Multizone Assignment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Kaji, Vasimraza</dc:creator>
  <cp:lastModifiedBy>Sharon Thomas</cp:lastModifiedBy>
  <cp:revision>152</cp:revision>
  <dcterms:created xsi:type="dcterms:W3CDTF">2025-08-14T11:16:29Z</dcterms:created>
  <dcterms:modified xsi:type="dcterms:W3CDTF">2026-08-26T13:05:04Z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0x0101006954367121BF6742A4E5E52580897276</vt:lpwstr>
  </property>
</Properties>
</file>