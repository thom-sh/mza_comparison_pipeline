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3" r:id="rId5"/>
    <p:sldMasterId id="2147483710" r:id="rId6"/>
    <p:sldMasterId id="2147483694" r:id="rId7"/>
  </p:sldMasterIdLst>
  <p:notesMasterIdLst>
    <p:notesMasterId r:id="rId33"/>
  </p:notesMasterIdLst>
  <p:handoutMasterIdLst>
    <p:handoutMasterId r:id="rId34"/>
  </p:handoutMasterIdLst>
  <p:sldIdLst>
    <p:sldId id="285" r:id="rId8"/>
    <p:sldId id="308" r:id="rId9"/>
    <p:sldId id="586" r:id="rId10"/>
    <p:sldId id="588" r:id="rId11"/>
    <p:sldId id="286" r:id="rId12"/>
    <p:sldId id="569" r:id="rId13"/>
    <p:sldId id="572" r:id="rId14"/>
    <p:sldId id="573" r:id="rId15"/>
    <p:sldId id="293" r:id="rId16"/>
    <p:sldId id="575" r:id="rId17"/>
    <p:sldId id="577" r:id="rId18"/>
    <p:sldId id="591" r:id="rId19"/>
    <p:sldId id="592" r:id="rId20"/>
    <p:sldId id="593" r:id="rId21"/>
    <p:sldId id="587" r:id="rId22"/>
    <p:sldId id="595" r:id="rId23"/>
    <p:sldId id="597" r:id="rId24"/>
    <p:sldId id="596" r:id="rId25"/>
    <p:sldId id="598" r:id="rId26"/>
    <p:sldId id="606" r:id="rId27"/>
    <p:sldId id="599" r:id="rId28"/>
    <p:sldId id="600" r:id="rId29"/>
    <p:sldId id="601" r:id="rId30"/>
    <p:sldId id="589" r:id="rId31"/>
    <p:sldId id="292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866D00-9A8A-21C8-E00D-B56CF6CD9D20}" name="Kaji, Vasimraza" initials="KV" userId="S-1-5-21-1156737867-681972312-1097073633-7277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7C79"/>
    <a:srgbClr val="205654"/>
    <a:srgbClr val="F7F9F0"/>
    <a:srgbClr val="85C4E3"/>
    <a:srgbClr val="8BC6DC"/>
    <a:srgbClr val="D1E8FA"/>
    <a:srgbClr val="3773A9"/>
    <a:srgbClr val="0099CE"/>
    <a:srgbClr val="1DBADF"/>
    <a:srgbClr val="FFC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80583" autoAdjust="0"/>
  </p:normalViewPr>
  <p:slideViewPr>
    <p:cSldViewPr snapToGrid="0" showGuides="1">
      <p:cViewPr varScale="1">
        <p:scale>
          <a:sx n="131" d="100"/>
          <a:sy n="131" d="100"/>
        </p:scale>
        <p:origin x="1332" y="120"/>
      </p:cViewPr>
      <p:guideLst>
        <p:guide orient="horz" pos="2160"/>
        <p:guide pos="4112"/>
      </p:guideLst>
    </p:cSldViewPr>
  </p:slideViewPr>
  <p:outlineViewPr>
    <p:cViewPr>
      <p:scale>
        <a:sx n="33" d="100"/>
        <a:sy n="33" d="100"/>
      </p:scale>
      <p:origin x="0" y="-53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448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8/10/relationships/authors" Target="authors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. Introduce by name and course</a:t>
            </a:r>
          </a:p>
          <a:p>
            <a:r>
              <a:rPr lang="en-DE" dirty="0"/>
              <a:t>.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Buildings and Districts group</a:t>
            </a:r>
            <a:endParaRPr lang="en-DE" dirty="0"/>
          </a:p>
          <a:p>
            <a:r>
              <a:rPr lang="en-DE" dirty="0"/>
              <a:t>. Read the topic</a:t>
            </a:r>
          </a:p>
          <a:p>
            <a:r>
              <a:rPr lang="en-DE" dirty="0"/>
              <a:t>. Before starting acknowledge the people who has contributed to the successful completion of this thesis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604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4748-FF7A-79A8-B07A-AC7E9A27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31CB9-F4E4-0922-70B4-1AB52ACFA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3609A-395D-46A6-6914-6E98AFFE5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And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a large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demand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As a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insufficient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constrains</a:t>
            </a:r>
            <a:r>
              <a:rPr lang="de-DE" dirty="0"/>
              <a:t> …</a:t>
            </a:r>
          </a:p>
          <a:p>
            <a:pPr marL="171450" indent="-171450">
              <a:buFontTx/>
              <a:buChar char="-"/>
            </a:pPr>
            <a:r>
              <a:rPr lang="de-DE" dirty="0"/>
              <a:t>These </a:t>
            </a:r>
            <a:r>
              <a:rPr lang="de-DE" dirty="0" err="1"/>
              <a:t>models</a:t>
            </a:r>
            <a:r>
              <a:rPr lang="de-DE" dirty="0"/>
              <a:t>  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 but…</a:t>
            </a:r>
          </a:p>
          <a:p>
            <a:pPr marL="171450" indent="-171450">
              <a:buFontTx/>
              <a:buChar char="-"/>
            </a:pPr>
            <a:r>
              <a:rPr lang="de-DE" dirty="0"/>
              <a:t>This </a:t>
            </a:r>
            <a:r>
              <a:rPr lang="de-DE" dirty="0" err="1"/>
              <a:t>gap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and a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internal </a:t>
            </a:r>
            <a:r>
              <a:rPr lang="de-DE" dirty="0" err="1"/>
              <a:t>zoning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mza</a:t>
            </a:r>
            <a:r>
              <a:rPr lang="de-DE" dirty="0"/>
              <a:t> </a:t>
            </a:r>
            <a:r>
              <a:rPr lang="de-DE" dirty="0" err="1"/>
              <a:t>becomes</a:t>
            </a:r>
            <a:r>
              <a:rPr lang="de-DE" dirty="0"/>
              <a:t> relevant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FB8B0-54DE-F299-ACC9-D686EA655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6379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2025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238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Geodata </a:t>
            </a:r>
          </a:p>
          <a:p>
            <a:r>
              <a:rPr lang="en-GB" dirty="0"/>
              <a:t>Public data like </a:t>
            </a:r>
            <a:r>
              <a:rPr lang="en-GB" dirty="0" err="1"/>
              <a:t>Citygml</a:t>
            </a:r>
            <a:r>
              <a:rPr lang="en-GB" dirty="0"/>
              <a:t> and </a:t>
            </a:r>
            <a:r>
              <a:rPr lang="en-GB" dirty="0" err="1"/>
              <a:t>osm</a:t>
            </a:r>
            <a:br>
              <a:rPr lang="en-GB" dirty="0"/>
            </a:br>
            <a:r>
              <a:rPr lang="en-GB" dirty="0"/>
              <a:t>- City GML provides: 3D building envelope, roof type, orientation ….</a:t>
            </a:r>
            <a:br>
              <a:rPr lang="en-GB" dirty="0"/>
            </a:br>
            <a:r>
              <a:rPr lang="en-GB" dirty="0"/>
              <a:t>- OSM: Streets, address point, building type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Inner building data</a:t>
            </a:r>
            <a:br>
              <a:rPr lang="en-GB" dirty="0"/>
            </a:br>
            <a:r>
              <a:rPr lang="en-GB" dirty="0"/>
              <a:t>- dimensions/regulations for staircase, corridors, average apartment area with respect to DIN, LBO and </a:t>
            </a:r>
            <a:r>
              <a:rPr lang="en-GB" dirty="0" err="1"/>
              <a:t>Destatis</a:t>
            </a:r>
            <a:r>
              <a:rPr lang="en-GB" dirty="0"/>
              <a:t>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Discretization by Binary space partitioning – divides footprint into smaller leaves until a set granularity is fulfilled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144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Staircase positioned along the detected façade</a:t>
            </a:r>
          </a:p>
          <a:p>
            <a:pPr marL="171450" indent="-171450">
              <a:buFontTx/>
              <a:buChar char="-"/>
            </a:pPr>
            <a:r>
              <a:rPr lang="en-GB" dirty="0"/>
              <a:t>Seeds placed around the staircase/corridor boundaries (like doors) </a:t>
            </a:r>
          </a:p>
          <a:p>
            <a:pPr marL="171450" indent="-171450">
              <a:buFontTx/>
              <a:buChar char="-"/>
            </a:pPr>
            <a:r>
              <a:rPr lang="en-GB" dirty="0"/>
              <a:t>Each seed acts as a Voronoi cell origin -&gt; creates an initial zoning</a:t>
            </a:r>
          </a:p>
          <a:p>
            <a:pPr marL="171450" indent="-171450">
              <a:buFontTx/>
              <a:buChar char="-"/>
            </a:pPr>
            <a:r>
              <a:rPr lang="en-GB" dirty="0"/>
              <a:t>We do this process for X-</a:t>
            </a:r>
            <a:r>
              <a:rPr lang="en-GB" dirty="0" err="1"/>
              <a:t>Itearions</a:t>
            </a:r>
            <a:r>
              <a:rPr lang="en-GB" dirty="0"/>
              <a:t> for different seed placement and continuously checked for necessary </a:t>
            </a:r>
            <a:r>
              <a:rPr lang="en-GB" dirty="0" err="1"/>
              <a:t>constains</a:t>
            </a:r>
            <a:r>
              <a:rPr lang="en-GB" dirty="0"/>
              <a:t> / errors like artifacts, </a:t>
            </a:r>
            <a:r>
              <a:rPr lang="en-GB" dirty="0" err="1"/>
              <a:t>cutted</a:t>
            </a:r>
            <a:r>
              <a:rPr lang="en-GB" dirty="0"/>
              <a:t> windows (if included), connection to outer walls …</a:t>
            </a:r>
          </a:p>
          <a:p>
            <a:pPr marL="171450" indent="-171450">
              <a:buFontTx/>
              <a:buChar char="-"/>
            </a:pPr>
            <a:r>
              <a:rPr lang="en-GB" dirty="0"/>
              <a:t>Postprocessing needed to get rid of step patterns or other problems caused by the seed grow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82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Score defines the best result by taking the total perimeter and the area share between the zones into account </a:t>
            </a:r>
          </a:p>
          <a:p>
            <a:pPr marL="171450" indent="-171450">
              <a:buFontTx/>
              <a:buChar char="-"/>
            </a:pPr>
            <a:r>
              <a:rPr lang="en-GB" dirty="0"/>
              <a:t>Alpha: Bigger alpha -&gt; area range more important (usually 2.0)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00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451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represnts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room</a:t>
            </a:r>
            <a:r>
              <a:rPr lang="de-DE" dirty="0"/>
              <a:t> type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adjacency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Filter </a:t>
            </a:r>
            <a:r>
              <a:rPr lang="de-DE" dirty="0" err="1"/>
              <a:t>balconies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apartment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adjacency</a:t>
            </a:r>
            <a:r>
              <a:rPr lang="de-DE" dirty="0"/>
              <a:t> </a:t>
            </a:r>
            <a:r>
              <a:rPr lang="de-DE" dirty="0" err="1"/>
              <a:t>graph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Extract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apartment</a:t>
            </a:r>
            <a:r>
              <a:rPr lang="de-DE" dirty="0"/>
              <a:t> </a:t>
            </a:r>
            <a:r>
              <a:rPr lang="de-DE" dirty="0" err="1"/>
              <a:t>footprint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room</a:t>
            </a:r>
            <a:r>
              <a:rPr lang="de-DE" dirty="0"/>
              <a:t> </a:t>
            </a:r>
            <a:r>
              <a:rPr lang="de-DE" dirty="0" err="1"/>
              <a:t>polygons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GT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517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Transfered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real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facttor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calculated</a:t>
            </a:r>
            <a:r>
              <a:rPr lang="de-DE" dirty="0"/>
              <a:t>….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01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928B-1EC1-3441-B02C-A42B2A55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23E860A-227E-4992-2B31-2FBF5E628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98E7AF3-C50B-B3DF-C486-5ADCD7975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F0FE21-DA91-37BE-0008-C2651A3E1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813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9E0B-8F55-628C-BBA4-621051C4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462F23-1B53-7241-9B8A-182F3570D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E950A9E-E85F-825D-8118-AB587F9FA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8A5B49-2339-D467-2B49-BA4DD9B9B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613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49C6-FDD8-E8BC-735B-22D084B1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6D4ED9-E0E3-6BC3-2D26-40F95EFD7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F0D7CB-C435-9145-AD26-8FB5933B6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CCE5B-D522-7A5B-1D97-49BEADCBD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0619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7208-8FAF-E688-236E-F93EDF6E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0BA2605-BD60-6DF6-B101-FE919756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48E0DE-3CE5-C68E-87CF-69C76FDBA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24DCB9-77C3-0AB6-2E8D-18E7BEC6E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942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8202-8CD1-A921-757D-8165552E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87344C-578B-C660-A030-BA63FF819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4E3EB43-59A0-078E-5860-F7AF95ADA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D3F491-AE73-F67D-B5BD-517F5BDC4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989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CC0B-6160-83E4-A3DD-AA7266DF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31A21F-2B96-B7C8-0B83-29E8C7EDD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704E26-E9BF-79C8-0C09-645BCAC53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354B46-DDAA-45EC-5DC4-588CE1E6B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40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CBC4-78F7-91F6-0643-CA3F77D9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E332AEC-D152-120B-9643-1E87F15A6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5DC05A-1AB0-126C-A7E5-B20B3ED7B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944F08-7071-CA54-A9A4-7917E1487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805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8DEC-EC71-2849-6344-4AF817BD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B27E3E-8A92-1568-F77D-634C40F52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0CDEAC-947C-52B9-B6A7-7CE7105B7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1C0440-357C-CF7B-B51B-FA7CAFDBA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6848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DCDB-E281-1B27-BFA7-CC5B851D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58AE92-787D-1FEF-3565-24BCC8057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B6D33B0-62AF-D955-F672-15981632D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3C3408-746A-2801-6287-FA8A77FCF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518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B3AB-8F53-B0C0-761C-2B977259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1994FC-E279-33F3-5740-EAC16139B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35AB72-4DE4-4C00-8C46-9B7885ED3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480DDD-9640-6697-13FB-E27725EBE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4889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29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B4FDF-C91E-4E63-9070-D94BAC1B2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284FDF0-9695-432C-8311-6A507C0F1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18AD26C-52C9-4C02-983C-1ED47C3EED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D192FC4-FD48-4D17-AF60-7541FACA3F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0DFB2603-4141-4F7E-B0B2-4354CE1418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C38032FD-A923-4443-A1D8-3B56F7A36E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1400423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9F7AC6E4-74E3-4906-97BC-665D70651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0521C5E6-5AD7-4726-9215-81EF0A3B2C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1D5AD3F1-257E-4CAB-9E7D-713CE2C5F8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651E3E1F-40DC-4A50-8435-88A71D745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A375A6EE-5566-4E8F-836B-C3F3896F66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E3C2FB1C-94F4-48FE-B6DB-A866B5A688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92357526-D93A-4066-BD49-311667EDEF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5C2C7A12-AD21-4DDC-9AF7-085077B490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C71BAD2-137F-44BF-99B6-022B986555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87CF985B-A95F-4960-A86A-0F5395BDC6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338E5521-5986-44DA-824C-F76102AD2D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F102411E-A5A6-4503-B089-AFE4A6F906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7AD751A7-D233-4903-AE09-AE5563A935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F13406CA-16A4-471C-9380-485D83E6F4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2B6B90AE-1E90-41DE-AD49-8920C78196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B484E7E0-271A-457C-9D61-BD7CDB566B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92325" y="3951614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26AE414A-8070-46F6-BA13-BA5527DED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FC645CE-EC23-49F1-932A-6119FF64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4FBFCD8-0815-4EFA-9335-A217FD00F955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1883CD8-93FA-4ABE-8EA8-60058BB51A0D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2BFF339-5E1A-442E-B755-2302600BB75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7EBFEEC-D396-445B-803E-2A941793CB35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5850F23-85E0-4907-AB95-3582A4376BF6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9B4E5DD-F6E0-4CDE-9696-A6B8C5C0E7E5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14BB24-4150-4CFD-A7F0-99377AB89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0D25CE-BCE0-4899-993E-C90F7A60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CC638B8-90B0-47F5-BF0B-B6E03F78403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1282572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B0086F4-79CC-4C17-A66D-6FE3F7A7FBC1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7156BA7-260B-4265-A60D-4B5D96057931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8A7E052-E95C-451A-8625-B1079423B1F1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E001CCE-A05F-47CE-995C-CA64F5D66114}"/>
                </a:ext>
              </a:extLst>
            </p:cNvPr>
            <p:cNvSpPr/>
            <p:nvPr/>
          </p:nvSpPr>
          <p:spPr>
            <a:xfrm>
              <a:off x="7066952" y="378719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45423ED-E1AA-46BF-BC21-9C0DF7CF9849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B17A0B7-542D-4FB7-8E1E-109E2793B069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7C5E2D3-FC53-43E5-9E1A-5A6D02BFA1AD}"/>
                </a:ext>
              </a:extLst>
            </p:cNvPr>
            <p:cNvCxnSpPr>
              <a:cxnSpLocks/>
              <a:stCxn id="79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A85CDA2-9C2A-4DC5-9B9D-275BA8404E43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13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E635-A301-4901-BEB6-0544008D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3B977-FF57-4AA2-B892-F24BEDB89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E7076-A4FB-4F4C-9DEF-CF4C02EB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4971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1826-16E1-4BF0-BE29-EB2B7299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917CA-56F5-4B6B-A21A-456794C5D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66DD8-A332-482F-B38D-CE88DA0A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943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E4EDC0B4-4839-D67D-DEEC-401133DF66D9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560AFC3-57D0-F888-0409-6E4AE04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5" name="Tabellenplatzhalter 7">
            <a:extLst>
              <a:ext uri="{FF2B5EF4-FFF2-40B4-BE49-F238E27FC236}">
                <a16:creationId xmlns:a16="http://schemas.microsoft.com/office/drawing/2014/main" id="{0D05A9C7-78D0-EE06-3C91-0B44CAD5C34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7354478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414B1055-33F2-706A-B987-AD219F01C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64DEE5FA-1A0F-5F55-0896-0246BC7D6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EC8C11A2-D458-BDE8-F2BF-ADAFB41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806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F1FF6555-F43F-4F6F-8557-7775ED911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E4B575B-830B-4042-B5E3-854ED6742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74F0FA-8F68-4378-8DBC-19E1F6A0E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D0D31E6-199E-4219-A707-84C3133E3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3B652E60-BB22-4CDC-B46E-3983789A55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4678D57-D387-497F-BE8F-CC4BED8016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62190330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4735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D7E6995-96CC-3982-D5B2-C86FEE3250A0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D4835C53-91E7-6F9B-B923-BC1D5AC13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B2529C76-0D8A-EF87-45E6-0ADDE5F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1F05D1-9FC5-816E-FCE9-742956FC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E6EC0CBA-DCD5-B2B0-E997-0F914B7A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E4A06E74-DBC5-BFB5-A583-5D6E319BBD4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506128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67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320569E-7EBB-42F9-B989-19AC2BA590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28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2644788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4514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0E4FEBA-B0DE-4B79-99F8-C969B4E3A9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4CA3CBF-84EB-43B9-A448-AE66CF1B19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648652F-2A78-4696-BEDF-2827E6783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4D0E809D-C311-4031-A613-368FF399A7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935316FE-8476-4572-87B2-B715CCF583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2670070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0B2BD55-0944-2EB8-30AE-4EC0EBD1C77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8E332830-1B76-0834-BFD4-B0A738EAC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92DD0-9A3C-88DC-7FA4-612131847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A8560D2-D042-38FC-1DF9-D804486158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14023C8A-8B07-0D4C-F346-2C1B9789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C345DDFB-6457-0140-C751-BBDEB3109C3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8802888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259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1B0C-294F-4827-A3C9-0051268E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E1303B-EE51-43E7-88C4-82455B1B4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7B69E-7B5F-4955-8312-B753376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57595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557479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395D497-4BD0-4044-AB65-1F72BFD0F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656531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101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416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Kevin Waiz, Institut für Solarforschung, 16.08.2024</a:t>
            </a:r>
          </a:p>
        </p:txBody>
      </p:sp>
    </p:spTree>
    <p:extLst>
      <p:ext uri="{BB962C8B-B14F-4D97-AF65-F5344CB8AC3E}">
        <p14:creationId xmlns:p14="http://schemas.microsoft.com/office/powerpoint/2010/main" val="4527948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BA3E-3639-4587-8F77-54DD47046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228E5-E348-4A13-8910-F4D214EA5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5B2F-8B01-411D-912C-357E4A65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A17AF-FB17-46DB-9166-E0D8DB3E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4827-B792-4498-AFD0-ECFA7F48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3554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6A52-24FC-4BA0-ABF8-B06B3243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79BC-5A96-4567-B0BF-3C7146BD3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DABC-CB2E-40F7-9920-01C64FF7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3035-A2E9-481F-B39B-8BAFC426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F8D96-602A-4530-9B20-0BB1978A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8845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4C00-5E8F-4444-8188-E04BBEAD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3623-AC94-4526-A3CB-7BC135D5D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6D0DF-682E-472B-B737-5647174E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75B6F-5E56-4B85-A523-BA25AC05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CFA44-9AFC-43A5-A102-808596E7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909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ACD4-C0EC-4405-891B-AD67CFF5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7641-3F68-4B7B-BD8C-F8A6CD3CA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E256-F96B-403D-8AB3-525F1F5E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4AC1D-FD95-4DC5-8424-84354D38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CFF8-2921-49CF-86CB-A494FF43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C6A29-794A-4354-B913-67DDE76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946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9590-1476-42D7-8042-A17D2878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7BD75-4774-433A-A052-C8D9E0CAA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1FAF6-E107-4ED4-A31F-D078D00FB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874FA3-B6A6-4542-A2DE-9D7F8EDC0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AE51F-6D1C-4844-9D25-D585EC6F2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809A6-8A76-4DAB-92D4-55028482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68B60-20B2-423D-BDE5-1520E3FB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4DC77-256B-49C7-B388-CBCB16AD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342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FB26-4008-4AA0-A68E-AAC24420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B1F7B-E3DC-4609-9D14-5E51F243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C0EA3-83D9-425C-98B0-78407F7F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976A9-C0DB-4729-BD39-7BEB8BBD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3055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7DF6B-3459-4CA9-B441-69E42429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1C6A3-3414-45C9-A7EB-D2C717B9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9935-9F9E-4033-8804-D4F13A41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2720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94E2-5E3B-4CD7-8405-8197D42D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22E14-58AD-4280-992C-A13E2E3AC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BE960-98B5-4F8A-BA94-BDC26DD45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B8D3B-E2A4-43B8-8201-F389AFC1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0BC48-3442-4CC1-8DB8-BE9543D3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C67DC-D035-4D1C-B642-3B6591A8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8144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FE68-4253-48B2-8D39-87D4C03B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E046A-2823-466C-972E-8F23A8D5F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3759-0D7F-4874-8145-A48403B4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D2BBE-38AA-4B6B-9C06-A65D3580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758C-CCAC-4C15-91FF-04D68653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FFFDE-3A26-44B0-ABFF-98394881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8119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6435-CE8B-4CC7-AF3F-D7EDA247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B8604-5606-43EF-949A-08A520E00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6A1EA-3A0A-4F0C-BF67-65C14286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55AF-56A8-4C69-B700-5B3F8378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66A9A-D4E5-415B-A1ED-995C6C6D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4110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210C4-43A1-4109-BD53-E3ECDB419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77CD7-0802-4751-838C-C85E2B67B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D3C6-5945-4B25-B0CC-118F6E1B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FA1C8-3D69-41E0-99FC-265051A4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A1D0-31C2-48A0-A68D-65D4AA57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428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BB4B-5D4C-407E-A9C5-22DED966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8F1F0-1CD6-4458-A227-32B09EC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2EF43-08CE-4479-835A-3CDE678B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FCD80-1E43-44D9-93AF-00B2C4D6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5955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CD46E6-90C9-5A94-5A35-1C98F051F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023" y="416579"/>
            <a:ext cx="10643616" cy="717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00" cap="all" baseline="0"/>
            </a:lvl1pPr>
          </a:lstStyle>
          <a:p>
            <a:pPr algn="ctr"/>
            <a:r>
              <a:rPr lang="en-US" dirty="0">
                <a:solidFill>
                  <a:srgbClr val="4D5BE2"/>
                </a:solidFill>
              </a:rPr>
              <a:t>ADD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D4AE5-C0C9-3ADD-96CD-4F646C40E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9315" y="1181873"/>
            <a:ext cx="2787651" cy="1154112"/>
          </a:xfrm>
          <a:solidFill>
            <a:schemeClr val="accent1"/>
          </a:solidFill>
        </p:spPr>
        <p:txBody>
          <a:bodyPr lIns="32004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840F69-82D1-BA5D-BCDE-065BCBD763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96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6E650B-9763-2E1B-83A3-D40D92876A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7610" y="1181873"/>
            <a:ext cx="4532631" cy="1154112"/>
          </a:xfrm>
          <a:solidFill>
            <a:schemeClr val="accent1"/>
          </a:solidFill>
        </p:spPr>
        <p:txBody>
          <a:bodyPr lIns="274320" tIns="457200" r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365650-4538-97BE-682C-4FEE50D5B3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541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605A104-600A-E6C4-A7F3-4C6E6E8B6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0251" y="1181873"/>
            <a:ext cx="3084388" cy="1154112"/>
          </a:xfrm>
          <a:solidFill>
            <a:schemeClr val="accent1"/>
          </a:solidFill>
        </p:spPr>
        <p:txBody>
          <a:bodyPr lIns="274320" tIns="457200">
            <a:noAutofit/>
          </a:bodyPr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3846D8-2231-F40F-1840-B4D3ECF557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021" y="1347291"/>
            <a:ext cx="2265363" cy="304800"/>
          </a:xfrm>
        </p:spPr>
        <p:txBody>
          <a:bodyPr>
            <a:noAutofit/>
          </a:bodyPr>
          <a:lstStyle>
            <a:lvl1pPr marL="0" indent="0">
              <a:buNone/>
              <a:defRPr sz="1050" b="1" spc="30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328A27F-4D37-7494-A00B-931B4AF98F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6161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72A2B16-E242-6548-CD5D-53E996473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4120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A825916-F570-17B8-0B3F-0C3FC2D746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207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36D7BCE-44E5-237E-196D-3CCF2508C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10039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3883B4-1028-4C70-B921-8FBE334E7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37996" y="2744411"/>
            <a:ext cx="1554480" cy="839183"/>
          </a:xfrm>
        </p:spPr>
        <p:txBody>
          <a:bodyPr>
            <a:noAutofit/>
          </a:bodyPr>
          <a:lstStyle>
            <a:lvl1pPr marL="0" indent="0">
              <a:lnSpc>
                <a:spcPts val="1125"/>
              </a:lnSpc>
              <a:spcBef>
                <a:spcPts val="0"/>
              </a:spcBef>
              <a:buNone/>
              <a:defRPr sz="900" b="0" spc="0" baseline="0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538B7A0-40F3-1C50-E2D0-32A910FA7E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5581" y="4431347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61A86-EC14-71A1-4F13-8B5BC4DD2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38707" y="5667186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8AB8BDC8-1B18-C92E-002C-8E803D4474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65161" y="5079585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3C067A7-180C-CF1A-D355-AD9EFC1F30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31907" y="358359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89E3E312-6617-D826-24CF-F63DC3CC30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06265" y="3837782"/>
            <a:ext cx="1186179" cy="678064"/>
          </a:xfrm>
        </p:spPr>
        <p:txBody>
          <a:bodyPr>
            <a:noAutofit/>
          </a:bodyPr>
          <a:lstStyle>
            <a:lvl1pPr marL="0" indent="0" algn="ctr">
              <a:buNone/>
              <a:defRPr sz="4050" b="1">
                <a:solidFill>
                  <a:schemeClr val="tx2"/>
                </a:solidFill>
              </a:defRPr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917E37C-ED1D-4637-B0A8-CAECDD7D93A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606164" y="4551608"/>
            <a:ext cx="4828475" cy="23063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F4481A-F390-506E-4D63-DCAF6A499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0709" y="2352259"/>
            <a:ext cx="10816491" cy="3363296"/>
            <a:chOff x="700708" y="2352259"/>
            <a:chExt cx="10816491" cy="336329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C823AA8-87A2-6001-8638-F343F400A907}"/>
                </a:ext>
              </a:extLst>
            </p:cNvPr>
            <p:cNvCxnSpPr/>
            <p:nvPr/>
          </p:nvCxnSpPr>
          <p:spPr>
            <a:xfrm flipV="1">
              <a:off x="774192" y="2451652"/>
              <a:ext cx="10643616" cy="0"/>
            </a:xfrm>
            <a:prstGeom prst="line">
              <a:avLst/>
            </a:prstGeom>
            <a:ln w="412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0F530E-03E0-7D35-0708-C47F20465254}"/>
                </a:ext>
              </a:extLst>
            </p:cNvPr>
            <p:cNvSpPr/>
            <p:nvPr/>
          </p:nvSpPr>
          <p:spPr>
            <a:xfrm>
              <a:off x="700708" y="2355117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A788A8-1C4E-8BDE-6C51-E311BF3124E3}"/>
                </a:ext>
              </a:extLst>
            </p:cNvPr>
            <p:cNvSpPr/>
            <p:nvPr/>
          </p:nvSpPr>
          <p:spPr>
            <a:xfrm>
              <a:off x="11318416" y="2352259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1C1373-9DDB-2372-515C-67A4497F18F3}"/>
                </a:ext>
              </a:extLst>
            </p:cNvPr>
            <p:cNvSpPr/>
            <p:nvPr/>
          </p:nvSpPr>
          <p:spPr>
            <a:xfrm>
              <a:off x="2824250" y="2360833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60ED27-416C-9721-BEEA-92FC9C6AFE0E}"/>
                </a:ext>
              </a:extLst>
            </p:cNvPr>
            <p:cNvSpPr/>
            <p:nvPr/>
          </p:nvSpPr>
          <p:spPr>
            <a:xfrm>
              <a:off x="7071334" y="2366548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FF3DAA4-1C0B-AB02-F0B7-AB04EEC80102}"/>
                </a:ext>
              </a:extLst>
            </p:cNvPr>
            <p:cNvSpPr/>
            <p:nvPr/>
          </p:nvSpPr>
          <p:spPr>
            <a:xfrm>
              <a:off x="9194876" y="2357975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69A7-8DDB-F115-7D7E-F3F5AE9B0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303" y="2451650"/>
              <a:ext cx="1592" cy="183899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0D69B09-D0BB-952F-77DD-FCCA81D192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650" y="2528842"/>
              <a:ext cx="1592" cy="298489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22965-77FF-0956-83EE-ADA9AFCC2F19}"/>
                </a:ext>
              </a:extLst>
            </p:cNvPr>
            <p:cNvCxnSpPr>
              <a:cxnSpLocks/>
            </p:cNvCxnSpPr>
            <p:nvPr/>
          </p:nvCxnSpPr>
          <p:spPr>
            <a:xfrm>
              <a:off x="7166344" y="2496185"/>
              <a:ext cx="0" cy="932815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744AE-A2B8-150A-697C-7B187BF232E9}"/>
                </a:ext>
              </a:extLst>
            </p:cNvPr>
            <p:cNvCxnSpPr>
              <a:cxnSpLocks/>
            </p:cNvCxnSpPr>
            <p:nvPr/>
          </p:nvCxnSpPr>
          <p:spPr>
            <a:xfrm>
              <a:off x="9287099" y="2447199"/>
              <a:ext cx="2067" cy="122673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3F6EBDE-BEBF-BD05-1C3E-6D9CC3A8AA09}"/>
                </a:ext>
              </a:extLst>
            </p:cNvPr>
            <p:cNvSpPr/>
            <p:nvPr/>
          </p:nvSpPr>
          <p:spPr>
            <a:xfrm>
              <a:off x="704140" y="4297941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5038F8-201A-2CE5-4F96-F5D0E07662F3}"/>
                </a:ext>
              </a:extLst>
            </p:cNvPr>
            <p:cNvSpPr/>
            <p:nvPr/>
          </p:nvSpPr>
          <p:spPr>
            <a:xfrm>
              <a:off x="2817657" y="5516772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52144A-0227-81C8-5EB0-4217CF1CEEE7}"/>
                </a:ext>
              </a:extLst>
            </p:cNvPr>
            <p:cNvSpPr/>
            <p:nvPr/>
          </p:nvSpPr>
          <p:spPr>
            <a:xfrm>
              <a:off x="7066553" y="3435384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30680FA-8F0F-C8F7-B721-95071536CA7B}"/>
                </a:ext>
              </a:extLst>
            </p:cNvPr>
            <p:cNvSpPr/>
            <p:nvPr/>
          </p:nvSpPr>
          <p:spPr>
            <a:xfrm>
              <a:off x="9194875" y="3679366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0A1FBC1-3297-E024-39A0-EAA69D56BF0E}"/>
                </a:ext>
              </a:extLst>
            </p:cNvPr>
            <p:cNvSpPr/>
            <p:nvPr/>
          </p:nvSpPr>
          <p:spPr>
            <a:xfrm>
              <a:off x="4947792" y="2363691"/>
              <a:ext cx="198783" cy="1987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BE65DC2-ECCC-4D86-835A-D8496935F50C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 flipH="1">
              <a:off x="5043997" y="2562474"/>
              <a:ext cx="3187" cy="234858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77BD28-BE76-FA51-3EE0-19344A0C1BDE}"/>
                </a:ext>
              </a:extLst>
            </p:cNvPr>
            <p:cNvSpPr/>
            <p:nvPr/>
          </p:nvSpPr>
          <p:spPr>
            <a:xfrm>
              <a:off x="4944605" y="4911060"/>
              <a:ext cx="198783" cy="198783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315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E989-79CE-43C1-8C9B-ED200B964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AB4E8-0EC3-4201-968C-968A67285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70BE7-0243-4E03-B485-4AD6934A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898F-D1C2-4C13-8AF0-37F22A46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C8339-0C0C-4CF3-AD19-5CEA73EF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102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2297-E818-4A33-A710-E4764824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CA16-091A-451D-A515-9880055C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9A40E-F08A-4742-A7C8-FDCC9FA8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EB86-E549-4D6B-979A-F90D8873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9BEFF-2E0F-4128-A152-C5DA9CAC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1537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6EFA-4B62-4C42-843A-DE5B3BB1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DC76D-825F-4635-A02A-8CE4478E1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F3DA-4400-45F3-8F50-120A93CF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719B9-72C4-457A-8381-F9343D19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F6F2-BF00-47DD-8F44-89B6EE87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0377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C883-2AF9-4995-BE43-9D1B6D8D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7E64F-FCEF-490F-8000-DDEE26DF5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0C34C-B282-40AF-B793-823673B09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547A1-D8C5-4CBA-8F1C-05B13956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245B3-1116-4999-ABEA-6EFD0C0E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705DF-8284-4861-BCBF-CE7C31A6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906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3FD6-28AA-4BFF-9103-D2D09196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5F523-FC35-4A59-9C77-E8444FAD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B0DC6-07B3-4452-9774-168DD5A0D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5AA48-2B7B-4F8C-902E-A5035ED7D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467D5-E758-427F-985A-C0C99593B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5DC41-91A1-4DB7-B0B2-E0CFFE31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38080-3CE5-49B1-B32B-548B7C70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A0D47-6DB8-4561-89F6-25706BCC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374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75CE-6628-470B-9526-8E3BFB09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D5604-5DAB-4201-A8D1-559417AE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44734-FFD2-4574-BA15-DF9B57A3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E0796-DBCE-4616-842D-DB9BC3CA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25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6EB3E-D24C-4004-992D-9E88210E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A4205-F4E8-4952-9F65-EB92B7A3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FCE1-19E3-4441-B7B4-5696C353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83446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E7A0-939E-425C-A3BE-273E690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7969-1872-4D54-9AF9-129E38CD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1566A-AF02-49D2-9726-53B454860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5412B-5B48-4055-BE39-C25E2B33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9ECC-FE80-48F1-B3CD-DAB08F4E5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87F06-4BFA-4568-87B8-A3B03964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4372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43D4-278B-442B-9026-EF48B41D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3EF0F-3CBB-4806-81C8-7210A952F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1E5A9-AEB6-4809-8913-104E0B0C4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26799-D85D-42A6-9273-B5B062A6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29B5C-4133-4EBF-8B13-01CE8D13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11AE3-E5C3-4343-AC8D-1D4F7EA3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501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0425-D647-4C3F-95CD-99F93CB6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E1B4-51A7-4482-AD1F-C0D2F56E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D06E2-7054-4118-859A-C577235D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1E0BC-EF0D-46B3-AE1A-286B549F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712DD-C5EA-48D9-8FBB-CA89671B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55476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36A97-A667-476E-A75D-05F7A3921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7DC9C-415A-434F-867D-43C967419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FBB4-C272-4A83-BF79-6A314EB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2B62-EEDD-4C71-A57C-DA5807C1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89150-7CC9-434C-9AF9-F2721C1E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17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Research, 22.01.2026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b="1" i="0" baseline="0" dirty="0">
                <a:solidFill>
                  <a:schemeClr val="bg1"/>
                </a:solidFill>
              </a:rPr>
              <a:t>Select DLR-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colours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below</a:t>
            </a:r>
            <a:r>
              <a:rPr lang="de-DE" sz="1400" b="1" i="0" baseline="0" dirty="0">
                <a:solidFill>
                  <a:schemeClr val="bg1"/>
                </a:solidFill>
              </a:rPr>
              <a:t> with </a:t>
            </a:r>
          </a:p>
          <a:p>
            <a:pPr algn="ctr"/>
            <a:r>
              <a:rPr lang="de-DE" sz="1400" b="1" i="0" baseline="0" dirty="0" err="1">
                <a:solidFill>
                  <a:schemeClr val="bg1"/>
                </a:solidFill>
              </a:rPr>
              <a:t>the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eyepopper</a:t>
            </a:r>
            <a:r>
              <a:rPr lang="de-DE" sz="1400" b="1" i="0" baseline="0" dirty="0">
                <a:solidFill>
                  <a:schemeClr val="bg1"/>
                </a:solidFill>
              </a:rPr>
              <a:t>/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picker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tool</a:t>
            </a:r>
            <a:endParaRPr lang="de-CR" sz="1400" b="1" i="0" baseline="0" dirty="0">
              <a:solidFill>
                <a:schemeClr val="bg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Editing the header and footer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Menu: "Insert" &gt; "Header and Footer" (see screenshot 1)</a:t>
              </a:r>
              <a:endParaRPr lang="de-DE" sz="1600" dirty="0">
                <a:solidFill>
                  <a:schemeClr val="bg1"/>
                </a:solidFill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Adapt the input dialog to your individual needs and confirm the input by clicking the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"Apply to all" button if the change is to be made globally for all slides. 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In case of partial change of single slides,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you have to confirm with the button "Apply".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86" r:id="rId11"/>
    <p:sldLayoutId id="2147483726" r:id="rId12"/>
    <p:sldLayoutId id="2147483712" r:id="rId13"/>
    <p:sldLayoutId id="2147483683" r:id="rId14"/>
    <p:sldLayoutId id="2147483662" r:id="rId15"/>
    <p:sldLayoutId id="2147483658" r:id="rId16"/>
    <p:sldLayoutId id="2147483663" r:id="rId17"/>
    <p:sldLayoutId id="2147483671" r:id="rId18"/>
    <p:sldLayoutId id="2147483675" r:id="rId19"/>
    <p:sldLayoutId id="2147483664" r:id="rId20"/>
    <p:sldLayoutId id="2147483665" r:id="rId21"/>
    <p:sldLayoutId id="2147483681" r:id="rId22"/>
    <p:sldLayoutId id="2147483670" r:id="rId23"/>
    <p:sldLayoutId id="2147483678" r:id="rId24"/>
    <p:sldLayoutId id="2147483687" r:id="rId25"/>
    <p:sldLayoutId id="2147483684" r:id="rId26"/>
    <p:sldLayoutId id="2147483661" r:id="rId27"/>
    <p:sldLayoutId id="2147483659" r:id="rId28"/>
    <p:sldLayoutId id="2147483707" r:id="rId29"/>
    <p:sldLayoutId id="2147483667" r:id="rId30"/>
    <p:sldLayoutId id="2147483708" r:id="rId31"/>
    <p:sldLayoutId id="2147483673" r:id="rId32"/>
    <p:sldLayoutId id="2147483709" r:id="rId33"/>
    <p:sldLayoutId id="2147483676" r:id="rId34"/>
    <p:sldLayoutId id="2147483668" r:id="rId35"/>
    <p:sldLayoutId id="2147483669" r:id="rId36"/>
    <p:sldLayoutId id="2147483682" r:id="rId37"/>
    <p:sldLayoutId id="2147483666" r:id="rId38"/>
    <p:sldLayoutId id="2147483677" r:id="rId39"/>
    <p:sldLayoutId id="2147483688" r:id="rId40"/>
    <p:sldLayoutId id="2147483685" r:id="rId41"/>
    <p:sldLayoutId id="2147483706" r:id="rId42"/>
    <p:sldLayoutId id="2147483692" r:id="rId43"/>
    <p:sldLayoutId id="2147483655" r:id="rId44"/>
    <p:sldLayoutId id="2147483691" r:id="rId45"/>
    <p:sldLayoutId id="2147483693" r:id="rId46"/>
    <p:sldLayoutId id="2147483727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502C-4D4A-4C30-AA8C-483DCF4E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607ED-F14F-4DDA-A53B-7962B20C2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7F275-67D5-4846-9440-F86A793C8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41BD-5D75-4356-B3E2-3CB8FB5D0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D38D-7E21-4998-93FB-B37F816F6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E8AA9-3484-4DE0-89C2-A047F9A25A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8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ADABB7-F9A6-4A4D-9415-296AC5E687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Sharon Thomas, DLR Institute of Solar Research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Select DLR-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colours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below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eyepopper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color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picker</a:t>
            </a: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D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tool</a:t>
            </a:r>
            <a:endParaRPr kumimoji="0" lang="de-CR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Editing the header and footer</a:t>
              </a:r>
              <a:endParaRPr kumimoji="0" lang="de-C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Menu: "Insert" &gt; "Header and Footer" (see screenshot 1)</a:t>
              </a:r>
              <a:endPara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Adapt the input dialog to your individual needs and confirm the input by clicking the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"Apply to all" button if the change is to be made globally for all slides.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In case of partial change of single slides,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have to confirm with the button "Apply".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14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210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1026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orient="horz" pos="93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07AC2-9B02-4668-BD0A-DA464E28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03F-3624-482E-9813-12A6E3E2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2BACA-CECC-4134-BBD9-04855242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1A59-E76E-4D65-AEDF-0FD68AA6C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Sharon Thomas, DLR Institute of Solar Research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EC1C-2E13-468B-854D-D2DBA9DF1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0E7CD-0CC4-49B8-9A5E-3DF9F81D6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0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hyperlink" Target="https://www.immobilienscout24.de/" TargetMode="External"/><Relationship Id="rId4" Type="http://schemas.openxmlformats.org/officeDocument/2006/relationships/hyperlink" Target="https://arxiv.org/html/2407.10121v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866522C6-15B9-4AE8-9B42-91782BB9B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3637211"/>
            <a:ext cx="9792752" cy="1141439"/>
          </a:xfrm>
        </p:spPr>
        <p:txBody>
          <a:bodyPr/>
          <a:lstStyle/>
          <a:p>
            <a:r>
              <a:rPr lang="de-DE" sz="3000" dirty="0">
                <a:solidFill>
                  <a:schemeClr val="bg2"/>
                </a:solidFill>
                <a:latin typeface="Calibri"/>
              </a:rPr>
              <a:t>Master Thesis </a:t>
            </a:r>
            <a:r>
              <a:rPr lang="en-DE" sz="3000" dirty="0">
                <a:solidFill>
                  <a:schemeClr val="bg2"/>
                </a:solidFill>
                <a:latin typeface="Calibri"/>
              </a:rPr>
              <a:t>Presentation</a:t>
            </a:r>
            <a:endParaRPr lang="en-GB" sz="30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8C5F92-6142-46B9-BFE5-4AB8AFE1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40" y="1156547"/>
            <a:ext cx="9558828" cy="1855954"/>
          </a:xfrm>
        </p:spPr>
        <p:txBody>
          <a:bodyPr/>
          <a:lstStyle/>
          <a:p>
            <a:r>
              <a:rPr lang="en-GB" sz="3200" dirty="0"/>
              <a:t>Impact of Automated Thermal Zoning on Building Energy Simulations: Ground-Truth Validation and Sensitivity Analysis</a:t>
            </a:r>
            <a:endParaRPr lang="de-DE" sz="3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AF9B05-84A9-4D6B-9A24-29C716833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0F753-30A9-47D5-BD82-BEEB10DA0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A18093-1BF3-472A-61BA-3229551B820A}"/>
              </a:ext>
            </a:extLst>
          </p:cNvPr>
          <p:cNvSpPr txBox="1"/>
          <p:nvPr/>
        </p:nvSpPr>
        <p:spPr>
          <a:xfrm>
            <a:off x="3977639" y="5029200"/>
            <a:ext cx="42976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dirty="0">
                <a:solidFill>
                  <a:prstClr val="black"/>
                </a:solidFill>
                <a:latin typeface="Calibri"/>
              </a:rPr>
              <a:t>Sharon Thomas </a:t>
            </a:r>
            <a:r>
              <a:rPr sz="2000" dirty="0" err="1">
                <a:solidFill>
                  <a:prstClr val="black"/>
                </a:solidFill>
                <a:latin typeface="Calibri"/>
              </a:rPr>
              <a:t>Charivupurayidom</a:t>
            </a:r>
            <a:endParaRPr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0011A-5F3E-3CCB-2099-4835CF95BE3D}"/>
              </a:ext>
            </a:extLst>
          </p:cNvPr>
          <p:cNvSpPr txBox="1"/>
          <p:nvPr/>
        </p:nvSpPr>
        <p:spPr>
          <a:xfrm>
            <a:off x="3246120" y="5321808"/>
            <a:ext cx="57607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>
            <a:defPPr>
              <a:defRPr lang="de-DE"/>
            </a:defPPr>
            <a:lvl1pPr algn="ctr">
              <a:defRPr sz="2000">
                <a:solidFill>
                  <a:prstClr val="black"/>
                </a:solidFill>
                <a:latin typeface="Calibri"/>
              </a:defRPr>
            </a:lvl1pPr>
          </a:lstStyle>
          <a:p>
            <a:r>
              <a:rPr sz="1600" dirty="0"/>
              <a:t>M.Sc. Civil Systems Engineering · </a:t>
            </a:r>
            <a:r>
              <a:rPr sz="1600" dirty="0" err="1"/>
              <a:t>Technische</a:t>
            </a:r>
            <a:r>
              <a:rPr sz="1600" dirty="0"/>
              <a:t> Universität Berlin</a:t>
            </a:r>
          </a:p>
        </p:txBody>
      </p:sp>
    </p:spTree>
    <p:extLst>
      <p:ext uri="{BB962C8B-B14F-4D97-AF65-F5344CB8AC3E}">
        <p14:creationId xmlns:p14="http://schemas.microsoft.com/office/powerpoint/2010/main" val="20844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CB0A-733D-92B7-CDFD-F5A09C22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Acknowledgement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337A-E28B-B9EB-DE17-B4DACCAB1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1DB1C9-8EDB-A0DD-A574-1ECB2BC32FFB}"/>
              </a:ext>
            </a:extLst>
          </p:cNvPr>
          <p:cNvSpPr txBox="1"/>
          <p:nvPr/>
        </p:nvSpPr>
        <p:spPr>
          <a:xfrm>
            <a:off x="695325" y="879749"/>
            <a:ext cx="6949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Arial"/>
              </a:defRPr>
            </a:pPr>
            <a:r>
              <a:t>With sincere thanks to everyone who supported this thesis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E6179-5A2E-108A-7E3A-F8B1125F1E05}"/>
              </a:ext>
            </a:extLst>
          </p:cNvPr>
          <p:cNvSpPr/>
          <p:nvPr/>
        </p:nvSpPr>
        <p:spPr>
          <a:xfrm>
            <a:off x="713613" y="1318661"/>
            <a:ext cx="10469880" cy="10972"/>
          </a:xfrm>
          <a:prstGeom prst="rect">
            <a:avLst/>
          </a:prstGeom>
          <a:solidFill>
            <a:srgbClr val="D2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6877F-E42A-40BD-3562-709F9F8A1355}"/>
              </a:ext>
            </a:extLst>
          </p:cNvPr>
          <p:cNvSpPr txBox="1"/>
          <p:nvPr/>
        </p:nvSpPr>
        <p:spPr>
          <a:xfrm>
            <a:off x="1509142" y="2508513"/>
            <a:ext cx="26974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4E69"/>
                </a:solidFill>
                <a:latin typeface="Arial"/>
              </a:defRPr>
            </a:pPr>
            <a:r>
              <a:rPr sz="1500" b="1" dirty="0">
                <a:solidFill>
                  <a:srgbClr val="3773A9"/>
                </a:solidFill>
                <a:latin typeface="Arial"/>
              </a:rPr>
              <a:t>Prof. Dr. Timo Hartmann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932F83-2CCE-D29D-8DB4-BBD4686F2389}"/>
              </a:ext>
            </a:extLst>
          </p:cNvPr>
          <p:cNvSpPr txBox="1"/>
          <p:nvPr/>
        </p:nvSpPr>
        <p:spPr>
          <a:xfrm>
            <a:off x="1509142" y="28621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82828"/>
                </a:solidFill>
                <a:latin typeface="Arial"/>
              </a:defRPr>
            </a:pPr>
            <a:r>
              <a:t>Scientific supervision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764362-BF58-0A86-1191-5FBC9DCA2E95}"/>
              </a:ext>
            </a:extLst>
          </p:cNvPr>
          <p:cNvSpPr txBox="1"/>
          <p:nvPr/>
        </p:nvSpPr>
        <p:spPr>
          <a:xfrm>
            <a:off x="1509142" y="3136440"/>
            <a:ext cx="2697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Arial"/>
              </a:defRPr>
            </a:pPr>
            <a:r>
              <a:t>Technische Universität Berlin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B31972-530E-A6CF-F7EB-DC265CBA68BA}"/>
              </a:ext>
            </a:extLst>
          </p:cNvPr>
          <p:cNvSpPr txBox="1"/>
          <p:nvPr/>
        </p:nvSpPr>
        <p:spPr>
          <a:xfrm>
            <a:off x="1600582" y="3621072"/>
            <a:ext cx="2514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282828"/>
                </a:solidFill>
                <a:latin typeface="Arial"/>
              </a:defRPr>
            </a:pPr>
            <a:r>
              <a:t>for his valuable guidance, feedback and academic support throughout this work.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F21D03-EE94-4ADB-3E1F-C3371BF0D8E3}"/>
              </a:ext>
            </a:extLst>
          </p:cNvPr>
          <p:cNvSpPr txBox="1"/>
          <p:nvPr/>
        </p:nvSpPr>
        <p:spPr>
          <a:xfrm>
            <a:off x="4718685" y="2508513"/>
            <a:ext cx="2847368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de-DE"/>
            </a:defPPr>
            <a:lvl1pPr algn="ctr">
              <a:defRPr sz="1500" b="1">
                <a:solidFill>
                  <a:srgbClr val="3773A9"/>
                </a:solidFill>
                <a:latin typeface="Arial"/>
              </a:defRPr>
            </a:lvl1pPr>
          </a:lstStyle>
          <a:p>
            <a:r>
              <a:rPr dirty="0"/>
              <a:t>Dr. Jacob </a:t>
            </a:r>
            <a:r>
              <a:rPr dirty="0" err="1"/>
              <a:t>Estevam</a:t>
            </a:r>
            <a:r>
              <a:rPr dirty="0"/>
              <a:t> Schmiedt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F6C851-57B6-74CA-33E5-E38B51082DEB}"/>
              </a:ext>
            </a:extLst>
          </p:cNvPr>
          <p:cNvSpPr txBox="1"/>
          <p:nvPr/>
        </p:nvSpPr>
        <p:spPr>
          <a:xfrm>
            <a:off x="4718685" y="28621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82828"/>
                </a:solidFill>
                <a:latin typeface="Arial"/>
              </a:defRPr>
            </a:pPr>
            <a:r>
              <a:t>Scientific guidance · Second examiner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13A69F-7967-9B4A-C330-9170A55C0E1C}"/>
              </a:ext>
            </a:extLst>
          </p:cNvPr>
          <p:cNvSpPr txBox="1"/>
          <p:nvPr/>
        </p:nvSpPr>
        <p:spPr>
          <a:xfrm>
            <a:off x="4718685" y="3136440"/>
            <a:ext cx="2697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Arial"/>
              </a:defRPr>
            </a:pPr>
            <a:r>
              <a:t>DLR Institute of Solar Research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C683C5-05C5-9432-DE6A-47AAB6DA1751}"/>
              </a:ext>
            </a:extLst>
          </p:cNvPr>
          <p:cNvSpPr txBox="1"/>
          <p:nvPr/>
        </p:nvSpPr>
        <p:spPr>
          <a:xfrm>
            <a:off x="4810125" y="3621072"/>
            <a:ext cx="2514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282828"/>
                </a:solidFill>
                <a:latin typeface="Arial"/>
              </a:defRPr>
            </a:pPr>
            <a:r>
              <a:t>for his constructive feedback, guidance and support throughout the thesis.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F0B647-B577-4A2D-768B-E7094D706510}"/>
              </a:ext>
            </a:extLst>
          </p:cNvPr>
          <p:cNvSpPr txBox="1"/>
          <p:nvPr/>
        </p:nvSpPr>
        <p:spPr>
          <a:xfrm>
            <a:off x="7928230" y="2487216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de-DE"/>
            </a:defPPr>
            <a:lvl1pPr algn="ctr">
              <a:defRPr sz="1500" b="1">
                <a:solidFill>
                  <a:srgbClr val="3773A9"/>
                </a:solidFill>
                <a:latin typeface="Arial"/>
              </a:defRPr>
            </a:lvl1pPr>
          </a:lstStyle>
          <a:p>
            <a:r>
              <a:t>Kevin Waiz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CF78AE-EEC0-F4FD-E92B-FC666B89CBF4}"/>
              </a:ext>
            </a:extLst>
          </p:cNvPr>
          <p:cNvSpPr txBox="1"/>
          <p:nvPr/>
        </p:nvSpPr>
        <p:spPr>
          <a:xfrm>
            <a:off x="7928230" y="2862120"/>
            <a:ext cx="2697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82828"/>
                </a:solidFill>
                <a:latin typeface="Arial"/>
              </a:defRPr>
            </a:pPr>
            <a:r>
              <a:t>DLR supervision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0854D0-2E52-3B2F-44B8-FFC27BA52306}"/>
              </a:ext>
            </a:extLst>
          </p:cNvPr>
          <p:cNvSpPr txBox="1"/>
          <p:nvPr/>
        </p:nvSpPr>
        <p:spPr>
          <a:xfrm>
            <a:off x="7928230" y="3136440"/>
            <a:ext cx="2697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6E6E6E"/>
                </a:solidFill>
                <a:latin typeface="Arial"/>
              </a:defRPr>
            </a:pPr>
            <a:r>
              <a:t>DLR Institute of Solar Research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47569F-1333-73A5-59A5-7A515DCBD27A}"/>
              </a:ext>
            </a:extLst>
          </p:cNvPr>
          <p:cNvSpPr txBox="1"/>
          <p:nvPr/>
        </p:nvSpPr>
        <p:spPr>
          <a:xfrm>
            <a:off x="8019670" y="3621072"/>
            <a:ext cx="2514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282828"/>
                </a:solidFill>
                <a:latin typeface="Arial"/>
              </a:defRPr>
            </a:pPr>
            <a:r>
              <a:t>for his dedicated technical supervision, helpful discussions and continuous support.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3CDBC5-7D47-AFE2-F396-66C7160423D3}"/>
              </a:ext>
            </a:extLst>
          </p:cNvPr>
          <p:cNvSpPr/>
          <p:nvPr/>
        </p:nvSpPr>
        <p:spPr>
          <a:xfrm>
            <a:off x="4491784" y="2083753"/>
            <a:ext cx="9144" cy="2852928"/>
          </a:xfrm>
          <a:prstGeom prst="rect">
            <a:avLst/>
          </a:prstGeom>
          <a:solidFill>
            <a:srgbClr val="D2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F9F901-EC3D-3BB4-F8FC-B5FFFCB4A615}"/>
              </a:ext>
            </a:extLst>
          </p:cNvPr>
          <p:cNvSpPr/>
          <p:nvPr/>
        </p:nvSpPr>
        <p:spPr>
          <a:xfrm>
            <a:off x="7701329" y="2083753"/>
            <a:ext cx="9144" cy="2852928"/>
          </a:xfrm>
          <a:prstGeom prst="rect">
            <a:avLst/>
          </a:prstGeom>
          <a:solidFill>
            <a:srgbClr val="D2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048329-80E2-9301-FFDA-E3AAD39A78C0}"/>
              </a:ext>
            </a:extLst>
          </p:cNvPr>
          <p:cNvSpPr txBox="1"/>
          <p:nvPr/>
        </p:nvSpPr>
        <p:spPr>
          <a:xfrm>
            <a:off x="1188720" y="5929269"/>
            <a:ext cx="9646920" cy="28469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>
            <a:defPPr>
              <a:defRPr lang="de-DE"/>
            </a:defPPr>
            <a:lvl1pPr algn="ctr">
              <a:defRPr sz="1140" b="1">
                <a:solidFill>
                  <a:srgbClr val="3773A9"/>
                </a:solidFill>
              </a:defRPr>
            </a:lvl1pPr>
          </a:lstStyle>
          <a:p>
            <a:r>
              <a:rPr dirty="0"/>
              <a:t>Thank you for your guidance, support, and valuable feedback throughout the development of this thesis.</a:t>
            </a:r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F7A9A4A3-15CF-7A77-50A0-7F62E6F2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693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5117-43B9-4F26-1B35-F51DCBF7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10B7-FCD7-C133-1971-D6DD288D5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FFA4B-534C-D0E3-9A9F-EAC98850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CE430F-7545-B7A6-0F66-3D94DAAE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Research m</a:t>
            </a:r>
            <a:r>
              <a:rPr lang="de-DE" dirty="0" err="1"/>
              <a:t>otivation</a:t>
            </a:r>
            <a:br>
              <a:rPr lang="de-DE" dirty="0"/>
            </a:br>
            <a:r>
              <a:rPr lang="en-IN" sz="2000" dirty="0">
                <a:solidFill>
                  <a:srgbClr val="7F7F7F"/>
                </a:solidFill>
              </a:rPr>
              <a:t>Why thermal zoning matters at urban scale</a:t>
            </a:r>
            <a:endParaRPr lang="en-GB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96F42F0-CA55-1E5E-DF0D-323FA0A6C41A}"/>
              </a:ext>
            </a:extLst>
          </p:cNvPr>
          <p:cNvGrpSpPr/>
          <p:nvPr/>
        </p:nvGrpSpPr>
        <p:grpSpPr>
          <a:xfrm>
            <a:off x="749808" y="1240142"/>
            <a:ext cx="8703794" cy="1000138"/>
            <a:chOff x="749808" y="1240142"/>
            <a:chExt cx="8703794" cy="10001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5682A1-5D90-46CE-4C82-1D51218919E4}"/>
                </a:ext>
              </a:extLst>
            </p:cNvPr>
            <p:cNvSpPr txBox="1"/>
            <p:nvPr/>
          </p:nvSpPr>
          <p:spPr>
            <a:xfrm>
              <a:off x="749808" y="1353312"/>
              <a:ext cx="502920" cy="32004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2100" b="1" dirty="0">
                  <a:solidFill>
                    <a:srgbClr val="3773A9"/>
                  </a:solidFill>
                </a:rPr>
                <a:t>01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B7BAA4-8358-5B9F-BDD5-5E298883BB83}"/>
                </a:ext>
              </a:extLst>
            </p:cNvPr>
            <p:cNvSpPr txBox="1"/>
            <p:nvPr/>
          </p:nvSpPr>
          <p:spPr>
            <a:xfrm>
              <a:off x="1344168" y="1344168"/>
              <a:ext cx="5559552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650" b="1" dirty="0">
                  <a:solidFill>
                    <a:srgbClr val="161616"/>
                  </a:solidFill>
                </a:rPr>
                <a:t>Urban-scale models rely on simplified building data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2F1C49-2CB7-6EDC-4258-E8192122EDE4}"/>
                </a:ext>
              </a:extLst>
            </p:cNvPr>
            <p:cNvSpPr txBox="1"/>
            <p:nvPr/>
          </p:nvSpPr>
          <p:spPr>
            <a:xfrm>
              <a:off x="1344168" y="1673352"/>
              <a:ext cx="5559552" cy="56692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260" b="0">
                  <a:solidFill>
                    <a:srgbClr val="161616"/>
                  </a:solidFill>
                </a:rPr>
                <a:t>District and city simulations commonly use LoD2 / CityGML and building-stock assumptions to represent many buildings efficiently.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198041B-D737-6CFB-B361-25F2B6387BE5}"/>
                </a:ext>
              </a:extLst>
            </p:cNvPr>
            <p:cNvGrpSpPr/>
            <p:nvPr/>
          </p:nvGrpSpPr>
          <p:grpSpPr>
            <a:xfrm>
              <a:off x="8201255" y="1240142"/>
              <a:ext cx="1252347" cy="985285"/>
              <a:chOff x="8037310" y="1377134"/>
              <a:chExt cx="960120" cy="80467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21AE4BD-BAC3-0FDF-3277-E83CB89B4196}"/>
                  </a:ext>
                </a:extLst>
              </p:cNvPr>
              <p:cNvSpPr/>
              <p:nvPr/>
            </p:nvSpPr>
            <p:spPr>
              <a:xfrm>
                <a:off x="8055598" y="1377134"/>
                <a:ext cx="914400" cy="566928"/>
              </a:xfrm>
              <a:prstGeom prst="rect">
                <a:avLst/>
              </a:prstGeom>
              <a:noFill/>
              <a:ln w="17780"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2166277-76BD-7DC0-D918-3399869AD493}"/>
                  </a:ext>
                </a:extLst>
              </p:cNvPr>
              <p:cNvSpPr/>
              <p:nvPr/>
            </p:nvSpPr>
            <p:spPr>
              <a:xfrm>
                <a:off x="8165326" y="1560014"/>
                <a:ext cx="146304" cy="310896"/>
              </a:xfrm>
              <a:prstGeom prst="rect">
                <a:avLst/>
              </a:prstGeom>
              <a:solidFill>
                <a:srgbClr val="3773A9"/>
              </a:solidFill>
              <a:ln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3CA73F-52D7-7714-6781-374E79F7BEBD}"/>
                  </a:ext>
                </a:extLst>
              </p:cNvPr>
              <p:cNvSpPr/>
              <p:nvPr/>
            </p:nvSpPr>
            <p:spPr>
              <a:xfrm>
                <a:off x="8339062" y="1431998"/>
                <a:ext cx="173736" cy="438912"/>
              </a:xfrm>
              <a:prstGeom prst="rect">
                <a:avLst/>
              </a:prstGeom>
              <a:solidFill>
                <a:srgbClr val="3773A9"/>
              </a:solidFill>
              <a:ln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37B7597-F5A1-96B3-64D5-50274760597E}"/>
                  </a:ext>
                </a:extLst>
              </p:cNvPr>
              <p:cNvSpPr/>
              <p:nvPr/>
            </p:nvSpPr>
            <p:spPr>
              <a:xfrm>
                <a:off x="8549374" y="1505150"/>
                <a:ext cx="146304" cy="365760"/>
              </a:xfrm>
              <a:prstGeom prst="rect">
                <a:avLst/>
              </a:prstGeom>
              <a:solidFill>
                <a:srgbClr val="3773A9"/>
              </a:solidFill>
              <a:ln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71868D-0751-8638-92BF-ACCDD9C87EB0}"/>
                  </a:ext>
                </a:extLst>
              </p:cNvPr>
              <p:cNvSpPr txBox="1"/>
              <p:nvPr/>
            </p:nvSpPr>
            <p:spPr>
              <a:xfrm>
                <a:off x="8037310" y="1980638"/>
                <a:ext cx="960120" cy="201168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lstStyle/>
              <a:p>
                <a:pPr algn="ctr"/>
                <a:r>
                  <a:rPr sz="1000" b="0" dirty="0">
                    <a:solidFill>
                      <a:srgbClr val="7F7F7F"/>
                    </a:solidFill>
                  </a:rPr>
                  <a:t>Envelope</a:t>
                </a: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053751-D9DE-D52C-2AF9-6E2E1FEA191E}"/>
              </a:ext>
            </a:extLst>
          </p:cNvPr>
          <p:cNvGrpSpPr/>
          <p:nvPr/>
        </p:nvGrpSpPr>
        <p:grpSpPr>
          <a:xfrm>
            <a:off x="749808" y="2212353"/>
            <a:ext cx="8605868" cy="1491675"/>
            <a:chOff x="749808" y="2212353"/>
            <a:chExt cx="8605868" cy="14916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D6F6C8-5793-417F-0843-FC84C00A8A58}"/>
                </a:ext>
              </a:extLst>
            </p:cNvPr>
            <p:cNvSpPr txBox="1"/>
            <p:nvPr/>
          </p:nvSpPr>
          <p:spPr>
            <a:xfrm>
              <a:off x="749808" y="2746955"/>
              <a:ext cx="502920" cy="32004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2100" b="1">
                  <a:solidFill>
                    <a:srgbClr val="3773A9"/>
                  </a:solidFill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06855F-C426-FFA1-F512-4152AF53CC22}"/>
                </a:ext>
              </a:extLst>
            </p:cNvPr>
            <p:cNvSpPr txBox="1"/>
            <p:nvPr/>
          </p:nvSpPr>
          <p:spPr>
            <a:xfrm>
              <a:off x="1344168" y="2737811"/>
              <a:ext cx="5559552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650" b="1">
                  <a:solidFill>
                    <a:srgbClr val="161616"/>
                  </a:solidFill>
                </a:rPr>
                <a:t>Urban data capture the envelope — not the interior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D4544-1365-47FE-1452-618017F2D73D}"/>
                </a:ext>
              </a:extLst>
            </p:cNvPr>
            <p:cNvSpPr txBox="1"/>
            <p:nvPr/>
          </p:nvSpPr>
          <p:spPr>
            <a:xfrm>
              <a:off x="1344168" y="3066995"/>
              <a:ext cx="5559552" cy="56692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260" b="0">
                  <a:solidFill>
                    <a:srgbClr val="161616"/>
                  </a:solidFill>
                </a:rPr>
                <a:t>Dwelling layouts, stairwells, circulation spaces and their adjacency are rarely available consistently at urban scale.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6C9832B-E356-7FFC-CD66-8CFC3AAA4F9A}"/>
                </a:ext>
              </a:extLst>
            </p:cNvPr>
            <p:cNvGrpSpPr/>
            <p:nvPr/>
          </p:nvGrpSpPr>
          <p:grpSpPr>
            <a:xfrm>
              <a:off x="8258396" y="2212353"/>
              <a:ext cx="1097280" cy="1491675"/>
              <a:chOff x="9027139" y="2152920"/>
              <a:chExt cx="1097280" cy="1491675"/>
            </a:xfrm>
          </p:grpSpPr>
          <p:sp>
            <p:nvSpPr>
              <p:cNvPr id="24" name="Right Arrow 31">
                <a:extLst>
                  <a:ext uri="{FF2B5EF4-FFF2-40B4-BE49-F238E27FC236}">
                    <a16:creationId xmlns:a16="http://schemas.microsoft.com/office/drawing/2014/main" id="{024CDEFE-3C30-A380-9CD4-C888E9168B47}"/>
                  </a:ext>
                </a:extLst>
              </p:cNvPr>
              <p:cNvSpPr/>
              <p:nvPr/>
            </p:nvSpPr>
            <p:spPr>
              <a:xfrm rot="5400000">
                <a:off x="9333120" y="2296700"/>
                <a:ext cx="485318" cy="197758"/>
              </a:xfrm>
              <a:prstGeom prst="rightArrow">
                <a:avLst/>
              </a:prstGeom>
              <a:solidFill>
                <a:srgbClr val="3773A9"/>
              </a:solidFill>
              <a:ln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8732607-267D-B6AF-E8FC-B4F442AA7913}"/>
                  </a:ext>
                </a:extLst>
              </p:cNvPr>
              <p:cNvGrpSpPr/>
              <p:nvPr/>
            </p:nvGrpSpPr>
            <p:grpSpPr>
              <a:xfrm>
                <a:off x="9027139" y="2746955"/>
                <a:ext cx="1097280" cy="897640"/>
                <a:chOff x="8993852" y="2922569"/>
                <a:chExt cx="1097280" cy="897640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854629F-99AF-3944-FC17-607EE84FA1F3}"/>
                    </a:ext>
                  </a:extLst>
                </p:cNvPr>
                <p:cNvSpPr/>
                <p:nvPr/>
              </p:nvSpPr>
              <p:spPr>
                <a:xfrm>
                  <a:off x="9047640" y="2922569"/>
                  <a:ext cx="989704" cy="632428"/>
                </a:xfrm>
                <a:prstGeom prst="rect">
                  <a:avLst/>
                </a:prstGeom>
                <a:noFill/>
                <a:ln>
                  <a:solidFill>
                    <a:srgbClr val="7F7F7F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A773F4-C1A3-01D1-34EC-6DBB60B20A21}"/>
                    </a:ext>
                  </a:extLst>
                </p:cNvPr>
                <p:cNvSpPr txBox="1"/>
                <p:nvPr/>
              </p:nvSpPr>
              <p:spPr>
                <a:xfrm>
                  <a:off x="9047640" y="2983772"/>
                  <a:ext cx="989704" cy="326415"/>
                </a:xfrm>
                <a:prstGeom prst="rect">
                  <a:avLst/>
                </a:prstGeom>
                <a:noFill/>
              </p:spPr>
              <p:txBody>
                <a:bodyPr wrap="square" lIns="18288" tIns="9144" rIns="18288" bIns="9144" anchor="ctr">
                  <a:spAutoFit/>
                </a:bodyPr>
                <a:lstStyle/>
                <a:p>
                  <a:pPr algn="ctr"/>
                  <a:r>
                    <a:rPr sz="2200" b="1" dirty="0">
                      <a:solidFill>
                        <a:srgbClr val="7F7F7F"/>
                      </a:solidFill>
                    </a:rPr>
                    <a:t>?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5B696B4-09F3-7CB4-9380-64E53FFBB637}"/>
                    </a:ext>
                  </a:extLst>
                </p:cNvPr>
                <p:cNvSpPr txBox="1"/>
                <p:nvPr/>
              </p:nvSpPr>
              <p:spPr>
                <a:xfrm>
                  <a:off x="8993852" y="3595799"/>
                  <a:ext cx="1097280" cy="224410"/>
                </a:xfrm>
                <a:prstGeom prst="rect">
                  <a:avLst/>
                </a:prstGeom>
                <a:noFill/>
              </p:spPr>
              <p:txBody>
                <a:bodyPr wrap="square" lIns="18288" tIns="9144" rIns="18288" bIns="9144" anchor="t">
                  <a:spAutoFit/>
                </a:bodyPr>
                <a:lstStyle/>
                <a:p>
                  <a:pPr algn="ctr"/>
                  <a:r>
                    <a:rPr sz="1000" b="0">
                      <a:solidFill>
                        <a:srgbClr val="7F7F7F"/>
                      </a:solidFill>
                    </a:rPr>
                    <a:t>Interior</a:t>
                  </a:r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76EA5D-45D9-A31E-78FC-C9E9AFF07750}"/>
              </a:ext>
            </a:extLst>
          </p:cNvPr>
          <p:cNvGrpSpPr/>
          <p:nvPr/>
        </p:nvGrpSpPr>
        <p:grpSpPr>
          <a:xfrm>
            <a:off x="749808" y="3746981"/>
            <a:ext cx="8790843" cy="1595418"/>
            <a:chOff x="749808" y="3746981"/>
            <a:chExt cx="8790843" cy="159541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82F09F-250D-544A-0643-4DFE0C152EA1}"/>
                </a:ext>
              </a:extLst>
            </p:cNvPr>
            <p:cNvSpPr txBox="1"/>
            <p:nvPr/>
          </p:nvSpPr>
          <p:spPr>
            <a:xfrm>
              <a:off x="749808" y="4297680"/>
              <a:ext cx="502920" cy="32004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2100" b="1" dirty="0">
                  <a:solidFill>
                    <a:srgbClr val="3773A9"/>
                  </a:solidFill>
                </a:rPr>
                <a:t>03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EC5998-D2F7-C110-8973-A10A761BEFCF}"/>
                </a:ext>
              </a:extLst>
            </p:cNvPr>
            <p:cNvSpPr txBox="1"/>
            <p:nvPr/>
          </p:nvSpPr>
          <p:spPr>
            <a:xfrm>
              <a:off x="1344168" y="4288536"/>
              <a:ext cx="5559552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650" b="1" dirty="0">
                  <a:solidFill>
                    <a:srgbClr val="161616"/>
                  </a:solidFill>
                </a:rPr>
                <a:t>Thermal zoning affects simulation </a:t>
              </a:r>
              <a:r>
                <a:rPr sz="1650" b="1" dirty="0" err="1">
                  <a:solidFill>
                    <a:srgbClr val="161616"/>
                  </a:solidFill>
                </a:rPr>
                <a:t>behaviour</a:t>
              </a:r>
              <a:endParaRPr sz="1650" b="1" dirty="0">
                <a:solidFill>
                  <a:srgbClr val="161616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5F1DFB-9A59-2051-2C1A-141993C2A39E}"/>
                </a:ext>
              </a:extLst>
            </p:cNvPr>
            <p:cNvSpPr txBox="1"/>
            <p:nvPr/>
          </p:nvSpPr>
          <p:spPr>
            <a:xfrm>
              <a:off x="1344168" y="4617720"/>
              <a:ext cx="5559552" cy="56692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260" b="0">
                  <a:solidFill>
                    <a:srgbClr val="161616"/>
                  </a:solidFill>
                </a:rPr>
                <a:t>Zoning defines heat-balance units, temperatures, internal gains, control assumptions and interzonal heat transfer — influencing annual, peak and comfort-related outputs.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A3E88D8-4BF3-9F56-A2AD-6B4E1847F330}"/>
                </a:ext>
              </a:extLst>
            </p:cNvPr>
            <p:cNvGrpSpPr/>
            <p:nvPr/>
          </p:nvGrpSpPr>
          <p:grpSpPr>
            <a:xfrm>
              <a:off x="8186141" y="3746981"/>
              <a:ext cx="1354510" cy="1595418"/>
              <a:chOff x="8954884" y="3687548"/>
              <a:chExt cx="1354510" cy="159541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49D1672-2832-D0D0-80FE-6D0671DCEEA9}"/>
                  </a:ext>
                </a:extLst>
              </p:cNvPr>
              <p:cNvGrpSpPr/>
              <p:nvPr/>
            </p:nvGrpSpPr>
            <p:grpSpPr>
              <a:xfrm>
                <a:off x="8954884" y="4297680"/>
                <a:ext cx="1354510" cy="985286"/>
                <a:chOff x="7973302" y="4479406"/>
                <a:chExt cx="1097280" cy="786384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8902A37-1DC4-D0CC-87E6-7D580AB5C853}"/>
                    </a:ext>
                  </a:extLst>
                </p:cNvPr>
                <p:cNvSpPr/>
                <p:nvPr/>
              </p:nvSpPr>
              <p:spPr>
                <a:xfrm>
                  <a:off x="8137894" y="4479406"/>
                  <a:ext cx="749808" cy="530352"/>
                </a:xfrm>
                <a:prstGeom prst="rect">
                  <a:avLst/>
                </a:prstGeom>
                <a:noFill/>
                <a:ln w="19050">
                  <a:solidFill>
                    <a:srgbClr val="3773A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0" name="Connector 37">
                  <a:extLst>
                    <a:ext uri="{FF2B5EF4-FFF2-40B4-BE49-F238E27FC236}">
                      <a16:creationId xmlns:a16="http://schemas.microsoft.com/office/drawing/2014/main" id="{212EEBEA-568B-CCB1-16EE-10D9AC8F3BCA}"/>
                    </a:ext>
                  </a:extLst>
                </p:cNvPr>
                <p:cNvCxnSpPr/>
                <p:nvPr/>
              </p:nvCxnSpPr>
              <p:spPr>
                <a:xfrm>
                  <a:off x="8490303" y="4479406"/>
                  <a:ext cx="0" cy="530352"/>
                </a:xfrm>
                <a:prstGeom prst="line">
                  <a:avLst/>
                </a:prstGeom>
                <a:ln w="15240">
                  <a:solidFill>
                    <a:srgbClr val="3773A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Connector 38">
                  <a:extLst>
                    <a:ext uri="{FF2B5EF4-FFF2-40B4-BE49-F238E27FC236}">
                      <a16:creationId xmlns:a16="http://schemas.microsoft.com/office/drawing/2014/main" id="{8FA6040E-85FA-8295-B5F0-4089F3BBB54D}"/>
                    </a:ext>
                  </a:extLst>
                </p:cNvPr>
                <p:cNvCxnSpPr/>
                <p:nvPr/>
              </p:nvCxnSpPr>
              <p:spPr>
                <a:xfrm>
                  <a:off x="8137894" y="4755189"/>
                  <a:ext cx="352409" cy="0"/>
                </a:xfrm>
                <a:prstGeom prst="line">
                  <a:avLst/>
                </a:prstGeom>
                <a:ln w="15240">
                  <a:solidFill>
                    <a:srgbClr val="3773A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F9A8A82-54B1-C8D8-8405-51E02F195671}"/>
                    </a:ext>
                  </a:extLst>
                </p:cNvPr>
                <p:cNvSpPr txBox="1"/>
                <p:nvPr/>
              </p:nvSpPr>
              <p:spPr>
                <a:xfrm>
                  <a:off x="7973302" y="5064622"/>
                  <a:ext cx="1097280" cy="201168"/>
                </a:xfrm>
                <a:prstGeom prst="rect">
                  <a:avLst/>
                </a:prstGeom>
                <a:noFill/>
              </p:spPr>
              <p:txBody>
                <a:bodyPr wrap="square" lIns="18288" tIns="9144" rIns="18288" bIns="9144" anchor="t">
                  <a:spAutoFit/>
                </a:bodyPr>
                <a:lstStyle/>
                <a:p>
                  <a:pPr algn="ctr"/>
                  <a:r>
                    <a:rPr sz="1000" b="0" dirty="0">
                      <a:solidFill>
                        <a:srgbClr val="7F7F7F"/>
                      </a:solidFill>
                    </a:rPr>
                    <a:t>Thermal zones</a:t>
                  </a:r>
                </a:p>
              </p:txBody>
            </p:sp>
          </p:grpSp>
          <p:sp>
            <p:nvSpPr>
              <p:cNvPr id="38" name="Right Arrow 31">
                <a:extLst>
                  <a:ext uri="{FF2B5EF4-FFF2-40B4-BE49-F238E27FC236}">
                    <a16:creationId xmlns:a16="http://schemas.microsoft.com/office/drawing/2014/main" id="{69D390EA-75FB-ECF8-4A56-BB2144276F98}"/>
                  </a:ext>
                </a:extLst>
              </p:cNvPr>
              <p:cNvSpPr/>
              <p:nvPr/>
            </p:nvSpPr>
            <p:spPr>
              <a:xfrm rot="5400000">
                <a:off x="9333120" y="3831328"/>
                <a:ext cx="485318" cy="197758"/>
              </a:xfrm>
              <a:prstGeom prst="rightArrow">
                <a:avLst/>
              </a:prstGeom>
              <a:solidFill>
                <a:srgbClr val="3773A9"/>
              </a:solidFill>
              <a:ln>
                <a:solidFill>
                  <a:srgbClr val="3773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10E796-94FF-4A6C-3291-4F51DD752E18}"/>
              </a:ext>
            </a:extLst>
          </p:cNvPr>
          <p:cNvGrpSpPr/>
          <p:nvPr/>
        </p:nvGrpSpPr>
        <p:grpSpPr>
          <a:xfrm>
            <a:off x="749808" y="5550408"/>
            <a:ext cx="10927080" cy="429768"/>
            <a:chOff x="749808" y="5550408"/>
            <a:chExt cx="10927080" cy="4297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5ED02A1-B241-33C7-177D-884E359E66BB}"/>
                </a:ext>
              </a:extLst>
            </p:cNvPr>
            <p:cNvSpPr/>
            <p:nvPr/>
          </p:nvSpPr>
          <p:spPr>
            <a:xfrm>
              <a:off x="749808" y="5550408"/>
              <a:ext cx="10927080" cy="42976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142E21-1926-68C8-9A2D-5156CDD04E9A}"/>
                </a:ext>
              </a:extLst>
            </p:cNvPr>
            <p:cNvSpPr txBox="1"/>
            <p:nvPr/>
          </p:nvSpPr>
          <p:spPr>
            <a:xfrm>
              <a:off x="941832" y="5626201"/>
              <a:ext cx="10515600" cy="241605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450" b="1" dirty="0">
                  <a:solidFill>
                    <a:srgbClr val="FFFFFF"/>
                  </a:solidFill>
                </a:rPr>
                <a:t>Need for a scalable thermal zoning method from limited urban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224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019A-7D51-4165-B46B-AA8E6ED7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781B04A-819C-A47A-EB13-4A409AF3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2800" b="1" dirty="0">
                <a:solidFill>
                  <a:srgbClr val="7F7F7F"/>
                </a:solidFill>
              </a:rPr>
              <a:t>Research gap</a:t>
            </a:r>
            <a:endParaRPr lang="en-GB" dirty="0"/>
          </a:p>
          <a:p>
            <a:pPr>
              <a:spcBef>
                <a:spcPts val="0"/>
              </a:spcBef>
            </a:pPr>
            <a:r>
              <a:rPr sz="2000" b="1" dirty="0">
                <a:solidFill>
                  <a:srgbClr val="7F7F7F"/>
                </a:solidFill>
              </a:rPr>
              <a:t>What was still unknown about the Multizone Assignment Algorithm?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039B85-274E-1AE3-8EEA-73BF696CB088}"/>
              </a:ext>
            </a:extLst>
          </p:cNvPr>
          <p:cNvGrpSpPr/>
          <p:nvPr/>
        </p:nvGrpSpPr>
        <p:grpSpPr>
          <a:xfrm>
            <a:off x="8860537" y="1421204"/>
            <a:ext cx="2715767" cy="950976"/>
            <a:chOff x="3172968" y="1261872"/>
            <a:chExt cx="2715767" cy="950976"/>
          </a:xfrm>
        </p:grpSpPr>
        <p:sp>
          <p:nvSpPr>
            <p:cNvPr id="27" name="Right Arrow 26"/>
            <p:cNvSpPr/>
            <p:nvPr/>
          </p:nvSpPr>
          <p:spPr>
            <a:xfrm>
              <a:off x="3172968" y="1655063"/>
              <a:ext cx="310896" cy="182880"/>
            </a:xfrm>
            <a:prstGeom prst="rightArrow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57015" y="1261872"/>
              <a:ext cx="2331720" cy="29260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02735" y="1280160"/>
              <a:ext cx="2240279" cy="22860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230" b="1" dirty="0">
                  <a:solidFill>
                    <a:srgbClr val="FFFFFF"/>
                  </a:solidFill>
                </a:rPr>
                <a:t>MZA zoning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557015" y="1554480"/>
              <a:ext cx="2331720" cy="658368"/>
            </a:xfrm>
            <a:prstGeom prst="rect">
              <a:avLst/>
            </a:prstGeom>
            <a:solidFill>
              <a:srgbClr val="8BC6DC"/>
            </a:solidFill>
            <a:ln>
              <a:solidFill>
                <a:srgbClr val="8BC6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648456" y="1645919"/>
              <a:ext cx="2148839" cy="42062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110" b="0" dirty="0">
                  <a:solidFill>
                    <a:srgbClr val="161616"/>
                  </a:solidFill>
                </a:rPr>
                <a:t>Dwelling + stairwell zones from limited input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302087" y="2641156"/>
            <a:ext cx="3741393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GB" sz="1600" b="1" dirty="0">
                <a:solidFill>
                  <a:srgbClr val="7F7F7F"/>
                </a:solidFill>
              </a:rPr>
              <a:t>Two questions remained unanswered</a:t>
            </a:r>
            <a:endParaRPr sz="1600" b="1" dirty="0">
              <a:solidFill>
                <a:srgbClr val="7F7F7F"/>
              </a:solidFill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096000" y="3196192"/>
            <a:ext cx="0" cy="2441448"/>
          </a:xfrm>
          <a:prstGeom prst="line">
            <a:avLst/>
          </a:prstGeom>
          <a:ln w="1524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DB3DEC-AC4B-9C12-29B4-566220074A9D}"/>
              </a:ext>
            </a:extLst>
          </p:cNvPr>
          <p:cNvGrpSpPr/>
          <p:nvPr/>
        </p:nvGrpSpPr>
        <p:grpSpPr>
          <a:xfrm>
            <a:off x="832105" y="2995024"/>
            <a:ext cx="4846320" cy="2743200"/>
            <a:chOff x="841248" y="2788920"/>
            <a:chExt cx="4846320" cy="2743200"/>
          </a:xfrm>
        </p:grpSpPr>
        <p:sp>
          <p:nvSpPr>
            <p:cNvPr id="44" name="Rectangle 43"/>
            <p:cNvSpPr/>
            <p:nvPr/>
          </p:nvSpPr>
          <p:spPr>
            <a:xfrm>
              <a:off x="841248" y="2788920"/>
              <a:ext cx="4846320" cy="310896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41832" y="2816352"/>
              <a:ext cx="4645152" cy="22860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370" b="1" dirty="0">
                  <a:solidFill>
                    <a:srgbClr val="FFFFFF"/>
                  </a:solidFill>
                </a:rPr>
                <a:t>Geometric &amp; topological reliability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0120" y="3255264"/>
              <a:ext cx="4526280" cy="43088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340" b="0" dirty="0">
                  <a:solidFill>
                    <a:srgbClr val="161616"/>
                  </a:solidFill>
                </a:rPr>
                <a:t>No systematic ground-truth validation has tested whether the MZA reproduces the real building.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7552" y="3977639"/>
              <a:ext cx="4462272" cy="25603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170" b="1">
                  <a:solidFill>
                    <a:srgbClr val="7F7F7F"/>
                  </a:solidFill>
                </a:rPr>
                <a:t>Number of zones   ·   geometry   ·   position   ·   adjacency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07008" y="4370832"/>
              <a:ext cx="1143000" cy="20116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019" b="0">
                  <a:solidFill>
                    <a:srgbClr val="7F7F7F"/>
                  </a:solidFill>
                </a:rPr>
                <a:t>Ground truth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298448" y="4599432"/>
              <a:ext cx="960120" cy="621792"/>
            </a:xfrm>
            <a:prstGeom prst="rect">
              <a:avLst/>
            </a:prstGeom>
            <a:noFill/>
            <a:ln w="19050"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1749704" y="4599432"/>
              <a:ext cx="0" cy="621792"/>
            </a:xfrm>
            <a:prstGeom prst="line">
              <a:avLst/>
            </a:prstGeom>
            <a:ln w="1524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1298448" y="4922763"/>
              <a:ext cx="451256" cy="0"/>
            </a:xfrm>
            <a:prstGeom prst="line">
              <a:avLst/>
            </a:prstGeom>
            <a:ln w="1524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487168" y="4809744"/>
              <a:ext cx="384048" cy="1828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150" b="1">
                  <a:solidFill>
                    <a:srgbClr val="7F7F7F"/>
                  </a:solidFill>
                </a:rPr>
                <a:t>vs.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53512" y="4370832"/>
              <a:ext cx="1298448" cy="20116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019" b="0">
                  <a:solidFill>
                    <a:srgbClr val="7F7F7F"/>
                  </a:solidFill>
                </a:rPr>
                <a:t>MZA prediction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08960" y="4599432"/>
              <a:ext cx="960120" cy="621792"/>
            </a:xfrm>
            <a:prstGeom prst="rect">
              <a:avLst/>
            </a:prstGeom>
            <a:noFill/>
            <a:ln w="19050">
              <a:solidFill>
                <a:srgbClr val="8BC6D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3560216" y="4599432"/>
              <a:ext cx="0" cy="621792"/>
            </a:xfrm>
            <a:prstGeom prst="line">
              <a:avLst/>
            </a:prstGeom>
            <a:ln w="15240">
              <a:solidFill>
                <a:srgbClr val="8BC6D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3108960" y="4922763"/>
              <a:ext cx="451256" cy="0"/>
            </a:xfrm>
            <a:prstGeom prst="line">
              <a:avLst/>
            </a:prstGeom>
            <a:ln w="15240">
              <a:solidFill>
                <a:srgbClr val="8BC6D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005840" y="5330952"/>
              <a:ext cx="4434840" cy="20116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140" b="1" dirty="0">
                  <a:solidFill>
                    <a:srgbClr val="3773A9"/>
                  </a:solidFill>
                </a:rPr>
                <a:t>→ evaluates the geometric reliability of the MZA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F5BAA2-41CF-0D17-F5FD-CA56FCCEAAD5}"/>
              </a:ext>
            </a:extLst>
          </p:cNvPr>
          <p:cNvGrpSpPr/>
          <p:nvPr/>
        </p:nvGrpSpPr>
        <p:grpSpPr>
          <a:xfrm>
            <a:off x="6510529" y="2999232"/>
            <a:ext cx="4855464" cy="2743200"/>
            <a:chOff x="6510528" y="2788920"/>
            <a:chExt cx="4855464" cy="2743200"/>
          </a:xfrm>
        </p:grpSpPr>
        <p:sp>
          <p:nvSpPr>
            <p:cNvPr id="58" name="Rectangle 57"/>
            <p:cNvSpPr/>
            <p:nvPr/>
          </p:nvSpPr>
          <p:spPr>
            <a:xfrm>
              <a:off x="6510528" y="2788920"/>
              <a:ext cx="4855464" cy="310896"/>
            </a:xfrm>
            <a:prstGeom prst="rect">
              <a:avLst/>
            </a:prstGeom>
            <a:solidFill>
              <a:srgbClr val="8BC6DC"/>
            </a:solidFill>
            <a:ln>
              <a:solidFill>
                <a:srgbClr val="8BC6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20256" y="2816352"/>
              <a:ext cx="4626864" cy="22860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370" b="1" dirty="0">
                  <a:solidFill>
                    <a:srgbClr val="161616"/>
                  </a:solidFill>
                </a:rPr>
                <a:t>Simulation relevance of zoning deviations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638544" y="3255264"/>
              <a:ext cx="4507992" cy="6400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340" b="0">
                  <a:solidFill>
                    <a:srgbClr val="161616"/>
                  </a:solidFill>
                </a:rPr>
                <a:t>Existing studies show that zoning matters, but not which MZA-related geometric deviations materially affect simulation outputs under uncertain input conditions.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638544" y="4014215"/>
              <a:ext cx="4507992" cy="25603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170" b="1" dirty="0">
                  <a:solidFill>
                    <a:srgbClr val="7F7F7F"/>
                  </a:solidFill>
                </a:rPr>
                <a:t>Representative deviation strategies are assessed with three KPIs: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995160" y="4718304"/>
              <a:ext cx="91440" cy="20116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141464" y="4590288"/>
              <a:ext cx="91440" cy="329184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287768" y="4443983"/>
              <a:ext cx="91440" cy="47548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6967728" y="4919472"/>
              <a:ext cx="502920" cy="0"/>
            </a:xfrm>
            <a:prstGeom prst="line">
              <a:avLst/>
            </a:prstGeom>
            <a:ln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6784848" y="4928616"/>
              <a:ext cx="914400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950" b="1">
                  <a:solidFill>
                    <a:srgbClr val="161616"/>
                  </a:solidFill>
                </a:rPr>
                <a:t>Annual heating
demand</a:t>
              </a:r>
            </a:p>
          </p:txBody>
        </p:sp>
        <p:cxnSp>
          <p:nvCxnSpPr>
            <p:cNvPr id="67" name="Connector 66"/>
            <p:cNvCxnSpPr/>
            <p:nvPr/>
          </p:nvCxnSpPr>
          <p:spPr>
            <a:xfrm flipV="1">
              <a:off x="8549640" y="4800600"/>
              <a:ext cx="109727" cy="54864"/>
            </a:xfrm>
            <a:prstGeom prst="line">
              <a:avLst/>
            </a:prstGeom>
            <a:ln w="2032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8659367" y="4489704"/>
              <a:ext cx="109729" cy="310896"/>
            </a:xfrm>
            <a:prstGeom prst="line">
              <a:avLst/>
            </a:prstGeom>
            <a:ln w="2032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8769096" y="4489704"/>
              <a:ext cx="91440" cy="320040"/>
            </a:xfrm>
            <a:prstGeom prst="line">
              <a:avLst/>
            </a:prstGeom>
            <a:ln w="2032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V="1">
              <a:off x="8860536" y="4709160"/>
              <a:ext cx="146304" cy="100584"/>
            </a:xfrm>
            <a:prstGeom prst="line">
              <a:avLst/>
            </a:prstGeom>
            <a:ln w="20320">
              <a:solidFill>
                <a:srgbClr val="3773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339327" y="4928616"/>
              <a:ext cx="914400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950" b="1">
                  <a:solidFill>
                    <a:srgbClr val="161616"/>
                  </a:solidFill>
                </a:rPr>
                <a:t>Peak heating
load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10268712" y="4384184"/>
              <a:ext cx="128016" cy="365760"/>
            </a:xfrm>
            <a:prstGeom prst="roundRect">
              <a:avLst/>
            </a:prstGeom>
            <a:noFill/>
            <a:ln w="17780">
              <a:solidFill>
                <a:srgbClr val="8BC6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Oval 72"/>
            <p:cNvSpPr/>
            <p:nvPr/>
          </p:nvSpPr>
          <p:spPr>
            <a:xfrm>
              <a:off x="10195560" y="4676792"/>
              <a:ext cx="274320" cy="274320"/>
            </a:xfrm>
            <a:prstGeom prst="ellipse">
              <a:avLst/>
            </a:prstGeom>
            <a:solidFill>
              <a:srgbClr val="8BC6DC"/>
            </a:solidFill>
            <a:ln>
              <a:solidFill>
                <a:srgbClr val="8BC6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309860" y="4493912"/>
              <a:ext cx="45720" cy="274320"/>
            </a:xfrm>
            <a:prstGeom prst="rect">
              <a:avLst/>
            </a:prstGeom>
            <a:solidFill>
              <a:srgbClr val="8BC6DC"/>
            </a:solidFill>
            <a:ln>
              <a:solidFill>
                <a:srgbClr val="8BC6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893808" y="4928616"/>
              <a:ext cx="914400" cy="31089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950" b="1">
                  <a:solidFill>
                    <a:srgbClr val="161616"/>
                  </a:solidFill>
                </a:rPr>
                <a:t>Overheating
hours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656832" y="5330952"/>
              <a:ext cx="4480560" cy="20116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ctr"/>
              <a:r>
                <a:rPr sz="1140" b="1" dirty="0">
                  <a:solidFill>
                    <a:srgbClr val="3773A9"/>
                  </a:solidFill>
                </a:rPr>
                <a:t>→ evaluates the simulation relevance of zoning deviations</a:t>
              </a:r>
            </a:p>
          </p:txBody>
        </p:sp>
      </p:grp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76A09C0-CF4C-84D5-B39B-07961961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5B9F83-DDEC-07AE-1660-ED218E3EBBE1}"/>
              </a:ext>
            </a:extLst>
          </p:cNvPr>
          <p:cNvGrpSpPr/>
          <p:nvPr/>
        </p:nvGrpSpPr>
        <p:grpSpPr>
          <a:xfrm>
            <a:off x="6473953" y="1421204"/>
            <a:ext cx="2331720" cy="950976"/>
            <a:chOff x="786384" y="1261872"/>
            <a:chExt cx="2331720" cy="950976"/>
          </a:xfrm>
        </p:grpSpPr>
        <p:sp>
          <p:nvSpPr>
            <p:cNvPr id="23" name="Rectangle 22"/>
            <p:cNvSpPr/>
            <p:nvPr/>
          </p:nvSpPr>
          <p:spPr>
            <a:xfrm>
              <a:off x="786384" y="1261872"/>
              <a:ext cx="2331720" cy="29260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2104" y="1280160"/>
              <a:ext cx="2240279" cy="22860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230" b="1" dirty="0">
                  <a:solidFill>
                    <a:srgbClr val="FFFFFF"/>
                  </a:solidFill>
                </a:rPr>
                <a:t>Limited urban input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86384" y="1554480"/>
              <a:ext cx="2331720" cy="658368"/>
            </a:xfrm>
            <a:prstGeom prst="rect">
              <a:avLst/>
            </a:prstGeom>
            <a:solidFill>
              <a:srgbClr val="D1E8FA"/>
            </a:solidFill>
            <a:ln>
              <a:solidFill>
                <a:srgbClr val="D1E8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7824" y="1645919"/>
              <a:ext cx="2148839" cy="42062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110" b="0" dirty="0" err="1">
                  <a:solidFill>
                    <a:srgbClr val="161616"/>
                  </a:solidFill>
                </a:rPr>
                <a:t>CityGML</a:t>
              </a:r>
              <a:r>
                <a:rPr sz="1110" b="0" dirty="0">
                  <a:solidFill>
                    <a:srgbClr val="161616"/>
                  </a:solidFill>
                </a:rPr>
                <a:t> / OSM + building-stock assumptions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8DE2B58-DE4A-522A-CB21-AC9D6F899ED1}"/>
              </a:ext>
            </a:extLst>
          </p:cNvPr>
          <p:cNvGrpSpPr/>
          <p:nvPr/>
        </p:nvGrpSpPr>
        <p:grpSpPr>
          <a:xfrm>
            <a:off x="2045385" y="1151623"/>
            <a:ext cx="2640355" cy="1398989"/>
            <a:chOff x="1935086" y="1087540"/>
            <a:chExt cx="2640355" cy="139898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F76D3C2-F216-1CFE-46CA-C346FFBDABED}"/>
                </a:ext>
              </a:extLst>
            </p:cNvPr>
            <p:cNvGrpSpPr/>
            <p:nvPr/>
          </p:nvGrpSpPr>
          <p:grpSpPr>
            <a:xfrm>
              <a:off x="1935086" y="1087540"/>
              <a:ext cx="2640355" cy="1398989"/>
              <a:chOff x="786384" y="1259126"/>
              <a:chExt cx="2331720" cy="95372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9B6A6C-9701-AF49-67D6-6A9A1A12D21B}"/>
                  </a:ext>
                </a:extLst>
              </p:cNvPr>
              <p:cNvSpPr/>
              <p:nvPr/>
            </p:nvSpPr>
            <p:spPr>
              <a:xfrm>
                <a:off x="786384" y="1261872"/>
                <a:ext cx="2331720" cy="292608"/>
              </a:xfrm>
              <a:prstGeom prst="rect">
                <a:avLst/>
              </a:prstGeom>
              <a:solidFill>
                <a:srgbClr val="1DBAD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08674D-ECB0-8573-A325-B22B6C5FB624}"/>
                  </a:ext>
                </a:extLst>
              </p:cNvPr>
              <p:cNvSpPr txBox="1"/>
              <p:nvPr/>
            </p:nvSpPr>
            <p:spPr>
              <a:xfrm>
                <a:off x="832104" y="1259126"/>
                <a:ext cx="2240279" cy="270666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ctr">
                <a:spAutoFit/>
              </a:bodyPr>
              <a:lstStyle/>
              <a:p>
                <a:pPr algn="ctr"/>
                <a:r>
                  <a:rPr lang="en-GB" sz="1230" b="1" dirty="0">
                    <a:solidFill>
                      <a:srgbClr val="FFFFFF"/>
                    </a:solidFill>
                  </a:rPr>
                  <a:t>Available thermal zoning method</a:t>
                </a:r>
                <a:endParaRPr sz="123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7C78AA-BE30-03D5-9938-D83F7D6026FB}"/>
                  </a:ext>
                </a:extLst>
              </p:cNvPr>
              <p:cNvSpPr/>
              <p:nvPr/>
            </p:nvSpPr>
            <p:spPr>
              <a:xfrm>
                <a:off x="786384" y="1554480"/>
                <a:ext cx="2331720" cy="658368"/>
              </a:xfrm>
              <a:prstGeom prst="rect">
                <a:avLst/>
              </a:prstGeom>
              <a:solidFill>
                <a:srgbClr val="D1E8FA"/>
              </a:solidFill>
              <a:ln>
                <a:solidFill>
                  <a:srgbClr val="D1E8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12103A-6810-E0B1-E9C7-49FA5FB59F5C}"/>
                  </a:ext>
                </a:extLst>
              </p:cNvPr>
              <p:cNvSpPr txBox="1"/>
              <p:nvPr/>
            </p:nvSpPr>
            <p:spPr>
              <a:xfrm>
                <a:off x="874979" y="1830205"/>
                <a:ext cx="2148839" cy="360099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ctr">
                <a:spAutoFit/>
              </a:bodyPr>
              <a:lstStyle/>
              <a:p>
                <a:pPr algn="ctr"/>
                <a:r>
                  <a:rPr sz="1110" b="0" dirty="0">
                    <a:solidFill>
                      <a:srgbClr val="161616"/>
                    </a:solidFill>
                  </a:rPr>
                  <a:t>Automated thermal zoning from limited building information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C184F4-83E8-8BA9-23A9-90AD10810147}"/>
                </a:ext>
              </a:extLst>
            </p:cNvPr>
            <p:cNvSpPr txBox="1"/>
            <p:nvPr/>
          </p:nvSpPr>
          <p:spPr>
            <a:xfrm>
              <a:off x="2038631" y="1584895"/>
              <a:ext cx="2433267" cy="360099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110" b="0" dirty="0">
                  <a:solidFill>
                    <a:srgbClr val="161616"/>
                  </a:solidFill>
                </a:rPr>
                <a:t>Multizone Assignment Algorithm (MZA)</a:t>
              </a:r>
            </a:p>
          </p:txBody>
        </p:sp>
      </p:grpSp>
      <p:cxnSp>
        <p:nvCxnSpPr>
          <p:cNvPr id="84" name="Connector 42">
            <a:extLst>
              <a:ext uri="{FF2B5EF4-FFF2-40B4-BE49-F238E27FC236}">
                <a16:creationId xmlns:a16="http://schemas.microsoft.com/office/drawing/2014/main" id="{E7431CA7-EA98-B518-1D4E-C2B671EA71B8}"/>
              </a:ext>
            </a:extLst>
          </p:cNvPr>
          <p:cNvCxnSpPr>
            <a:cxnSpLocks/>
          </p:cNvCxnSpPr>
          <p:nvPr/>
        </p:nvCxnSpPr>
        <p:spPr>
          <a:xfrm>
            <a:off x="6096000" y="1238081"/>
            <a:ext cx="0" cy="1229990"/>
          </a:xfrm>
          <a:prstGeom prst="line">
            <a:avLst/>
          </a:prstGeom>
          <a:ln w="1524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9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2019A-7D51-4165-B46B-AA8E6ED7E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781B04A-819C-A47A-EB13-4A409AF3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</a:t>
            </a:r>
            <a:r>
              <a:rPr lang="en-DE" dirty="0"/>
              <a:t>method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01A109-FE8A-AE3C-52F7-36AC2F4B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13" name="Graphic 10">
            <a:extLst>
              <a:ext uri="{FF2B5EF4-FFF2-40B4-BE49-F238E27FC236}">
                <a16:creationId xmlns:a16="http://schemas.microsoft.com/office/drawing/2014/main" id="{26D9666C-889B-2E96-B93A-FEED3A4E3841}"/>
              </a:ext>
            </a:extLst>
          </p:cNvPr>
          <p:cNvGrpSpPr/>
          <p:nvPr/>
        </p:nvGrpSpPr>
        <p:grpSpPr>
          <a:xfrm>
            <a:off x="2195697" y="777402"/>
            <a:ext cx="7797029" cy="1076905"/>
            <a:chOff x="1326551" y="2608200"/>
            <a:chExt cx="9531948" cy="1308928"/>
          </a:xfrm>
        </p:grpSpPr>
        <p:grpSp>
          <p:nvGrpSpPr>
            <p:cNvPr id="14" name="Graphic 10">
              <a:extLst>
                <a:ext uri="{FF2B5EF4-FFF2-40B4-BE49-F238E27FC236}">
                  <a16:creationId xmlns:a16="http://schemas.microsoft.com/office/drawing/2014/main" id="{93DF44AE-2CE1-A9B7-7DEF-175C8B82C629}"/>
                </a:ext>
              </a:extLst>
            </p:cNvPr>
            <p:cNvGrpSpPr/>
            <p:nvPr/>
          </p:nvGrpSpPr>
          <p:grpSpPr>
            <a:xfrm>
              <a:off x="1714499" y="3228974"/>
              <a:ext cx="9144000" cy="688154"/>
              <a:chOff x="1714499" y="3228974"/>
              <a:chExt cx="9144000" cy="688154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DF8C995C-EE01-657F-2518-74D1F022D971}"/>
                  </a:ext>
                </a:extLst>
              </p:cNvPr>
              <p:cNvSpPr/>
              <p:nvPr/>
            </p:nvSpPr>
            <p:spPr>
              <a:xfrm>
                <a:off x="1714499" y="3228974"/>
                <a:ext cx="9144000" cy="688154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1430" cap="flat">
                <a:solidFill>
                  <a:srgbClr val="3773A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 sz="1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7BB9F1-29EA-6B95-83BE-DD9733645024}"/>
                  </a:ext>
                </a:extLst>
              </p:cNvPr>
              <p:cNvSpPr txBox="1"/>
              <p:nvPr/>
            </p:nvSpPr>
            <p:spPr>
              <a:xfrm>
                <a:off x="3797141" y="3274623"/>
                <a:ext cx="5906577" cy="374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400" spc="0" baseline="0" dirty="0">
                    <a:ln/>
                    <a:solidFill>
                      <a:srgbClr val="111111"/>
                    </a:solidFill>
                    <a:cs typeface="Helvetica"/>
                    <a:sym typeface="Helvetica"/>
                    <a:rtl val="0"/>
                  </a:rPr>
                  <a:t>Can the MZA generate</a:t>
                </a:r>
                <a:r>
                  <a:rPr lang="en-DE" sz="1400" spc="0" baseline="0" dirty="0">
                    <a:ln/>
                    <a:solidFill>
                      <a:srgbClr val="111111"/>
                    </a:solidFill>
                    <a:cs typeface="Helvetica"/>
                    <a:sym typeface="Helvetica"/>
                    <a:rtl val="0"/>
                  </a:rPr>
                  <a:t> a</a:t>
                </a:r>
                <a:r>
                  <a:rPr lang="en-GB" sz="1400" spc="0" baseline="0" dirty="0">
                    <a:ln/>
                    <a:solidFill>
                      <a:srgbClr val="111111"/>
                    </a:solidFill>
                    <a:cs typeface="Helvetica"/>
                    <a:sym typeface="Helvetica"/>
                    <a:rtl val="0"/>
                  </a:rPr>
                  <a:t> reliable dwelling–stairwell zoning,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B2F96A-BCD7-50AF-DCFC-6923A23D17D4}"/>
                  </a:ext>
                </a:extLst>
              </p:cNvPr>
              <p:cNvSpPr txBox="1"/>
              <p:nvPr/>
            </p:nvSpPr>
            <p:spPr>
              <a:xfrm>
                <a:off x="3680357" y="3485441"/>
                <a:ext cx="5991157" cy="37409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de-DE"/>
                </a:defPPr>
                <a:lvl1pPr>
                  <a:defRPr sz="1500" spc="0" baseline="0">
                    <a:ln/>
                    <a:solidFill>
                      <a:srgbClr val="111111"/>
                    </a:solidFill>
                    <a:cs typeface="Helvetica"/>
                    <a:rtl val="0"/>
                  </a:defRPr>
                </a:lvl1pPr>
              </a:lstStyle>
              <a:p>
                <a:r>
                  <a:rPr lang="en-GB" sz="1400" dirty="0">
                    <a:sym typeface="Helvetica"/>
                  </a:rPr>
                  <a:t>and how do zoning deviations influence simulation outputs?</a:t>
                </a:r>
              </a:p>
            </p:txBody>
          </p:sp>
        </p:grpSp>
        <p:grpSp>
          <p:nvGrpSpPr>
            <p:cNvPr id="18" name="Graphic 10">
              <a:extLst>
                <a:ext uri="{FF2B5EF4-FFF2-40B4-BE49-F238E27FC236}">
                  <a16:creationId xmlns:a16="http://schemas.microsoft.com/office/drawing/2014/main" id="{E52DBC64-5152-E2E0-4D2D-6BD117992E7B}"/>
                </a:ext>
              </a:extLst>
            </p:cNvPr>
            <p:cNvGrpSpPr/>
            <p:nvPr/>
          </p:nvGrpSpPr>
          <p:grpSpPr>
            <a:xfrm>
              <a:off x="1714499" y="2796373"/>
              <a:ext cx="9144000" cy="374088"/>
              <a:chOff x="1714499" y="2796373"/>
              <a:chExt cx="9144000" cy="37408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6305E94B-829B-95B6-3F37-FA1D1C8372B1}"/>
                  </a:ext>
                </a:extLst>
              </p:cNvPr>
              <p:cNvSpPr/>
              <p:nvPr/>
            </p:nvSpPr>
            <p:spPr>
              <a:xfrm>
                <a:off x="1714499" y="2809874"/>
                <a:ext cx="9144000" cy="358582"/>
              </a:xfrm>
              <a:prstGeom prst="roundRect">
                <a:avLst>
                  <a:gd name="adj" fmla="val 12008"/>
                </a:avLst>
              </a:prstGeom>
              <a:solidFill>
                <a:srgbClr val="3773A9"/>
              </a:solidFill>
              <a:ln w="1143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1BDB0B-5B45-D66D-5B93-17DB6513EC61}"/>
                  </a:ext>
                </a:extLst>
              </p:cNvPr>
              <p:cNvSpPr txBox="1"/>
              <p:nvPr/>
            </p:nvSpPr>
            <p:spPr>
              <a:xfrm>
                <a:off x="4636281" y="2796373"/>
                <a:ext cx="2912488" cy="374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400" b="1" spc="0" baseline="0" dirty="0">
                    <a:ln/>
                    <a:solidFill>
                      <a:srgbClr val="FFFFFF"/>
                    </a:solidFill>
                    <a:latin typeface="Helvetica"/>
                    <a:cs typeface="Helvetica"/>
                    <a:sym typeface="Helvetica"/>
                    <a:rtl val="0"/>
                  </a:rPr>
                  <a:t>Overall research question</a:t>
                </a:r>
              </a:p>
            </p:txBody>
          </p:sp>
        </p:grpSp>
        <p:grpSp>
          <p:nvGrpSpPr>
            <p:cNvPr id="21" name="Graphic 10">
              <a:extLst>
                <a:ext uri="{FF2B5EF4-FFF2-40B4-BE49-F238E27FC236}">
                  <a16:creationId xmlns:a16="http://schemas.microsoft.com/office/drawing/2014/main" id="{EFA88B24-3D1A-409D-66FE-ED9CCE24D08B}"/>
                </a:ext>
              </a:extLst>
            </p:cNvPr>
            <p:cNvGrpSpPr/>
            <p:nvPr/>
          </p:nvGrpSpPr>
          <p:grpSpPr>
            <a:xfrm>
              <a:off x="1326551" y="2608200"/>
              <a:ext cx="781050" cy="742950"/>
              <a:chOff x="1326551" y="2608200"/>
              <a:chExt cx="781050" cy="74295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95A4340-B252-1987-A18C-73AF8226ED23}"/>
                  </a:ext>
                </a:extLst>
              </p:cNvPr>
              <p:cNvSpPr/>
              <p:nvPr/>
            </p:nvSpPr>
            <p:spPr>
              <a:xfrm>
                <a:off x="1326551" y="2608200"/>
                <a:ext cx="781050" cy="742950"/>
              </a:xfrm>
              <a:prstGeom prst="ellipse">
                <a:avLst/>
              </a:prstGeom>
              <a:solidFill>
                <a:srgbClr val="3773A9"/>
              </a:solidFill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36A9038-11E7-7A37-C562-5B8CC3504692}"/>
                  </a:ext>
                </a:extLst>
              </p:cNvPr>
              <p:cNvSpPr txBox="1"/>
              <p:nvPr/>
            </p:nvSpPr>
            <p:spPr>
              <a:xfrm>
                <a:off x="1514776" y="2746202"/>
                <a:ext cx="345790" cy="389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2100" b="1" spc="0" baseline="0" dirty="0">
                    <a:ln/>
                    <a:solidFill>
                      <a:srgbClr val="FFFFFF"/>
                    </a:solidFill>
                    <a:latin typeface="Helvetica"/>
                    <a:cs typeface="Helvetica"/>
                    <a:sym typeface="Helvetica"/>
                    <a:rtl val="0"/>
                  </a:rPr>
                  <a:t>?</a:t>
                </a:r>
              </a:p>
            </p:txBody>
          </p:sp>
        </p:grpSp>
      </p:grpSp>
      <p:grpSp>
        <p:nvGrpSpPr>
          <p:cNvPr id="96" name="Graphic 93">
            <a:extLst>
              <a:ext uri="{FF2B5EF4-FFF2-40B4-BE49-F238E27FC236}">
                <a16:creationId xmlns:a16="http://schemas.microsoft.com/office/drawing/2014/main" id="{700636E1-452E-E60D-DE6F-B39DCC18420F}"/>
              </a:ext>
            </a:extLst>
          </p:cNvPr>
          <p:cNvGrpSpPr/>
          <p:nvPr/>
        </p:nvGrpSpPr>
        <p:grpSpPr>
          <a:xfrm>
            <a:off x="5308397" y="2714538"/>
            <a:ext cx="1571625" cy="1956078"/>
            <a:chOff x="5463198" y="2851691"/>
            <a:chExt cx="1571625" cy="1956078"/>
          </a:xfrm>
        </p:grpSpPr>
        <p:grpSp>
          <p:nvGrpSpPr>
            <p:cNvPr id="97" name="Graphic 93">
              <a:extLst>
                <a:ext uri="{FF2B5EF4-FFF2-40B4-BE49-F238E27FC236}">
                  <a16:creationId xmlns:a16="http://schemas.microsoft.com/office/drawing/2014/main" id="{B0DF8D4F-58F2-D11D-9177-24A091100144}"/>
                </a:ext>
              </a:extLst>
            </p:cNvPr>
            <p:cNvGrpSpPr/>
            <p:nvPr/>
          </p:nvGrpSpPr>
          <p:grpSpPr>
            <a:xfrm>
              <a:off x="5644173" y="3664769"/>
              <a:ext cx="1262646" cy="1143000"/>
              <a:chOff x="5644173" y="3664769"/>
              <a:chExt cx="1262646" cy="1143000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A1496298-A264-D481-71F2-69635DB7D668}"/>
                  </a:ext>
                </a:extLst>
              </p:cNvPr>
              <p:cNvSpPr/>
              <p:nvPr/>
            </p:nvSpPr>
            <p:spPr>
              <a:xfrm>
                <a:off x="5644173" y="3664769"/>
                <a:ext cx="1219200" cy="11430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1430" cap="flat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40C8247-B146-E73F-1B83-FCC92160EE90}"/>
                  </a:ext>
                </a:extLst>
              </p:cNvPr>
              <p:cNvSpPr txBox="1"/>
              <p:nvPr/>
            </p:nvSpPr>
            <p:spPr>
              <a:xfrm>
                <a:off x="5773175" y="3853714"/>
                <a:ext cx="1133644" cy="2616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de-DE"/>
                </a:defPPr>
                <a:lvl1pPr>
                  <a:defRPr sz="1050" spc="0" baseline="0">
                    <a:ln/>
                    <a:cs typeface="Helvetica"/>
                    <a:rtl val="0"/>
                  </a:defRPr>
                </a:lvl1pPr>
              </a:lstStyle>
              <a:p>
                <a:r>
                  <a:rPr lang="en-GB" sz="1100" dirty="0">
                    <a:sym typeface="Helvetica"/>
                  </a:rPr>
                  <a:t>Representative</a:t>
                </a:r>
                <a:endParaRPr lang="en-GB" dirty="0">
                  <a:sym typeface="Helvetica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5F26733-A44F-63FF-B6CB-FDD25E5DD69C}"/>
                  </a:ext>
                </a:extLst>
              </p:cNvPr>
              <p:cNvSpPr txBox="1"/>
              <p:nvPr/>
            </p:nvSpPr>
            <p:spPr>
              <a:xfrm>
                <a:off x="5928803" y="3987064"/>
                <a:ext cx="75052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deviation</a:t>
                </a:r>
                <a:endParaRPr lang="en-GB" sz="900" spc="0" baseline="0" dirty="0">
                  <a:ln/>
                  <a:cs typeface="Helvetica"/>
                  <a:sym typeface="Helvetica"/>
                  <a:rtl val="0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5D8BC23-8107-75A7-7BE6-A93DA9FE2F50}"/>
                  </a:ext>
                </a:extLst>
              </p:cNvPr>
              <p:cNvSpPr txBox="1"/>
              <p:nvPr/>
            </p:nvSpPr>
            <p:spPr>
              <a:xfrm>
                <a:off x="5836799" y="4120414"/>
                <a:ext cx="97654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mechanisms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1C328A1-4F95-2E2B-B3C0-8DE33CC3BD78}"/>
                  </a:ext>
                </a:extLst>
              </p:cNvPr>
              <p:cNvSpPr txBox="1"/>
              <p:nvPr/>
            </p:nvSpPr>
            <p:spPr>
              <a:xfrm>
                <a:off x="5868444" y="4253764"/>
                <a:ext cx="89960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identified in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2C0F4E7-CDD5-A5C2-845A-646B0F123A23}"/>
                  </a:ext>
                </a:extLst>
              </p:cNvPr>
              <p:cNvSpPr txBox="1"/>
              <p:nvPr/>
            </p:nvSpPr>
            <p:spPr>
              <a:xfrm>
                <a:off x="5916106" y="4387114"/>
                <a:ext cx="78258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validati</a:t>
                </a:r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o</a:t>
                </a:r>
                <a:r>
                  <a:rPr lang="en-GB" sz="1100" spc="0" baseline="0" dirty="0">
                    <a:ln/>
                    <a:cs typeface="Helvetica"/>
                    <a:sym typeface="Helvetica"/>
                    <a:rtl val="0"/>
                  </a:rPr>
                  <a:t>n</a:t>
                </a:r>
              </a:p>
            </p:txBody>
          </p:sp>
        </p:grpSp>
        <p:grpSp>
          <p:nvGrpSpPr>
            <p:cNvPr id="104" name="Graphic 93">
              <a:extLst>
                <a:ext uri="{FF2B5EF4-FFF2-40B4-BE49-F238E27FC236}">
                  <a16:creationId xmlns:a16="http://schemas.microsoft.com/office/drawing/2014/main" id="{17424797-97ED-9461-A718-0A4577DF1212}"/>
                </a:ext>
              </a:extLst>
            </p:cNvPr>
            <p:cNvGrpSpPr/>
            <p:nvPr/>
          </p:nvGrpSpPr>
          <p:grpSpPr>
            <a:xfrm>
              <a:off x="5463198" y="2851691"/>
              <a:ext cx="1571625" cy="887468"/>
              <a:chOff x="5463198" y="2851691"/>
              <a:chExt cx="1571625" cy="887468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58A4B9C-87A0-79E5-E0BF-1F1CC094E693}"/>
                  </a:ext>
                </a:extLst>
              </p:cNvPr>
              <p:cNvSpPr/>
              <p:nvPr/>
            </p:nvSpPr>
            <p:spPr>
              <a:xfrm>
                <a:off x="5463198" y="2996209"/>
                <a:ext cx="1571625" cy="742950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FCC6D64-79B1-6E7A-DE2E-39C6BD88B53C}"/>
                  </a:ext>
                </a:extLst>
              </p:cNvPr>
              <p:cNvSpPr txBox="1"/>
              <p:nvPr/>
            </p:nvSpPr>
            <p:spPr>
              <a:xfrm>
                <a:off x="5848008" y="2851691"/>
                <a:ext cx="8002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GB" sz="4800" b="1" spc="0" baseline="0" dirty="0">
                    <a:ln/>
                    <a:latin typeface="Segoe UI Symbol"/>
                    <a:ea typeface="Segoe UI Symbol"/>
                    <a:sym typeface="Segoe UI Symbol"/>
                    <a:rtl val="0"/>
                  </a:rPr>
                  <a:t>➜</a:t>
                </a:r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474A8D1-B926-0A49-C872-AF1609056269}"/>
              </a:ext>
            </a:extLst>
          </p:cNvPr>
          <p:cNvGrpSpPr/>
          <p:nvPr/>
        </p:nvGrpSpPr>
        <p:grpSpPr>
          <a:xfrm>
            <a:off x="1704936" y="1885837"/>
            <a:ext cx="3606308" cy="3653114"/>
            <a:chOff x="878824" y="2133552"/>
            <a:chExt cx="3606308" cy="3653114"/>
          </a:xfrm>
        </p:grpSpPr>
        <p:grpSp>
          <p:nvGrpSpPr>
            <p:cNvPr id="33" name="Graphic 30">
              <a:extLst>
                <a:ext uri="{FF2B5EF4-FFF2-40B4-BE49-F238E27FC236}">
                  <a16:creationId xmlns:a16="http://schemas.microsoft.com/office/drawing/2014/main" id="{E03FD771-C288-FF07-BDE2-07D8BCB636D5}"/>
                </a:ext>
              </a:extLst>
            </p:cNvPr>
            <p:cNvGrpSpPr/>
            <p:nvPr/>
          </p:nvGrpSpPr>
          <p:grpSpPr>
            <a:xfrm>
              <a:off x="1176509" y="2273568"/>
              <a:ext cx="3308623" cy="3513098"/>
              <a:chOff x="1206245" y="2145814"/>
              <a:chExt cx="4133850" cy="3895725"/>
            </a:xfrm>
          </p:grpSpPr>
          <p:grpSp>
            <p:nvGrpSpPr>
              <p:cNvPr id="34" name="Graphic 30">
                <a:extLst>
                  <a:ext uri="{FF2B5EF4-FFF2-40B4-BE49-F238E27FC236}">
                    <a16:creationId xmlns:a16="http://schemas.microsoft.com/office/drawing/2014/main" id="{60D2355C-E2B8-136D-03D8-C95B0A70E058}"/>
                  </a:ext>
                </a:extLst>
              </p:cNvPr>
              <p:cNvGrpSpPr/>
              <p:nvPr/>
            </p:nvGrpSpPr>
            <p:grpSpPr>
              <a:xfrm>
                <a:off x="1206245" y="2145814"/>
                <a:ext cx="4133850" cy="381000"/>
                <a:chOff x="1206245" y="2145814"/>
                <a:chExt cx="4133850" cy="381000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142422EA-B7F5-F819-13B1-BF202C2FB746}"/>
                    </a:ext>
                  </a:extLst>
                </p:cNvPr>
                <p:cNvSpPr/>
                <p:nvPr/>
              </p:nvSpPr>
              <p:spPr>
                <a:xfrm>
                  <a:off x="1206245" y="2145814"/>
                  <a:ext cx="4133850" cy="38100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85C4E3"/>
                </a:solidFill>
                <a:ln w="1143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0A32E40-22FC-6B9A-8211-CB828DA3CB7E}"/>
                    </a:ext>
                  </a:extLst>
                </p:cNvPr>
                <p:cNvSpPr txBox="1"/>
                <p:nvPr/>
              </p:nvSpPr>
              <p:spPr>
                <a:xfrm>
                  <a:off x="2772076" y="2184819"/>
                  <a:ext cx="1002262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350" b="1" spc="0" baseline="0" dirty="0">
                      <a:ln/>
                      <a:latin typeface="Helvetica"/>
                      <a:cs typeface="Helvetica"/>
                      <a:sym typeface="Helvetica"/>
                      <a:rtl val="0"/>
                    </a:rPr>
                    <a:t>Validation</a:t>
                  </a:r>
                </a:p>
              </p:txBody>
            </p:sp>
          </p:grp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9B36EA76-C51E-B446-7B3C-DB0A311E2A9D}"/>
                  </a:ext>
                </a:extLst>
              </p:cNvPr>
              <p:cNvSpPr/>
              <p:nvPr/>
            </p:nvSpPr>
            <p:spPr>
              <a:xfrm>
                <a:off x="1206245" y="2593489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58E58826-59FE-0438-8E8C-5680EFF8C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5966" r="53313"/>
              <a:stretch>
                <a:fillRect/>
              </a:stretch>
            </p:blipFill>
            <p:spPr>
              <a:xfrm>
                <a:off x="1396413" y="2606533"/>
                <a:ext cx="565858" cy="467968"/>
              </a:xfrm>
              <a:custGeom>
                <a:avLst/>
                <a:gdLst>
                  <a:gd name="csX0" fmla="*/ 0 w 1212018"/>
                  <a:gd name="csY0" fmla="*/ 0 h 556879"/>
                  <a:gd name="csX1" fmla="*/ 1212018 w 1212018"/>
                  <a:gd name="csY1" fmla="*/ 0 h 556879"/>
                  <a:gd name="csX2" fmla="*/ 1212018 w 1212018"/>
                  <a:gd name="csY2" fmla="*/ 556879 h 556879"/>
                  <a:gd name="csX3" fmla="*/ 0 w 1212018"/>
                  <a:gd name="csY3" fmla="*/ 556879 h 5568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12018" h="556879">
                    <a:moveTo>
                      <a:pt x="0" y="0"/>
                    </a:moveTo>
                    <a:lnTo>
                      <a:pt x="1212018" y="0"/>
                    </a:lnTo>
                    <a:lnTo>
                      <a:pt x="1212018" y="556879"/>
                    </a:lnTo>
                    <a:lnTo>
                      <a:pt x="0" y="556879"/>
                    </a:lnTo>
                    <a:close/>
                  </a:path>
                </a:pathLst>
              </a:custGeom>
            </p:spPr>
          </p:pic>
          <p:grpSp>
            <p:nvGrpSpPr>
              <p:cNvPr id="40" name="Graphic 30">
                <a:extLst>
                  <a:ext uri="{FF2B5EF4-FFF2-40B4-BE49-F238E27FC236}">
                    <a16:creationId xmlns:a16="http://schemas.microsoft.com/office/drawing/2014/main" id="{5BC9C9A8-3F30-6E03-0BDD-243820214455}"/>
                  </a:ext>
                </a:extLst>
              </p:cNvPr>
              <p:cNvGrpSpPr/>
              <p:nvPr/>
            </p:nvGrpSpPr>
            <p:grpSpPr>
              <a:xfrm>
                <a:off x="2463545" y="2698265"/>
                <a:ext cx="333762" cy="300141"/>
                <a:chOff x="2463545" y="2698265"/>
                <a:chExt cx="333762" cy="300141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D56B0F98-D0E7-22C3-C251-E72C0E3FB07D}"/>
                    </a:ext>
                  </a:extLst>
                </p:cNvPr>
                <p:cNvSpPr/>
                <p:nvPr/>
              </p:nvSpPr>
              <p:spPr>
                <a:xfrm>
                  <a:off x="2463545" y="2698265"/>
                  <a:ext cx="333762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4FBF933-3294-99DC-BFA4-80271FA8D462}"/>
                    </a:ext>
                  </a:extLst>
                </p:cNvPr>
                <p:cNvSpPr txBox="1"/>
                <p:nvPr/>
              </p:nvSpPr>
              <p:spPr>
                <a:xfrm>
                  <a:off x="2474292" y="2710738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1</a:t>
                  </a:r>
                </a:p>
              </p:txBody>
            </p:sp>
          </p:grpSp>
          <p:grpSp>
            <p:nvGrpSpPr>
              <p:cNvPr id="43" name="Graphic 30">
                <a:extLst>
                  <a:ext uri="{FF2B5EF4-FFF2-40B4-BE49-F238E27FC236}">
                    <a16:creationId xmlns:a16="http://schemas.microsoft.com/office/drawing/2014/main" id="{F1FA6F57-96D5-4561-6313-761298ECAB45}"/>
                  </a:ext>
                </a:extLst>
              </p:cNvPr>
              <p:cNvGrpSpPr/>
              <p:nvPr/>
            </p:nvGrpSpPr>
            <p:grpSpPr>
              <a:xfrm>
                <a:off x="2906458" y="2626826"/>
                <a:ext cx="2000250" cy="466725"/>
                <a:chOff x="2906458" y="2626826"/>
                <a:chExt cx="2000250" cy="466725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CD39C9F-F03E-90C8-93E2-08F1F6CCE100}"/>
                    </a:ext>
                  </a:extLst>
                </p:cNvPr>
                <p:cNvSpPr/>
                <p:nvPr/>
              </p:nvSpPr>
              <p:spPr>
                <a:xfrm>
                  <a:off x="2906458" y="2626826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2A482F-9B74-F36C-49AE-AA456896DC31}"/>
                    </a:ext>
                  </a:extLst>
                </p:cNvPr>
                <p:cNvSpPr txBox="1"/>
                <p:nvPr/>
              </p:nvSpPr>
              <p:spPr>
                <a:xfrm>
                  <a:off x="3009005" y="2694370"/>
                  <a:ext cx="1434419" cy="2901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100" spc="0" baseline="0" dirty="0">
                      <a:ln/>
                      <a:solidFill>
                        <a:srgbClr val="15191D"/>
                      </a:solidFill>
                      <a:cs typeface="Helvetica"/>
                      <a:sym typeface="Helvetica"/>
                      <a:rtl val="0"/>
                    </a:rPr>
                    <a:t>Reference data</a:t>
                  </a:r>
                </a:p>
              </p:txBody>
            </p:sp>
          </p:grp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E121D542-2B67-93E0-D7F5-34700EF11E09}"/>
                  </a:ext>
                </a:extLst>
              </p:cNvPr>
              <p:cNvSpPr/>
              <p:nvPr/>
            </p:nvSpPr>
            <p:spPr>
              <a:xfrm>
                <a:off x="1206245" y="3174514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4A98A089-6D32-BF66-3A6C-D9824B945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6682"/>
              <a:stretch>
                <a:fillRect/>
              </a:stretch>
            </p:blipFill>
            <p:spPr>
              <a:xfrm>
                <a:off x="1340483" y="3214031"/>
                <a:ext cx="724334" cy="461533"/>
              </a:xfrm>
              <a:custGeom>
                <a:avLst/>
                <a:gdLst>
                  <a:gd name="csX0" fmla="*/ 0 w 724334"/>
                  <a:gd name="csY0" fmla="*/ 0 h 494584"/>
                  <a:gd name="csX1" fmla="*/ 724334 w 724334"/>
                  <a:gd name="csY1" fmla="*/ 0 h 494584"/>
                  <a:gd name="csX2" fmla="*/ 724334 w 724334"/>
                  <a:gd name="csY2" fmla="*/ 494585 h 494584"/>
                  <a:gd name="csX3" fmla="*/ 0 w 724334"/>
                  <a:gd name="csY3" fmla="*/ 494585 h 49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24334" h="494584">
                    <a:moveTo>
                      <a:pt x="0" y="0"/>
                    </a:moveTo>
                    <a:lnTo>
                      <a:pt x="724334" y="0"/>
                    </a:lnTo>
                    <a:lnTo>
                      <a:pt x="724334" y="494585"/>
                    </a:lnTo>
                    <a:lnTo>
                      <a:pt x="0" y="494585"/>
                    </a:lnTo>
                    <a:close/>
                  </a:path>
                </a:pathLst>
              </a:custGeom>
            </p:spPr>
          </p:pic>
          <p:grpSp>
            <p:nvGrpSpPr>
              <p:cNvPr id="48" name="Graphic 30">
                <a:extLst>
                  <a:ext uri="{FF2B5EF4-FFF2-40B4-BE49-F238E27FC236}">
                    <a16:creationId xmlns:a16="http://schemas.microsoft.com/office/drawing/2014/main" id="{A1C2485D-9062-B618-95DA-A7A3A73FD499}"/>
                  </a:ext>
                </a:extLst>
              </p:cNvPr>
              <p:cNvGrpSpPr/>
              <p:nvPr/>
            </p:nvGrpSpPr>
            <p:grpSpPr>
              <a:xfrm>
                <a:off x="2463545" y="3279290"/>
                <a:ext cx="333762" cy="300141"/>
                <a:chOff x="2463545" y="3279290"/>
                <a:chExt cx="333762" cy="300141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ACCECDC-F604-AEC5-A61D-C548CFC5ED44}"/>
                    </a:ext>
                  </a:extLst>
                </p:cNvPr>
                <p:cNvSpPr/>
                <p:nvPr/>
              </p:nvSpPr>
              <p:spPr>
                <a:xfrm>
                  <a:off x="2463545" y="3279290"/>
                  <a:ext cx="333762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151605F-DD55-7AF1-0202-59E3029240EE}"/>
                    </a:ext>
                  </a:extLst>
                </p:cNvPr>
                <p:cNvSpPr txBox="1"/>
                <p:nvPr/>
              </p:nvSpPr>
              <p:spPr>
                <a:xfrm>
                  <a:off x="2474292" y="3291763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2</a:t>
                  </a:r>
                </a:p>
              </p:txBody>
            </p:sp>
          </p:grpSp>
          <p:grpSp>
            <p:nvGrpSpPr>
              <p:cNvPr id="51" name="Graphic 30">
                <a:extLst>
                  <a:ext uri="{FF2B5EF4-FFF2-40B4-BE49-F238E27FC236}">
                    <a16:creationId xmlns:a16="http://schemas.microsoft.com/office/drawing/2014/main" id="{0CA15D8B-E326-2808-DCEC-0C20C77CEA2D}"/>
                  </a:ext>
                </a:extLst>
              </p:cNvPr>
              <p:cNvGrpSpPr/>
              <p:nvPr/>
            </p:nvGrpSpPr>
            <p:grpSpPr>
              <a:xfrm>
                <a:off x="2906458" y="3207851"/>
                <a:ext cx="2139815" cy="466725"/>
                <a:chOff x="2906458" y="3207851"/>
                <a:chExt cx="2139815" cy="466725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CEEECF8A-B471-34B7-722B-F98D2CE89284}"/>
                    </a:ext>
                  </a:extLst>
                </p:cNvPr>
                <p:cNvSpPr/>
                <p:nvPr/>
              </p:nvSpPr>
              <p:spPr>
                <a:xfrm>
                  <a:off x="2906458" y="3207851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D27FC9F-635B-22E5-85AD-0E3A98360208}"/>
                    </a:ext>
                  </a:extLst>
                </p:cNvPr>
                <p:cNvSpPr txBox="1"/>
                <p:nvPr/>
              </p:nvSpPr>
              <p:spPr>
                <a:xfrm>
                  <a:off x="3009005" y="3275395"/>
                  <a:ext cx="2037268" cy="29010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>
                    <a:defRPr sz="975" spc="0" baseline="0">
                      <a:ln/>
                      <a:solidFill>
                        <a:srgbClr val="15191D"/>
                      </a:solidFill>
                      <a:cs typeface="Helvetica"/>
                      <a:rtl val="0"/>
                    </a:defRPr>
                  </a:lvl1pPr>
                </a:lstStyle>
                <a:p>
                  <a:r>
                    <a:rPr lang="en-GB" sz="1100" dirty="0">
                      <a:sym typeface="Helvetica"/>
                    </a:rPr>
                    <a:t>Ground-truth extraction</a:t>
                  </a:r>
                </a:p>
              </p:txBody>
            </p:sp>
          </p:grp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9C757C1-6842-30EE-3F6A-70EF1F5BF5C6}"/>
                  </a:ext>
                </a:extLst>
              </p:cNvPr>
              <p:cNvSpPr/>
              <p:nvPr/>
            </p:nvSpPr>
            <p:spPr>
              <a:xfrm>
                <a:off x="1206245" y="3755539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D3A9F9E0-C2D7-1BA7-E4AD-7AE54CC69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8479"/>
              <a:stretch>
                <a:fillRect/>
              </a:stretch>
            </p:blipFill>
            <p:spPr>
              <a:xfrm>
                <a:off x="1339308" y="3788876"/>
                <a:ext cx="732163" cy="468249"/>
              </a:xfrm>
              <a:custGeom>
                <a:avLst/>
                <a:gdLst>
                  <a:gd name="csX0" fmla="*/ 0 w 732163"/>
                  <a:gd name="csY0" fmla="*/ 0 h 511625"/>
                  <a:gd name="csX1" fmla="*/ 732164 w 732163"/>
                  <a:gd name="csY1" fmla="*/ 0 h 511625"/>
                  <a:gd name="csX2" fmla="*/ 732164 w 732163"/>
                  <a:gd name="csY2" fmla="*/ 511626 h 511625"/>
                  <a:gd name="csX3" fmla="*/ 0 w 732163"/>
                  <a:gd name="csY3" fmla="*/ 511626 h 511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32163" h="511625">
                    <a:moveTo>
                      <a:pt x="0" y="0"/>
                    </a:moveTo>
                    <a:lnTo>
                      <a:pt x="732164" y="0"/>
                    </a:lnTo>
                    <a:lnTo>
                      <a:pt x="732164" y="511626"/>
                    </a:lnTo>
                    <a:lnTo>
                      <a:pt x="0" y="511626"/>
                    </a:lnTo>
                    <a:close/>
                  </a:path>
                </a:pathLst>
              </a:custGeom>
            </p:spPr>
          </p:pic>
          <p:grpSp>
            <p:nvGrpSpPr>
              <p:cNvPr id="56" name="Graphic 30">
                <a:extLst>
                  <a:ext uri="{FF2B5EF4-FFF2-40B4-BE49-F238E27FC236}">
                    <a16:creationId xmlns:a16="http://schemas.microsoft.com/office/drawing/2014/main" id="{A40D0326-8187-0DD7-3DC4-86F29695D146}"/>
                  </a:ext>
                </a:extLst>
              </p:cNvPr>
              <p:cNvGrpSpPr/>
              <p:nvPr/>
            </p:nvGrpSpPr>
            <p:grpSpPr>
              <a:xfrm>
                <a:off x="2463545" y="3860315"/>
                <a:ext cx="333762" cy="300141"/>
                <a:chOff x="2463545" y="3860315"/>
                <a:chExt cx="333762" cy="300141"/>
              </a:xfrm>
            </p:grpSpPr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A36141-9274-99B7-5188-9F4309C769BA}"/>
                    </a:ext>
                  </a:extLst>
                </p:cNvPr>
                <p:cNvSpPr/>
                <p:nvPr/>
              </p:nvSpPr>
              <p:spPr>
                <a:xfrm>
                  <a:off x="2463545" y="3860315"/>
                  <a:ext cx="333762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025D69A-3EB2-3DE4-0C34-D14DD6681369}"/>
                    </a:ext>
                  </a:extLst>
                </p:cNvPr>
                <p:cNvSpPr txBox="1"/>
                <p:nvPr/>
              </p:nvSpPr>
              <p:spPr>
                <a:xfrm>
                  <a:off x="2474292" y="3872788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3</a:t>
                  </a:r>
                </a:p>
              </p:txBody>
            </p:sp>
          </p:grpSp>
          <p:grpSp>
            <p:nvGrpSpPr>
              <p:cNvPr id="59" name="Graphic 30">
                <a:extLst>
                  <a:ext uri="{FF2B5EF4-FFF2-40B4-BE49-F238E27FC236}">
                    <a16:creationId xmlns:a16="http://schemas.microsoft.com/office/drawing/2014/main" id="{6A385FEF-1A85-F947-18F3-1D3215134D9A}"/>
                  </a:ext>
                </a:extLst>
              </p:cNvPr>
              <p:cNvGrpSpPr/>
              <p:nvPr/>
            </p:nvGrpSpPr>
            <p:grpSpPr>
              <a:xfrm>
                <a:off x="2906458" y="3788876"/>
                <a:ext cx="2336092" cy="466725"/>
                <a:chOff x="2906458" y="3788876"/>
                <a:chExt cx="2336092" cy="466725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177F7DA0-800A-E806-625A-CBD2BCCA1CE3}"/>
                    </a:ext>
                  </a:extLst>
                </p:cNvPr>
                <p:cNvSpPr/>
                <p:nvPr/>
              </p:nvSpPr>
              <p:spPr>
                <a:xfrm>
                  <a:off x="2906458" y="3788876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89637C79-415D-F72D-9C81-D1624282CE26}"/>
                    </a:ext>
                  </a:extLst>
                </p:cNvPr>
                <p:cNvSpPr txBox="1"/>
                <p:nvPr/>
              </p:nvSpPr>
              <p:spPr>
                <a:xfrm>
                  <a:off x="3009005" y="3856420"/>
                  <a:ext cx="2233545" cy="29010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>
                    <a:defRPr sz="975" spc="0" baseline="0">
                      <a:ln/>
                      <a:solidFill>
                        <a:srgbClr val="15191D"/>
                      </a:solidFill>
                      <a:cs typeface="Helvetica"/>
                      <a:rtl val="0"/>
                    </a:defRPr>
                  </a:lvl1pPr>
                </a:lstStyle>
                <a:p>
                  <a:r>
                    <a:rPr lang="en-GB" sz="1100" dirty="0">
                      <a:sym typeface="Helvetica"/>
                    </a:rPr>
                    <a:t>Input preparation for MZA</a:t>
                  </a:r>
                </a:p>
              </p:txBody>
            </p:sp>
          </p:grp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066C24C8-85C0-4A49-06A4-A829EF0EEC44}"/>
                  </a:ext>
                </a:extLst>
              </p:cNvPr>
              <p:cNvSpPr/>
              <p:nvPr/>
            </p:nvSpPr>
            <p:spPr>
              <a:xfrm>
                <a:off x="1206245" y="4336564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FEA63B2-4108-8E09-7382-24A6ADBC9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18190"/>
              <a:stretch>
                <a:fillRect/>
              </a:stretch>
            </p:blipFill>
            <p:spPr>
              <a:xfrm>
                <a:off x="1318456" y="4369901"/>
                <a:ext cx="826089" cy="488538"/>
              </a:xfrm>
              <a:custGeom>
                <a:avLst/>
                <a:gdLst>
                  <a:gd name="csX0" fmla="*/ 0 w 826089"/>
                  <a:gd name="csY0" fmla="*/ 0 h 597161"/>
                  <a:gd name="csX1" fmla="*/ 826090 w 826089"/>
                  <a:gd name="csY1" fmla="*/ 0 h 597161"/>
                  <a:gd name="csX2" fmla="*/ 826090 w 826089"/>
                  <a:gd name="csY2" fmla="*/ 597161 h 597161"/>
                  <a:gd name="csX3" fmla="*/ 0 w 826089"/>
                  <a:gd name="csY3" fmla="*/ 597161 h 5971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6089" h="597161">
                    <a:moveTo>
                      <a:pt x="0" y="0"/>
                    </a:moveTo>
                    <a:lnTo>
                      <a:pt x="826090" y="0"/>
                    </a:lnTo>
                    <a:lnTo>
                      <a:pt x="826090" y="597161"/>
                    </a:lnTo>
                    <a:lnTo>
                      <a:pt x="0" y="597161"/>
                    </a:lnTo>
                    <a:close/>
                  </a:path>
                </a:pathLst>
              </a:custGeom>
            </p:spPr>
          </p:pic>
          <p:grpSp>
            <p:nvGrpSpPr>
              <p:cNvPr id="64" name="Graphic 30">
                <a:extLst>
                  <a:ext uri="{FF2B5EF4-FFF2-40B4-BE49-F238E27FC236}">
                    <a16:creationId xmlns:a16="http://schemas.microsoft.com/office/drawing/2014/main" id="{4ED6BF2E-5A10-1400-FDBE-CEFEBC4F66EC}"/>
                  </a:ext>
                </a:extLst>
              </p:cNvPr>
              <p:cNvGrpSpPr/>
              <p:nvPr/>
            </p:nvGrpSpPr>
            <p:grpSpPr>
              <a:xfrm>
                <a:off x="2463545" y="4441340"/>
                <a:ext cx="333762" cy="300141"/>
                <a:chOff x="2463545" y="4441340"/>
                <a:chExt cx="333762" cy="300141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01C141D4-B34D-8876-A29E-904B2670A888}"/>
                    </a:ext>
                  </a:extLst>
                </p:cNvPr>
                <p:cNvSpPr/>
                <p:nvPr/>
              </p:nvSpPr>
              <p:spPr>
                <a:xfrm>
                  <a:off x="2463545" y="4441340"/>
                  <a:ext cx="333762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225640E-6149-DF66-D49C-B9950831501C}"/>
                    </a:ext>
                  </a:extLst>
                </p:cNvPr>
                <p:cNvSpPr txBox="1"/>
                <p:nvPr/>
              </p:nvSpPr>
              <p:spPr>
                <a:xfrm>
                  <a:off x="2474292" y="4453813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4</a:t>
                  </a:r>
                </a:p>
              </p:txBody>
            </p:sp>
          </p:grpSp>
          <p:grpSp>
            <p:nvGrpSpPr>
              <p:cNvPr id="67" name="Graphic 30">
                <a:extLst>
                  <a:ext uri="{FF2B5EF4-FFF2-40B4-BE49-F238E27FC236}">
                    <a16:creationId xmlns:a16="http://schemas.microsoft.com/office/drawing/2014/main" id="{4C390384-8454-D012-09C6-085530592CE2}"/>
                  </a:ext>
                </a:extLst>
              </p:cNvPr>
              <p:cNvGrpSpPr/>
              <p:nvPr/>
            </p:nvGrpSpPr>
            <p:grpSpPr>
              <a:xfrm>
                <a:off x="2906458" y="4369901"/>
                <a:ext cx="2125795" cy="466725"/>
                <a:chOff x="2906458" y="4369901"/>
                <a:chExt cx="2125795" cy="466725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06001F3D-38F7-924E-534B-7CBBE60F8C88}"/>
                    </a:ext>
                  </a:extLst>
                </p:cNvPr>
                <p:cNvSpPr/>
                <p:nvPr/>
              </p:nvSpPr>
              <p:spPr>
                <a:xfrm>
                  <a:off x="2906458" y="4369901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73C1758-DBEA-99E0-408B-86064727B238}"/>
                    </a:ext>
                  </a:extLst>
                </p:cNvPr>
                <p:cNvSpPr txBox="1"/>
                <p:nvPr/>
              </p:nvSpPr>
              <p:spPr>
                <a:xfrm>
                  <a:off x="3009005" y="4437445"/>
                  <a:ext cx="2023248" cy="29010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>
                    <a:defRPr sz="975" spc="0" baseline="0">
                      <a:ln/>
                      <a:solidFill>
                        <a:srgbClr val="15191D"/>
                      </a:solidFill>
                      <a:cs typeface="Helvetica"/>
                      <a:rtl val="0"/>
                    </a:defRPr>
                  </a:lvl1pPr>
                </a:lstStyle>
                <a:p>
                  <a:r>
                    <a:rPr lang="en-GB" sz="1100" dirty="0">
                      <a:sym typeface="Helvetica"/>
                    </a:rPr>
                    <a:t>MZA-generated zoning</a:t>
                  </a:r>
                </a:p>
              </p:txBody>
            </p:sp>
          </p:grp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D6EF2ADC-2E29-58B9-455A-96D111FAAC65}"/>
                  </a:ext>
                </a:extLst>
              </p:cNvPr>
              <p:cNvSpPr/>
              <p:nvPr/>
            </p:nvSpPr>
            <p:spPr>
              <a:xfrm>
                <a:off x="1206245" y="4917589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5A32F9DE-709D-7CA2-27CE-8A013965E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25868"/>
              <a:stretch>
                <a:fillRect/>
              </a:stretch>
            </p:blipFill>
            <p:spPr>
              <a:xfrm>
                <a:off x="1325369" y="4995207"/>
                <a:ext cx="779999" cy="431973"/>
              </a:xfrm>
              <a:custGeom>
                <a:avLst/>
                <a:gdLst>
                  <a:gd name="csX0" fmla="*/ 0 w 779999"/>
                  <a:gd name="csY0" fmla="*/ 0 h 582706"/>
                  <a:gd name="csX1" fmla="*/ 779999 w 779999"/>
                  <a:gd name="csY1" fmla="*/ 0 h 582706"/>
                  <a:gd name="csX2" fmla="*/ 779999 w 779999"/>
                  <a:gd name="csY2" fmla="*/ 582706 h 582706"/>
                  <a:gd name="csX3" fmla="*/ 0 w 779999"/>
                  <a:gd name="csY3" fmla="*/ 582706 h 5827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9999" h="582706">
                    <a:moveTo>
                      <a:pt x="0" y="0"/>
                    </a:moveTo>
                    <a:lnTo>
                      <a:pt x="779999" y="0"/>
                    </a:lnTo>
                    <a:lnTo>
                      <a:pt x="779999" y="582706"/>
                    </a:lnTo>
                    <a:lnTo>
                      <a:pt x="0" y="582706"/>
                    </a:lnTo>
                    <a:close/>
                  </a:path>
                </a:pathLst>
              </a:custGeom>
            </p:spPr>
          </p:pic>
          <p:grpSp>
            <p:nvGrpSpPr>
              <p:cNvPr id="72" name="Graphic 30">
                <a:extLst>
                  <a:ext uri="{FF2B5EF4-FFF2-40B4-BE49-F238E27FC236}">
                    <a16:creationId xmlns:a16="http://schemas.microsoft.com/office/drawing/2014/main" id="{E1B25001-69FC-EC3E-D91C-2D3DAF914740}"/>
                  </a:ext>
                </a:extLst>
              </p:cNvPr>
              <p:cNvGrpSpPr/>
              <p:nvPr/>
            </p:nvGrpSpPr>
            <p:grpSpPr>
              <a:xfrm>
                <a:off x="2463545" y="5022365"/>
                <a:ext cx="333762" cy="300141"/>
                <a:chOff x="2463545" y="5022365"/>
                <a:chExt cx="333762" cy="300141"/>
              </a:xfrm>
            </p:grpSpPr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8C1C912B-D805-5F0A-64D3-8FC4912681DA}"/>
                    </a:ext>
                  </a:extLst>
                </p:cNvPr>
                <p:cNvSpPr/>
                <p:nvPr/>
              </p:nvSpPr>
              <p:spPr>
                <a:xfrm>
                  <a:off x="2463545" y="5022365"/>
                  <a:ext cx="333762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DF30C96-2A06-8693-8A79-00F5DDA43F95}"/>
                    </a:ext>
                  </a:extLst>
                </p:cNvPr>
                <p:cNvSpPr txBox="1"/>
                <p:nvPr/>
              </p:nvSpPr>
              <p:spPr>
                <a:xfrm>
                  <a:off x="2474292" y="5034838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5</a:t>
                  </a:r>
                </a:p>
              </p:txBody>
            </p:sp>
          </p:grpSp>
          <p:grpSp>
            <p:nvGrpSpPr>
              <p:cNvPr id="75" name="Graphic 30">
                <a:extLst>
                  <a:ext uri="{FF2B5EF4-FFF2-40B4-BE49-F238E27FC236}">
                    <a16:creationId xmlns:a16="http://schemas.microsoft.com/office/drawing/2014/main" id="{786FABE9-16ED-C44F-D000-F0C2884DCB1C}"/>
                  </a:ext>
                </a:extLst>
              </p:cNvPr>
              <p:cNvGrpSpPr/>
              <p:nvPr/>
            </p:nvGrpSpPr>
            <p:grpSpPr>
              <a:xfrm>
                <a:off x="2906458" y="4950926"/>
                <a:ext cx="2065711" cy="466725"/>
                <a:chOff x="2906458" y="4950926"/>
                <a:chExt cx="2065711" cy="466725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BF00AB2-C34E-2E86-F8DF-9026406F9A0B}"/>
                    </a:ext>
                  </a:extLst>
                </p:cNvPr>
                <p:cNvSpPr/>
                <p:nvPr/>
              </p:nvSpPr>
              <p:spPr>
                <a:xfrm>
                  <a:off x="2906458" y="4950926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177FBD0-C93C-43A8-C84B-B84BBC1AD499}"/>
                    </a:ext>
                  </a:extLst>
                </p:cNvPr>
                <p:cNvSpPr txBox="1"/>
                <p:nvPr/>
              </p:nvSpPr>
              <p:spPr>
                <a:xfrm>
                  <a:off x="3009005" y="5018470"/>
                  <a:ext cx="1963164" cy="29010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>
                    <a:defRPr sz="975" spc="0" baseline="0">
                      <a:ln/>
                      <a:solidFill>
                        <a:srgbClr val="15191D"/>
                      </a:solidFill>
                      <a:cs typeface="Helvetica"/>
                      <a:rtl val="0"/>
                    </a:defRPr>
                  </a:lvl1pPr>
                </a:lstStyle>
                <a:p>
                  <a:r>
                    <a:rPr lang="en-GB" sz="1100" dirty="0">
                      <a:sym typeface="Helvetica"/>
                    </a:rPr>
                    <a:t>Comparison &amp; metrics</a:t>
                  </a:r>
                </a:p>
              </p:txBody>
            </p:sp>
          </p:grp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EB128210-430C-E1CA-EDDB-1ADF4912E36F}"/>
                  </a:ext>
                </a:extLst>
              </p:cNvPr>
              <p:cNvSpPr/>
              <p:nvPr/>
            </p:nvSpPr>
            <p:spPr>
              <a:xfrm>
                <a:off x="1206245" y="5498614"/>
                <a:ext cx="4133850" cy="542925"/>
              </a:xfrm>
              <a:prstGeom prst="roundRect">
                <a:avLst>
                  <a:gd name="adj" fmla="val 12000"/>
                </a:avLst>
              </a:prstGeom>
              <a:solidFill>
                <a:srgbClr val="EFF7FC"/>
              </a:solidFill>
              <a:ln w="11430" cap="flat">
                <a:solidFill>
                  <a:srgbClr val="93BFD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1DEC080C-B8D4-174D-F256-B5B50C2D6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17092"/>
              <a:stretch>
                <a:fillRect/>
              </a:stretch>
            </p:blipFill>
            <p:spPr>
              <a:xfrm>
                <a:off x="1387479" y="5531952"/>
                <a:ext cx="727894" cy="458057"/>
              </a:xfrm>
              <a:custGeom>
                <a:avLst/>
                <a:gdLst>
                  <a:gd name="csX0" fmla="*/ 0 w 791770"/>
                  <a:gd name="csY0" fmla="*/ 0 h 600971"/>
                  <a:gd name="csX1" fmla="*/ 791770 w 791770"/>
                  <a:gd name="csY1" fmla="*/ 0 h 600971"/>
                  <a:gd name="csX2" fmla="*/ 791770 w 791770"/>
                  <a:gd name="csY2" fmla="*/ 600971 h 600971"/>
                  <a:gd name="csX3" fmla="*/ 0 w 791770"/>
                  <a:gd name="csY3" fmla="*/ 600971 h 6009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1770" h="600971">
                    <a:moveTo>
                      <a:pt x="0" y="0"/>
                    </a:moveTo>
                    <a:lnTo>
                      <a:pt x="791770" y="0"/>
                    </a:lnTo>
                    <a:lnTo>
                      <a:pt x="791770" y="600971"/>
                    </a:lnTo>
                    <a:lnTo>
                      <a:pt x="0" y="600971"/>
                    </a:lnTo>
                    <a:close/>
                  </a:path>
                </a:pathLst>
              </a:custGeom>
            </p:spPr>
          </p:pic>
          <p:grpSp>
            <p:nvGrpSpPr>
              <p:cNvPr id="80" name="Graphic 30">
                <a:extLst>
                  <a:ext uri="{FF2B5EF4-FFF2-40B4-BE49-F238E27FC236}">
                    <a16:creationId xmlns:a16="http://schemas.microsoft.com/office/drawing/2014/main" id="{80CB487A-25BF-D575-E8DE-1607BB96FA1A}"/>
                  </a:ext>
                </a:extLst>
              </p:cNvPr>
              <p:cNvGrpSpPr/>
              <p:nvPr/>
            </p:nvGrpSpPr>
            <p:grpSpPr>
              <a:xfrm>
                <a:off x="2454406" y="5619614"/>
                <a:ext cx="342900" cy="300141"/>
                <a:chOff x="2454406" y="5619614"/>
                <a:chExt cx="342900" cy="300141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F8F4194-045F-FB4A-AB5D-FDE95A835356}"/>
                    </a:ext>
                  </a:extLst>
                </p:cNvPr>
                <p:cNvSpPr/>
                <p:nvPr/>
              </p:nvSpPr>
              <p:spPr>
                <a:xfrm>
                  <a:off x="2454406" y="5619614"/>
                  <a:ext cx="342900" cy="300141"/>
                </a:xfrm>
                <a:prstGeom prst="ellipse">
                  <a:avLst/>
                </a:prstGeom>
                <a:solidFill>
                  <a:srgbClr val="006D8F"/>
                </a:solidFill>
                <a:ln w="9525" cap="flat">
                  <a:solidFill>
                    <a:srgbClr val="006D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C61ECC8-3E5B-BC5D-A486-5EF8B3552A74}"/>
                    </a:ext>
                  </a:extLst>
                </p:cNvPr>
                <p:cNvSpPr txBox="1"/>
                <p:nvPr/>
              </p:nvSpPr>
              <p:spPr>
                <a:xfrm>
                  <a:off x="2474292" y="5632087"/>
                  <a:ext cx="257043" cy="2404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GB" sz="1050" b="1" spc="0" baseline="0" dirty="0">
                      <a:ln/>
                      <a:solidFill>
                        <a:srgbClr val="FFFFFF"/>
                      </a:solidFill>
                      <a:latin typeface="Helvetica"/>
                      <a:cs typeface="Helvetica"/>
                      <a:sym typeface="Helvetica"/>
                      <a:rtl val="0"/>
                    </a:rPr>
                    <a:t>6</a:t>
                  </a:r>
                </a:p>
              </p:txBody>
            </p:sp>
          </p:grpSp>
          <p:grpSp>
            <p:nvGrpSpPr>
              <p:cNvPr id="83" name="Graphic 30">
                <a:extLst>
                  <a:ext uri="{FF2B5EF4-FFF2-40B4-BE49-F238E27FC236}">
                    <a16:creationId xmlns:a16="http://schemas.microsoft.com/office/drawing/2014/main" id="{E44C4557-EA93-7401-A560-AF5F0FB044BF}"/>
                  </a:ext>
                </a:extLst>
              </p:cNvPr>
              <p:cNvGrpSpPr/>
              <p:nvPr/>
            </p:nvGrpSpPr>
            <p:grpSpPr>
              <a:xfrm>
                <a:off x="2906458" y="5531951"/>
                <a:ext cx="2207911" cy="466725"/>
                <a:chOff x="2906458" y="5531951"/>
                <a:chExt cx="2207911" cy="466725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537E1C1-8A69-EDF7-7B62-72A67479691E}"/>
                    </a:ext>
                  </a:extLst>
                </p:cNvPr>
                <p:cNvSpPr/>
                <p:nvPr/>
              </p:nvSpPr>
              <p:spPr>
                <a:xfrm>
                  <a:off x="2906458" y="5531951"/>
                  <a:ext cx="2000250" cy="466725"/>
                </a:xfrm>
                <a:prstGeom prst="rect">
                  <a:avLst/>
                </a:pr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91CA1284-22F5-C589-C445-30B6059A57E4}"/>
                    </a:ext>
                  </a:extLst>
                </p:cNvPr>
                <p:cNvSpPr txBox="1"/>
                <p:nvPr/>
              </p:nvSpPr>
              <p:spPr>
                <a:xfrm>
                  <a:off x="3009005" y="5599495"/>
                  <a:ext cx="2105364" cy="290103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de-DE"/>
                  </a:defPPr>
                  <a:lvl1pPr>
                    <a:defRPr sz="975" spc="0" baseline="0">
                      <a:ln/>
                      <a:solidFill>
                        <a:srgbClr val="15191D"/>
                      </a:solidFill>
                      <a:cs typeface="Helvetica"/>
                      <a:rtl val="0"/>
                    </a:defRPr>
                  </a:lvl1pPr>
                </a:lstStyle>
                <a:p>
                  <a:r>
                    <a:rPr lang="en-GB" sz="1100" dirty="0">
                      <a:sym typeface="Helvetica"/>
                    </a:rPr>
                    <a:t>Diagnostic classification</a:t>
                  </a:r>
                </a:p>
              </p:txBody>
            </p:sp>
          </p:grpSp>
        </p:grpSp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B85D4278-AE57-C8BD-97D5-F4A630C18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8824" y="2133552"/>
              <a:ext cx="595370" cy="582693"/>
            </a:xfrm>
            <a:prstGeom prst="rect">
              <a:avLst/>
            </a:prstGeom>
          </p:spPr>
        </p:pic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53900BC-1FF2-C4B6-691B-15927E06B7F1}"/>
              </a:ext>
            </a:extLst>
          </p:cNvPr>
          <p:cNvGrpSpPr/>
          <p:nvPr/>
        </p:nvGrpSpPr>
        <p:grpSpPr>
          <a:xfrm>
            <a:off x="6541088" y="1834089"/>
            <a:ext cx="3755528" cy="3704862"/>
            <a:chOff x="6541088" y="1834089"/>
            <a:chExt cx="3755528" cy="3704862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FD3BC2C7-3CEF-7E83-2DD2-7B3CEA3B61E7}"/>
                </a:ext>
              </a:extLst>
            </p:cNvPr>
            <p:cNvGrpSpPr/>
            <p:nvPr/>
          </p:nvGrpSpPr>
          <p:grpSpPr>
            <a:xfrm>
              <a:off x="6541088" y="1834089"/>
              <a:ext cx="3755528" cy="3704862"/>
              <a:chOff x="6895403" y="2053500"/>
              <a:chExt cx="3755528" cy="3704862"/>
            </a:xfrm>
          </p:grpSpPr>
          <p:grpSp>
            <p:nvGrpSpPr>
              <p:cNvPr id="111" name="Graphic 108">
                <a:extLst>
                  <a:ext uri="{FF2B5EF4-FFF2-40B4-BE49-F238E27FC236}">
                    <a16:creationId xmlns:a16="http://schemas.microsoft.com/office/drawing/2014/main" id="{C8B6523B-49C7-80FA-78EA-7BBF8431AF39}"/>
                  </a:ext>
                </a:extLst>
              </p:cNvPr>
              <p:cNvGrpSpPr/>
              <p:nvPr/>
            </p:nvGrpSpPr>
            <p:grpSpPr>
              <a:xfrm>
                <a:off x="7251660" y="2200038"/>
                <a:ext cx="3399271" cy="3558324"/>
                <a:chOff x="7341826" y="2226199"/>
                <a:chExt cx="4359735" cy="3955220"/>
              </a:xfrm>
            </p:grpSpPr>
            <p:grpSp>
              <p:nvGrpSpPr>
                <p:cNvPr id="112" name="Graphic 108">
                  <a:extLst>
                    <a:ext uri="{FF2B5EF4-FFF2-40B4-BE49-F238E27FC236}">
                      <a16:creationId xmlns:a16="http://schemas.microsoft.com/office/drawing/2014/main" id="{BC1EA533-73F3-5AB2-63DE-053CE50AAE0D}"/>
                    </a:ext>
                  </a:extLst>
                </p:cNvPr>
                <p:cNvGrpSpPr/>
                <p:nvPr/>
              </p:nvGrpSpPr>
              <p:grpSpPr>
                <a:xfrm>
                  <a:off x="7341826" y="2226199"/>
                  <a:ext cx="4350353" cy="367247"/>
                  <a:chOff x="7341826" y="2226199"/>
                  <a:chExt cx="4350353" cy="367247"/>
                </a:xfrm>
              </p:grpSpPr>
              <p:sp>
                <p:nvSpPr>
                  <p:cNvPr id="113" name="Rectangle: Rounded Corners 112">
                    <a:extLst>
                      <a:ext uri="{FF2B5EF4-FFF2-40B4-BE49-F238E27FC236}">
                        <a16:creationId xmlns:a16="http://schemas.microsoft.com/office/drawing/2014/main" id="{68B7E654-C88A-C9F5-5D47-004CBF37F68D}"/>
                      </a:ext>
                    </a:extLst>
                  </p:cNvPr>
                  <p:cNvSpPr/>
                  <p:nvPr/>
                </p:nvSpPr>
                <p:spPr>
                  <a:xfrm>
                    <a:off x="7341826" y="2226199"/>
                    <a:ext cx="4350353" cy="367247"/>
                  </a:xfrm>
                  <a:prstGeom prst="roundRect">
                    <a:avLst>
                      <a:gd name="adj" fmla="val 12000"/>
                    </a:avLst>
                  </a:prstGeom>
                  <a:solidFill>
                    <a:srgbClr val="FDBB22"/>
                  </a:solidFill>
                  <a:ln w="11430" cap="flat">
                    <a:solidFill>
                      <a:srgbClr val="FDBB22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FC382FD8-A2D9-F7C1-DB42-CD2344516344}"/>
                      </a:ext>
                    </a:extLst>
                  </p:cNvPr>
                  <p:cNvSpPr txBox="1"/>
                  <p:nvPr/>
                </p:nvSpPr>
                <p:spPr>
                  <a:xfrm>
                    <a:off x="7860001" y="2244225"/>
                    <a:ext cx="2984095" cy="282981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de-DE"/>
                    </a:defPPr>
                    <a:lvl1pPr>
                      <a:defRPr sz="1350" b="1" spc="0" baseline="0">
                        <a:ln/>
                        <a:latin typeface="Helvetica"/>
                        <a:cs typeface="Helvetica"/>
                        <a:rtl val="0"/>
                      </a:defRPr>
                    </a:lvl1pPr>
                  </a:lstStyle>
                  <a:p>
                    <a:r>
                      <a:rPr lang="en-GB" dirty="0">
                        <a:sym typeface="Helvetica"/>
                      </a:rPr>
                      <a:t>Zoning-variant sensitivity analysis</a:t>
                    </a:r>
                  </a:p>
                </p:txBody>
              </p:sp>
            </p:grpSp>
            <p:sp>
              <p:nvSpPr>
                <p:cNvPr id="116" name="Rectangle: Rounded Corners 115">
                  <a:extLst>
                    <a:ext uri="{FF2B5EF4-FFF2-40B4-BE49-F238E27FC236}">
                      <a16:creationId xmlns:a16="http://schemas.microsoft.com/office/drawing/2014/main" id="{0A48B383-B910-14CA-A988-B6BCC96B48C7}"/>
                    </a:ext>
                  </a:extLst>
                </p:cNvPr>
                <p:cNvSpPr/>
                <p:nvPr/>
              </p:nvSpPr>
              <p:spPr>
                <a:xfrm>
                  <a:off x="7341826" y="2666694"/>
                  <a:ext cx="4359735" cy="657225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FF9E9"/>
                </a:solidFill>
                <a:ln w="11430" cap="flat">
                  <a:solidFill>
                    <a:srgbClr val="E7B73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pic>
              <p:nvPicPr>
                <p:cNvPr id="117" name="Picture 116">
                  <a:extLst>
                    <a:ext uri="{FF2B5EF4-FFF2-40B4-BE49-F238E27FC236}">
                      <a16:creationId xmlns:a16="http://schemas.microsoft.com/office/drawing/2014/main" id="{D7B95956-A577-1808-659D-F01E39C851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l="20050" t="14448"/>
                <a:stretch>
                  <a:fillRect/>
                </a:stretch>
              </p:blipFill>
              <p:spPr>
                <a:xfrm>
                  <a:off x="7582813" y="2725203"/>
                  <a:ext cx="554375" cy="527278"/>
                </a:xfrm>
                <a:custGeom>
                  <a:avLst/>
                  <a:gdLst>
                    <a:gd name="csX0" fmla="*/ 0 w 693396"/>
                    <a:gd name="csY0" fmla="*/ 0 h 616323"/>
                    <a:gd name="csX1" fmla="*/ 693396 w 693396"/>
                    <a:gd name="csY1" fmla="*/ 0 h 616323"/>
                    <a:gd name="csX2" fmla="*/ 693396 w 693396"/>
                    <a:gd name="csY2" fmla="*/ 616324 h 616323"/>
                    <a:gd name="csX3" fmla="*/ 0 w 693396"/>
                    <a:gd name="csY3" fmla="*/ 616324 h 6163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93396" h="616323">
                      <a:moveTo>
                        <a:pt x="0" y="0"/>
                      </a:moveTo>
                      <a:lnTo>
                        <a:pt x="693396" y="0"/>
                      </a:lnTo>
                      <a:lnTo>
                        <a:pt x="693396" y="616324"/>
                      </a:lnTo>
                      <a:lnTo>
                        <a:pt x="0" y="616324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118" name="Graphic 108">
                  <a:extLst>
                    <a:ext uri="{FF2B5EF4-FFF2-40B4-BE49-F238E27FC236}">
                      <a16:creationId xmlns:a16="http://schemas.microsoft.com/office/drawing/2014/main" id="{7343C780-32BB-4EFB-AD0D-CB48023F550B}"/>
                    </a:ext>
                  </a:extLst>
                </p:cNvPr>
                <p:cNvGrpSpPr/>
                <p:nvPr/>
              </p:nvGrpSpPr>
              <p:grpSpPr>
                <a:xfrm>
                  <a:off x="8551501" y="2800044"/>
                  <a:ext cx="361950" cy="361950"/>
                  <a:chOff x="8551501" y="2800044"/>
                  <a:chExt cx="361950" cy="361950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8FC3C875-185F-679E-203A-D8525EC5C91E}"/>
                      </a:ext>
                    </a:extLst>
                  </p:cNvPr>
                  <p:cNvSpPr/>
                  <p:nvPr/>
                </p:nvSpPr>
                <p:spPr>
                  <a:xfrm>
                    <a:off x="8551501" y="2800044"/>
                    <a:ext cx="361950" cy="361950"/>
                  </a:xfrm>
                  <a:prstGeom prst="ellipse">
                    <a:avLst/>
                  </a:prstGeom>
                  <a:solidFill>
                    <a:srgbClr val="FDBB22"/>
                  </a:solidFill>
                  <a:ln w="9525" cap="flat">
                    <a:solidFill>
                      <a:srgbClr val="D99E14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FA39C8AF-477A-C64E-DA44-16C09D52303E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046" y="2831656"/>
                    <a:ext cx="257042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050" b="1" spc="0" baseline="0">
                        <a:ln/>
                        <a:solidFill>
                          <a:srgbClr val="111111"/>
                        </a:solidFill>
                        <a:latin typeface="Helvetica"/>
                        <a:cs typeface="Helvetica"/>
                        <a:sym typeface="Helvetica"/>
                        <a:rtl val="0"/>
                      </a:rPr>
                      <a:t>1</a:t>
                    </a:r>
                  </a:p>
                </p:txBody>
              </p:sp>
            </p:grpSp>
            <p:grpSp>
              <p:nvGrpSpPr>
                <p:cNvPr id="121" name="Graphic 108">
                  <a:extLst>
                    <a:ext uri="{FF2B5EF4-FFF2-40B4-BE49-F238E27FC236}">
                      <a16:creationId xmlns:a16="http://schemas.microsoft.com/office/drawing/2014/main" id="{61FD1AA0-5B58-066A-1CB1-9B878E4152C0}"/>
                    </a:ext>
                  </a:extLst>
                </p:cNvPr>
                <p:cNvGrpSpPr/>
                <p:nvPr/>
              </p:nvGrpSpPr>
              <p:grpSpPr>
                <a:xfrm>
                  <a:off x="8922024" y="2709557"/>
                  <a:ext cx="2167890" cy="561975"/>
                  <a:chOff x="8922024" y="2709557"/>
                  <a:chExt cx="2167890" cy="561975"/>
                </a:xfrm>
              </p:grpSpPr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C48A3769-B8BF-64C3-F0FF-D62AA7A2FD52}"/>
                      </a:ext>
                    </a:extLst>
                  </p:cNvPr>
                  <p:cNvSpPr/>
                  <p:nvPr/>
                </p:nvSpPr>
                <p:spPr>
                  <a:xfrm>
                    <a:off x="8994414" y="2709557"/>
                    <a:ext cx="2095500" cy="561975"/>
                  </a:xfrm>
                  <a:prstGeom prst="rect">
                    <a:avLst/>
                  </a:prstGeom>
                  <a:no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349E6032-9211-C093-E570-71E18DCECDD9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2789866"/>
                    <a:ext cx="1428506" cy="229775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de-DE"/>
                    </a:defPPr>
                    <a:lvl1pPr>
                      <a:defRPr sz="1100" spc="0" baseline="0">
                        <a:ln/>
                        <a:solidFill>
                          <a:srgbClr val="15191D"/>
                        </a:solidFill>
                        <a:cs typeface="Helvetica"/>
                        <a:rtl val="0"/>
                      </a:defRPr>
                    </a:lvl1pPr>
                  </a:lstStyle>
                  <a:p>
                    <a:r>
                      <a:rPr lang="en-GB" dirty="0">
                        <a:sym typeface="Helvetica"/>
                      </a:rPr>
                      <a:t>Deviation mechanisms</a:t>
                    </a:r>
                  </a:p>
                </p:txBody>
              </p:sp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C4480CF2-1FA9-0830-4E21-286065337341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2942266"/>
                    <a:ext cx="1412836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from validation</a:t>
                    </a:r>
                  </a:p>
                </p:txBody>
              </p:sp>
            </p:grp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9AC10262-BCB8-0F15-930D-3AFF50DCFFFC}"/>
                    </a:ext>
                  </a:extLst>
                </p:cNvPr>
                <p:cNvSpPr/>
                <p:nvPr/>
              </p:nvSpPr>
              <p:spPr>
                <a:xfrm>
                  <a:off x="7341826" y="3381069"/>
                  <a:ext cx="4359735" cy="657225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FF9E9"/>
                </a:solidFill>
                <a:ln w="11430" cap="flat">
                  <a:solidFill>
                    <a:srgbClr val="E7B73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27" name="Graphic 108">
                  <a:extLst>
                    <a:ext uri="{FF2B5EF4-FFF2-40B4-BE49-F238E27FC236}">
                      <a16:creationId xmlns:a16="http://schemas.microsoft.com/office/drawing/2014/main" id="{206C426F-8BF6-111C-5F36-E8BE71CC8628}"/>
                    </a:ext>
                  </a:extLst>
                </p:cNvPr>
                <p:cNvGrpSpPr/>
                <p:nvPr/>
              </p:nvGrpSpPr>
              <p:grpSpPr>
                <a:xfrm>
                  <a:off x="8551501" y="3514419"/>
                  <a:ext cx="361950" cy="361950"/>
                  <a:chOff x="8551501" y="3514419"/>
                  <a:chExt cx="361950" cy="361950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F0D96617-1B22-EE5E-05D0-FC17702D12E9}"/>
                      </a:ext>
                    </a:extLst>
                  </p:cNvPr>
                  <p:cNvSpPr/>
                  <p:nvPr/>
                </p:nvSpPr>
                <p:spPr>
                  <a:xfrm>
                    <a:off x="8551501" y="3514419"/>
                    <a:ext cx="361950" cy="361950"/>
                  </a:xfrm>
                  <a:prstGeom prst="ellipse">
                    <a:avLst/>
                  </a:prstGeom>
                  <a:solidFill>
                    <a:srgbClr val="FDBB22"/>
                  </a:solidFill>
                  <a:ln w="9525" cap="flat">
                    <a:solidFill>
                      <a:srgbClr val="D99E14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18AE282-2992-E724-CEBD-2A7A31D9F0F2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046" y="3546031"/>
                    <a:ext cx="257042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050" b="1" spc="0" baseline="0">
                        <a:ln/>
                        <a:solidFill>
                          <a:srgbClr val="111111"/>
                        </a:solidFill>
                        <a:latin typeface="Helvetica"/>
                        <a:cs typeface="Helvetica"/>
                        <a:sym typeface="Helvetica"/>
                        <a:rtl val="0"/>
                      </a:rPr>
                      <a:t>2</a:t>
                    </a:r>
                  </a:p>
                </p:txBody>
              </p:sp>
            </p:grpSp>
            <p:grpSp>
              <p:nvGrpSpPr>
                <p:cNvPr id="130" name="Graphic 108">
                  <a:extLst>
                    <a:ext uri="{FF2B5EF4-FFF2-40B4-BE49-F238E27FC236}">
                      <a16:creationId xmlns:a16="http://schemas.microsoft.com/office/drawing/2014/main" id="{BBF9456A-A5B8-2B0F-F998-D1B7D3B7105A}"/>
                    </a:ext>
                  </a:extLst>
                </p:cNvPr>
                <p:cNvGrpSpPr/>
                <p:nvPr/>
              </p:nvGrpSpPr>
              <p:grpSpPr>
                <a:xfrm>
                  <a:off x="8922024" y="3423932"/>
                  <a:ext cx="2167890" cy="561975"/>
                  <a:chOff x="8922024" y="3423932"/>
                  <a:chExt cx="2167890" cy="561975"/>
                </a:xfrm>
              </p:grpSpPr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C20CF70D-8C40-7E95-32EF-1A1363ADC4D5}"/>
                      </a:ext>
                    </a:extLst>
                  </p:cNvPr>
                  <p:cNvSpPr/>
                  <p:nvPr/>
                </p:nvSpPr>
                <p:spPr>
                  <a:xfrm>
                    <a:off x="8994414" y="3423932"/>
                    <a:ext cx="2095500" cy="561975"/>
                  </a:xfrm>
                  <a:prstGeom prst="rect">
                    <a:avLst/>
                  </a:prstGeom>
                  <a:no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8FA9E0B5-BFFF-C9B8-EC3C-C4546C0E6B99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3504241"/>
                    <a:ext cx="2167363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Translate</a:t>
                    </a:r>
                    <a:r>
                      <a:rPr lang="en-GB" sz="1100" spc="0" baseline="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 into controlled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11C50999-1326-95EA-E346-F08C6FCE3D40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3656641"/>
                    <a:ext cx="1453955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zoning</a:t>
                    </a:r>
                    <a:r>
                      <a:rPr lang="en-GB" sz="1100" spc="0" baseline="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 variants</a:t>
                    </a:r>
                  </a:p>
                </p:txBody>
              </p:sp>
            </p:grpSp>
            <p:sp>
              <p:nvSpPr>
                <p:cNvPr id="134" name="Rectangle: Rounded Corners 133">
                  <a:extLst>
                    <a:ext uri="{FF2B5EF4-FFF2-40B4-BE49-F238E27FC236}">
                      <a16:creationId xmlns:a16="http://schemas.microsoft.com/office/drawing/2014/main" id="{D59899AB-FDCE-36E6-8252-472D35C2506E}"/>
                    </a:ext>
                  </a:extLst>
                </p:cNvPr>
                <p:cNvSpPr/>
                <p:nvPr/>
              </p:nvSpPr>
              <p:spPr>
                <a:xfrm>
                  <a:off x="7341826" y="4095444"/>
                  <a:ext cx="4359735" cy="657225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FF9E9"/>
                </a:solidFill>
                <a:ln w="11430" cap="flat">
                  <a:solidFill>
                    <a:srgbClr val="E7B73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pic>
              <p:nvPicPr>
                <p:cNvPr id="135" name="Picture 134">
                  <a:extLst>
                    <a:ext uri="{FF2B5EF4-FFF2-40B4-BE49-F238E27FC236}">
                      <a16:creationId xmlns:a16="http://schemas.microsoft.com/office/drawing/2014/main" id="{38F26C04-E9FB-D027-C598-928E00058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l="17187" t="14938"/>
                <a:stretch>
                  <a:fillRect/>
                </a:stretch>
              </p:blipFill>
              <p:spPr>
                <a:xfrm>
                  <a:off x="7582815" y="4128372"/>
                  <a:ext cx="649599" cy="571911"/>
                </a:xfrm>
                <a:custGeom>
                  <a:avLst/>
                  <a:gdLst>
                    <a:gd name="csX0" fmla="*/ 0 w 784411"/>
                    <a:gd name="csY0" fmla="*/ 0 h 672352"/>
                    <a:gd name="csX1" fmla="*/ 784411 w 784411"/>
                    <a:gd name="csY1" fmla="*/ 0 h 672352"/>
                    <a:gd name="csX2" fmla="*/ 784411 w 784411"/>
                    <a:gd name="csY2" fmla="*/ 672353 h 672352"/>
                    <a:gd name="csX3" fmla="*/ 0 w 784411"/>
                    <a:gd name="csY3" fmla="*/ 672353 h 672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84411" h="672352">
                      <a:moveTo>
                        <a:pt x="0" y="0"/>
                      </a:moveTo>
                      <a:lnTo>
                        <a:pt x="784411" y="0"/>
                      </a:lnTo>
                      <a:lnTo>
                        <a:pt x="784411" y="672353"/>
                      </a:lnTo>
                      <a:lnTo>
                        <a:pt x="0" y="672353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136" name="Graphic 108">
                  <a:extLst>
                    <a:ext uri="{FF2B5EF4-FFF2-40B4-BE49-F238E27FC236}">
                      <a16:creationId xmlns:a16="http://schemas.microsoft.com/office/drawing/2014/main" id="{0FE8C299-F3CA-669D-B49F-0FFF20174235}"/>
                    </a:ext>
                  </a:extLst>
                </p:cNvPr>
                <p:cNvGrpSpPr/>
                <p:nvPr/>
              </p:nvGrpSpPr>
              <p:grpSpPr>
                <a:xfrm>
                  <a:off x="8551501" y="4228794"/>
                  <a:ext cx="361950" cy="361950"/>
                  <a:chOff x="8551501" y="4228794"/>
                  <a:chExt cx="361950" cy="361950"/>
                </a:xfrm>
              </p:grpSpPr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1F4F5A41-B330-A5B1-311F-E1FBE7C1F9C2}"/>
                      </a:ext>
                    </a:extLst>
                  </p:cNvPr>
                  <p:cNvSpPr/>
                  <p:nvPr/>
                </p:nvSpPr>
                <p:spPr>
                  <a:xfrm>
                    <a:off x="8551501" y="4228794"/>
                    <a:ext cx="361950" cy="361950"/>
                  </a:xfrm>
                  <a:prstGeom prst="ellipse">
                    <a:avLst/>
                  </a:prstGeom>
                  <a:solidFill>
                    <a:srgbClr val="FDBB22"/>
                  </a:solidFill>
                  <a:ln w="9525" cap="flat">
                    <a:solidFill>
                      <a:srgbClr val="D99E14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ADB4E56B-14EB-83BB-44E9-623DD20906DF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046" y="4260406"/>
                    <a:ext cx="257042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050" b="1" spc="0" baseline="0">
                        <a:ln/>
                        <a:solidFill>
                          <a:srgbClr val="111111"/>
                        </a:solidFill>
                        <a:latin typeface="Helvetica"/>
                        <a:cs typeface="Helvetica"/>
                        <a:sym typeface="Helvetica"/>
                        <a:rtl val="0"/>
                      </a:rPr>
                      <a:t>3</a:t>
                    </a:r>
                  </a:p>
                </p:txBody>
              </p:sp>
            </p:grpSp>
            <p:grpSp>
              <p:nvGrpSpPr>
                <p:cNvPr id="139" name="Graphic 108">
                  <a:extLst>
                    <a:ext uri="{FF2B5EF4-FFF2-40B4-BE49-F238E27FC236}">
                      <a16:creationId xmlns:a16="http://schemas.microsoft.com/office/drawing/2014/main" id="{D269177F-C868-7787-06DC-6F5D48DCE108}"/>
                    </a:ext>
                  </a:extLst>
                </p:cNvPr>
                <p:cNvGrpSpPr/>
                <p:nvPr/>
              </p:nvGrpSpPr>
              <p:grpSpPr>
                <a:xfrm>
                  <a:off x="8922024" y="4138307"/>
                  <a:ext cx="2167890" cy="561975"/>
                  <a:chOff x="8922024" y="4138307"/>
                  <a:chExt cx="2167890" cy="561975"/>
                </a:xfrm>
              </p:grpSpPr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A7A1D28C-C8E4-9910-7454-A79261391128}"/>
                      </a:ext>
                    </a:extLst>
                  </p:cNvPr>
                  <p:cNvSpPr/>
                  <p:nvPr/>
                </p:nvSpPr>
                <p:spPr>
                  <a:xfrm>
                    <a:off x="8994414" y="4138307"/>
                    <a:ext cx="2095500" cy="561975"/>
                  </a:xfrm>
                  <a:prstGeom prst="rect">
                    <a:avLst/>
                  </a:prstGeom>
                  <a:no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C30EB913-C950-4122-55DA-539993A92136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4294816"/>
                    <a:ext cx="1575255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Simulation</a:t>
                    </a:r>
                    <a:r>
                      <a:rPr lang="en-GB" sz="1100" spc="0" baseline="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 setup</a:t>
                    </a:r>
                  </a:p>
                </p:txBody>
              </p:sp>
            </p:grp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CE33FB72-7636-7567-C74A-7F2661C1A448}"/>
                    </a:ext>
                  </a:extLst>
                </p:cNvPr>
                <p:cNvSpPr/>
                <p:nvPr/>
              </p:nvSpPr>
              <p:spPr>
                <a:xfrm>
                  <a:off x="7341826" y="4809819"/>
                  <a:ext cx="4359735" cy="657225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FF9E9"/>
                </a:solidFill>
                <a:ln w="11430" cap="flat">
                  <a:solidFill>
                    <a:srgbClr val="E7B73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9A8371AC-410D-FE07-D8B0-53C889CFC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l="10730" t="15302"/>
                <a:stretch>
                  <a:fillRect/>
                </a:stretch>
              </p:blipFill>
              <p:spPr>
                <a:xfrm>
                  <a:off x="7582815" y="4865681"/>
                  <a:ext cx="702817" cy="513918"/>
                </a:xfrm>
                <a:custGeom>
                  <a:avLst/>
                  <a:gdLst>
                    <a:gd name="csX0" fmla="*/ 0 w 787297"/>
                    <a:gd name="csY0" fmla="*/ 0 h 606766"/>
                    <a:gd name="csX1" fmla="*/ 787298 w 787297"/>
                    <a:gd name="csY1" fmla="*/ 0 h 606766"/>
                    <a:gd name="csX2" fmla="*/ 787298 w 787297"/>
                    <a:gd name="csY2" fmla="*/ 606767 h 606766"/>
                    <a:gd name="csX3" fmla="*/ 0 w 787297"/>
                    <a:gd name="csY3" fmla="*/ 606767 h 6067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87297" h="606766">
                      <a:moveTo>
                        <a:pt x="0" y="0"/>
                      </a:moveTo>
                      <a:lnTo>
                        <a:pt x="787298" y="0"/>
                      </a:lnTo>
                      <a:lnTo>
                        <a:pt x="787298" y="606767"/>
                      </a:lnTo>
                      <a:lnTo>
                        <a:pt x="0" y="606767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144" name="Graphic 108">
                  <a:extLst>
                    <a:ext uri="{FF2B5EF4-FFF2-40B4-BE49-F238E27FC236}">
                      <a16:creationId xmlns:a16="http://schemas.microsoft.com/office/drawing/2014/main" id="{2221C551-C6C4-40F6-B86E-9FB13CBC4D31}"/>
                    </a:ext>
                  </a:extLst>
                </p:cNvPr>
                <p:cNvGrpSpPr/>
                <p:nvPr/>
              </p:nvGrpSpPr>
              <p:grpSpPr>
                <a:xfrm>
                  <a:off x="8551501" y="4943169"/>
                  <a:ext cx="361950" cy="361950"/>
                  <a:chOff x="8551501" y="4943169"/>
                  <a:chExt cx="361950" cy="361950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FBB5163A-E0A1-C011-6767-4DEA2D63B422}"/>
                      </a:ext>
                    </a:extLst>
                  </p:cNvPr>
                  <p:cNvSpPr/>
                  <p:nvPr/>
                </p:nvSpPr>
                <p:spPr>
                  <a:xfrm>
                    <a:off x="8551501" y="4943169"/>
                    <a:ext cx="361950" cy="361950"/>
                  </a:xfrm>
                  <a:prstGeom prst="ellipse">
                    <a:avLst/>
                  </a:prstGeom>
                  <a:solidFill>
                    <a:srgbClr val="FDBB22"/>
                  </a:solidFill>
                  <a:ln w="9525" cap="flat">
                    <a:solidFill>
                      <a:srgbClr val="D99E14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0CF066EE-84D8-6F62-64F3-89553E68B446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046" y="4974781"/>
                    <a:ext cx="257042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050" b="1" spc="0" baseline="0">
                        <a:ln/>
                        <a:solidFill>
                          <a:srgbClr val="111111"/>
                        </a:solidFill>
                        <a:latin typeface="Helvetica"/>
                        <a:cs typeface="Helvetica"/>
                        <a:sym typeface="Helvetica"/>
                        <a:rtl val="0"/>
                      </a:rPr>
                      <a:t>4</a:t>
                    </a:r>
                  </a:p>
                </p:txBody>
              </p:sp>
            </p:grpSp>
            <p:grpSp>
              <p:nvGrpSpPr>
                <p:cNvPr id="147" name="Graphic 108">
                  <a:extLst>
                    <a:ext uri="{FF2B5EF4-FFF2-40B4-BE49-F238E27FC236}">
                      <a16:creationId xmlns:a16="http://schemas.microsoft.com/office/drawing/2014/main" id="{806060FE-AEFD-882C-72C7-8A5DD9BD972D}"/>
                    </a:ext>
                  </a:extLst>
                </p:cNvPr>
                <p:cNvGrpSpPr/>
                <p:nvPr/>
              </p:nvGrpSpPr>
              <p:grpSpPr>
                <a:xfrm>
                  <a:off x="8922024" y="4852682"/>
                  <a:ext cx="2167890" cy="561975"/>
                  <a:chOff x="8922024" y="4852682"/>
                  <a:chExt cx="2167890" cy="561975"/>
                </a:xfrm>
              </p:grpSpPr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14F7A25B-F148-AAA5-F307-446E371D8538}"/>
                      </a:ext>
                    </a:extLst>
                  </p:cNvPr>
                  <p:cNvSpPr/>
                  <p:nvPr/>
                </p:nvSpPr>
                <p:spPr>
                  <a:xfrm>
                    <a:off x="8994414" y="4852682"/>
                    <a:ext cx="2095500" cy="561975"/>
                  </a:xfrm>
                  <a:prstGeom prst="rect">
                    <a:avLst/>
                  </a:prstGeom>
                  <a:no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7830885-7EA0-6D73-C585-33910B81FA59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5009191"/>
                    <a:ext cx="1544416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Uncertain</a:t>
                    </a:r>
                    <a:r>
                      <a:rPr lang="en-GB" sz="1100" spc="0" baseline="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 inputs</a:t>
                    </a:r>
                  </a:p>
                </p:txBody>
              </p:sp>
            </p:grp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91974596-13D3-C75E-28B5-7FF230A5BC7B}"/>
                    </a:ext>
                  </a:extLst>
                </p:cNvPr>
                <p:cNvSpPr/>
                <p:nvPr/>
              </p:nvSpPr>
              <p:spPr>
                <a:xfrm>
                  <a:off x="7341826" y="5524194"/>
                  <a:ext cx="4359735" cy="657225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FF9E9"/>
                </a:solidFill>
                <a:ln w="11430" cap="flat">
                  <a:solidFill>
                    <a:srgbClr val="E7B73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pic>
              <p:nvPicPr>
                <p:cNvPr id="151" name="Picture 150">
                  <a:extLst>
                    <a:ext uri="{FF2B5EF4-FFF2-40B4-BE49-F238E27FC236}">
                      <a16:creationId xmlns:a16="http://schemas.microsoft.com/office/drawing/2014/main" id="{AFC66C2D-44C7-3F79-F050-CD8CCEABC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l="17413" t="22060"/>
                <a:stretch>
                  <a:fillRect/>
                </a:stretch>
              </p:blipFill>
              <p:spPr>
                <a:xfrm>
                  <a:off x="7582815" y="5637207"/>
                  <a:ext cx="587114" cy="492558"/>
                </a:xfrm>
                <a:custGeom>
                  <a:avLst/>
                  <a:gdLst>
                    <a:gd name="csX0" fmla="*/ 0 w 710901"/>
                    <a:gd name="csY0" fmla="*/ 0 h 631975"/>
                    <a:gd name="csX1" fmla="*/ 710901 w 710901"/>
                    <a:gd name="csY1" fmla="*/ 0 h 631975"/>
                    <a:gd name="csX2" fmla="*/ 710901 w 710901"/>
                    <a:gd name="csY2" fmla="*/ 631975 h 631975"/>
                    <a:gd name="csX3" fmla="*/ 0 w 710901"/>
                    <a:gd name="csY3" fmla="*/ 631975 h 6319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10901" h="631975">
                      <a:moveTo>
                        <a:pt x="0" y="0"/>
                      </a:moveTo>
                      <a:lnTo>
                        <a:pt x="710901" y="0"/>
                      </a:lnTo>
                      <a:lnTo>
                        <a:pt x="710901" y="631975"/>
                      </a:lnTo>
                      <a:lnTo>
                        <a:pt x="0" y="631975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152" name="Graphic 108">
                  <a:extLst>
                    <a:ext uri="{FF2B5EF4-FFF2-40B4-BE49-F238E27FC236}">
                      <a16:creationId xmlns:a16="http://schemas.microsoft.com/office/drawing/2014/main" id="{9A362E78-EB23-CEFA-3C3D-701D1C866A2A}"/>
                    </a:ext>
                  </a:extLst>
                </p:cNvPr>
                <p:cNvGrpSpPr/>
                <p:nvPr/>
              </p:nvGrpSpPr>
              <p:grpSpPr>
                <a:xfrm>
                  <a:off x="8551501" y="5657544"/>
                  <a:ext cx="361950" cy="361950"/>
                  <a:chOff x="8551501" y="5657544"/>
                  <a:chExt cx="361950" cy="361950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09512019-7838-F304-138E-B22BA2B105F7}"/>
                      </a:ext>
                    </a:extLst>
                  </p:cNvPr>
                  <p:cNvSpPr/>
                  <p:nvPr/>
                </p:nvSpPr>
                <p:spPr>
                  <a:xfrm>
                    <a:off x="8551501" y="5657544"/>
                    <a:ext cx="361950" cy="361950"/>
                  </a:xfrm>
                  <a:prstGeom prst="ellipse">
                    <a:avLst/>
                  </a:prstGeom>
                  <a:solidFill>
                    <a:srgbClr val="FDBB22"/>
                  </a:solidFill>
                  <a:ln w="9525" cap="flat">
                    <a:solidFill>
                      <a:srgbClr val="D99E14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DE01D7E4-8D70-5A0E-8D35-F12AFBFC5386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046" y="5689156"/>
                    <a:ext cx="257042" cy="2404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050" b="1" spc="0" baseline="0">
                        <a:ln/>
                        <a:solidFill>
                          <a:srgbClr val="111111"/>
                        </a:solidFill>
                        <a:latin typeface="Helvetica"/>
                        <a:cs typeface="Helvetica"/>
                        <a:sym typeface="Helvetica"/>
                        <a:rtl val="0"/>
                      </a:rPr>
                      <a:t>5</a:t>
                    </a:r>
                  </a:p>
                </p:txBody>
              </p:sp>
            </p:grpSp>
            <p:grpSp>
              <p:nvGrpSpPr>
                <p:cNvPr id="155" name="Graphic 108">
                  <a:extLst>
                    <a:ext uri="{FF2B5EF4-FFF2-40B4-BE49-F238E27FC236}">
                      <a16:creationId xmlns:a16="http://schemas.microsoft.com/office/drawing/2014/main" id="{00AFF64D-DAF1-7A4A-B448-A1B9561500EF}"/>
                    </a:ext>
                  </a:extLst>
                </p:cNvPr>
                <p:cNvGrpSpPr/>
                <p:nvPr/>
              </p:nvGrpSpPr>
              <p:grpSpPr>
                <a:xfrm>
                  <a:off x="8922024" y="5567057"/>
                  <a:ext cx="2167890" cy="561975"/>
                  <a:chOff x="8922024" y="5567057"/>
                  <a:chExt cx="2167890" cy="561975"/>
                </a:xfrm>
              </p:grpSpPr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E7F6EE88-DD17-214B-4467-774A99C98247}"/>
                      </a:ext>
                    </a:extLst>
                  </p:cNvPr>
                  <p:cNvSpPr/>
                  <p:nvPr/>
                </p:nvSpPr>
                <p:spPr>
                  <a:xfrm>
                    <a:off x="8994414" y="5567057"/>
                    <a:ext cx="2095500" cy="561975"/>
                  </a:xfrm>
                  <a:prstGeom prst="rect">
                    <a:avLst/>
                  </a:prstGeom>
                  <a:noFill/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934DC67E-6DE6-B402-D243-A3D5CA29BADB}"/>
                      </a:ext>
                    </a:extLst>
                  </p:cNvPr>
                  <p:cNvSpPr txBox="1"/>
                  <p:nvPr/>
                </p:nvSpPr>
                <p:spPr>
                  <a:xfrm>
                    <a:off x="8922024" y="5723566"/>
                    <a:ext cx="619246" cy="29079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dirty="0">
                        <a:ln/>
                        <a:solidFill>
                          <a:srgbClr val="15191D"/>
                        </a:solidFill>
                        <a:cs typeface="Helvetica"/>
                        <a:sym typeface="Helvetica"/>
                        <a:rtl val="0"/>
                      </a:rPr>
                      <a:t>KPIs</a:t>
                    </a:r>
                  </a:p>
                </p:txBody>
              </p:sp>
            </p:grpSp>
          </p:grpSp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FCD00821-6C85-A0D1-D9E9-710634440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95403" y="2053500"/>
                <a:ext cx="634415" cy="620906"/>
              </a:xfrm>
              <a:prstGeom prst="rect">
                <a:avLst/>
              </a:prstGeom>
            </p:spPr>
          </p:pic>
        </p:grpSp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A0880B70-C86D-6B6D-2D75-7EE1B6553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030935" y="3067734"/>
              <a:ext cx="602291" cy="602291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579F2C4-C06D-0928-E1A9-139FB258E992}"/>
              </a:ext>
            </a:extLst>
          </p:cNvPr>
          <p:cNvGrpSpPr/>
          <p:nvPr/>
        </p:nvGrpSpPr>
        <p:grpSpPr>
          <a:xfrm>
            <a:off x="1895384" y="5532829"/>
            <a:ext cx="8293995" cy="1017389"/>
            <a:chOff x="1895384" y="5532829"/>
            <a:chExt cx="8293995" cy="1017389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A02607D-F063-EE41-578E-5343B6930BED}"/>
                </a:ext>
              </a:extLst>
            </p:cNvPr>
            <p:cNvGrpSpPr/>
            <p:nvPr/>
          </p:nvGrpSpPr>
          <p:grpSpPr>
            <a:xfrm>
              <a:off x="1895384" y="5532829"/>
              <a:ext cx="8293995" cy="1017389"/>
              <a:chOff x="2002621" y="5526645"/>
              <a:chExt cx="8293995" cy="1017389"/>
            </a:xfrm>
          </p:grpSpPr>
          <p:grpSp>
            <p:nvGrpSpPr>
              <p:cNvPr id="189" name="Graphic 167">
                <a:extLst>
                  <a:ext uri="{FF2B5EF4-FFF2-40B4-BE49-F238E27FC236}">
                    <a16:creationId xmlns:a16="http://schemas.microsoft.com/office/drawing/2014/main" id="{7E628482-E9D2-E0AA-E2D3-00AD746F7EB1}"/>
                  </a:ext>
                </a:extLst>
              </p:cNvPr>
              <p:cNvGrpSpPr/>
              <p:nvPr/>
            </p:nvGrpSpPr>
            <p:grpSpPr>
              <a:xfrm>
                <a:off x="2002621" y="5577081"/>
                <a:ext cx="8293995" cy="966953"/>
                <a:chOff x="3110877" y="5577081"/>
                <a:chExt cx="6076777" cy="966953"/>
              </a:xfrm>
            </p:grpSpPr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83FCFDDA-DC9C-71E2-F481-EF198E29FE4B}"/>
                    </a:ext>
                  </a:extLst>
                </p:cNvPr>
                <p:cNvSpPr/>
                <p:nvPr/>
              </p:nvSpPr>
              <p:spPr>
                <a:xfrm>
                  <a:off x="3110877" y="5617617"/>
                  <a:ext cx="6076777" cy="926417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7F9F0"/>
                </a:solidFill>
                <a:ln w="6232" cap="flat">
                  <a:solidFill>
                    <a:srgbClr val="9BAA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191" name="Graphic 167">
                  <a:extLst>
                    <a:ext uri="{FF2B5EF4-FFF2-40B4-BE49-F238E27FC236}">
                      <a16:creationId xmlns:a16="http://schemas.microsoft.com/office/drawing/2014/main" id="{D5732C31-4933-9D39-11F6-B9B2B4B84D18}"/>
                    </a:ext>
                  </a:extLst>
                </p:cNvPr>
                <p:cNvGrpSpPr/>
                <p:nvPr/>
              </p:nvGrpSpPr>
              <p:grpSpPr>
                <a:xfrm>
                  <a:off x="5130849" y="5577081"/>
                  <a:ext cx="2701164" cy="360186"/>
                  <a:chOff x="5130849" y="5577081"/>
                  <a:chExt cx="2701164" cy="360186"/>
                </a:xfrm>
              </p:grpSpPr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2A85ED6-8AE5-7843-D0A3-2FEFB2AC73AE}"/>
                      </a:ext>
                    </a:extLst>
                  </p:cNvPr>
                  <p:cNvSpPr/>
                  <p:nvPr/>
                </p:nvSpPr>
                <p:spPr>
                  <a:xfrm>
                    <a:off x="5130849" y="5791840"/>
                    <a:ext cx="2077530" cy="145427"/>
                  </a:xfrm>
                  <a:prstGeom prst="rect">
                    <a:avLst/>
                  </a:prstGeom>
                  <a:noFill/>
                  <a:ln w="5193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D515F94B-0C88-5A25-3481-21A5FF6B6245}"/>
                      </a:ext>
                    </a:extLst>
                  </p:cNvPr>
                  <p:cNvSpPr txBox="1"/>
                  <p:nvPr/>
                </p:nvSpPr>
                <p:spPr>
                  <a:xfrm>
                    <a:off x="5173913" y="5577081"/>
                    <a:ext cx="26581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400" b="1" spc="0" baseline="0" dirty="0">
                        <a:ln/>
                        <a:solidFill>
                          <a:srgbClr val="718044"/>
                        </a:solidFill>
                        <a:cs typeface="Helvetica"/>
                        <a:sym typeface="Helvetica"/>
                        <a:rtl val="0"/>
                      </a:rPr>
                      <a:t>Evaluation and interpretation</a:t>
                    </a:r>
                  </a:p>
                </p:txBody>
              </p:sp>
            </p:grpSp>
            <p:grpSp>
              <p:nvGrpSpPr>
                <p:cNvPr id="195" name="Graphic 167">
                  <a:extLst>
                    <a:ext uri="{FF2B5EF4-FFF2-40B4-BE49-F238E27FC236}">
                      <a16:creationId xmlns:a16="http://schemas.microsoft.com/office/drawing/2014/main" id="{EDB61813-B3E5-724B-F84A-277E10B55FFB}"/>
                    </a:ext>
                  </a:extLst>
                </p:cNvPr>
                <p:cNvGrpSpPr/>
                <p:nvPr/>
              </p:nvGrpSpPr>
              <p:grpSpPr>
                <a:xfrm>
                  <a:off x="3403738" y="5880518"/>
                  <a:ext cx="3020320" cy="636918"/>
                  <a:chOff x="3403738" y="5880518"/>
                  <a:chExt cx="3020320" cy="636918"/>
                </a:xfrm>
              </p:grpSpPr>
              <p:sp>
                <p:nvSpPr>
                  <p:cNvPr id="196" name="Rectangle: Rounded Corners 195">
                    <a:extLst>
                      <a:ext uri="{FF2B5EF4-FFF2-40B4-BE49-F238E27FC236}">
                        <a16:creationId xmlns:a16="http://schemas.microsoft.com/office/drawing/2014/main" id="{5FDBDC68-4683-D366-A7B5-4770C82F2F65}"/>
                      </a:ext>
                    </a:extLst>
                  </p:cNvPr>
                  <p:cNvSpPr/>
                  <p:nvPr/>
                </p:nvSpPr>
                <p:spPr>
                  <a:xfrm>
                    <a:off x="3403738" y="5880518"/>
                    <a:ext cx="2242251" cy="636918"/>
                  </a:xfrm>
                  <a:prstGeom prst="roundRect">
                    <a:avLst>
                      <a:gd name="adj" fmla="val 12000"/>
                    </a:avLst>
                  </a:prstGeom>
                  <a:solidFill>
                    <a:srgbClr val="FFFFFF"/>
                  </a:solidFill>
                  <a:ln w="6232" cap="flat">
                    <a:solidFill>
                      <a:srgbClr val="9BAA69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9845D33D-8B4D-71CB-C1DF-8A33E87A39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65093" y="5881428"/>
                    <a:ext cx="806631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Validation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FD745498-053E-611A-CE3E-14B14303C876}"/>
                      </a:ext>
                    </a:extLst>
                  </p:cNvPr>
                  <p:cNvSpPr txBox="1"/>
                  <p:nvPr/>
                </p:nvSpPr>
                <p:spPr>
                  <a:xfrm>
                    <a:off x="3858136" y="6038854"/>
                    <a:ext cx="214033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Ground truth ↔ MZA prediction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5D7423BF-2B81-59D9-02E5-F6EEF24F7262}"/>
                      </a:ext>
                    </a:extLst>
                  </p:cNvPr>
                  <p:cNvSpPr txBox="1"/>
                  <p:nvPr/>
                </p:nvSpPr>
                <p:spPr>
                  <a:xfrm>
                    <a:off x="3432533" y="6233455"/>
                    <a:ext cx="2991525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 err="1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IoU</a:t>
                    </a:r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 · centroid distance · area error · topology</a:t>
                    </a:r>
                  </a:p>
                </p:txBody>
              </p:sp>
            </p:grpSp>
            <p:grpSp>
              <p:nvGrpSpPr>
                <p:cNvPr id="201" name="Graphic 167">
                  <a:extLst>
                    <a:ext uri="{FF2B5EF4-FFF2-40B4-BE49-F238E27FC236}">
                      <a16:creationId xmlns:a16="http://schemas.microsoft.com/office/drawing/2014/main" id="{91112B8B-6BE7-0D57-BC5E-210ED5105BCC}"/>
                    </a:ext>
                  </a:extLst>
                </p:cNvPr>
                <p:cNvGrpSpPr/>
                <p:nvPr/>
              </p:nvGrpSpPr>
              <p:grpSpPr>
                <a:xfrm>
                  <a:off x="6642003" y="5863714"/>
                  <a:ext cx="2498337" cy="652114"/>
                  <a:chOff x="6642003" y="5863714"/>
                  <a:chExt cx="2498337" cy="652114"/>
                </a:xfrm>
              </p:grpSpPr>
              <p:sp>
                <p:nvSpPr>
                  <p:cNvPr id="202" name="Rectangle: Rounded Corners 201">
                    <a:extLst>
                      <a:ext uri="{FF2B5EF4-FFF2-40B4-BE49-F238E27FC236}">
                        <a16:creationId xmlns:a16="http://schemas.microsoft.com/office/drawing/2014/main" id="{B32B6622-3029-5114-8783-8263E7ECA29E}"/>
                      </a:ext>
                    </a:extLst>
                  </p:cNvPr>
                  <p:cNvSpPr/>
                  <p:nvPr/>
                </p:nvSpPr>
                <p:spPr>
                  <a:xfrm>
                    <a:off x="6642003" y="5895413"/>
                    <a:ext cx="2457917" cy="620415"/>
                  </a:xfrm>
                  <a:prstGeom prst="roundRect">
                    <a:avLst>
                      <a:gd name="adj" fmla="val 12000"/>
                    </a:avLst>
                  </a:prstGeom>
                  <a:solidFill>
                    <a:srgbClr val="FFFFFF"/>
                  </a:solidFill>
                  <a:ln w="6232" cap="flat">
                    <a:solidFill>
                      <a:srgbClr val="9BAA69"/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0B135EF8-FCEF-026C-1405-D7E66A0CE4EE}"/>
                      </a:ext>
                    </a:extLst>
                  </p:cNvPr>
                  <p:cNvSpPr txBox="1"/>
                  <p:nvPr/>
                </p:nvSpPr>
                <p:spPr>
                  <a:xfrm>
                    <a:off x="7419051" y="5863714"/>
                    <a:ext cx="1017698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Sensitivity analysis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C48B2161-1946-7D35-8655-B8F65DEC164D}"/>
                      </a:ext>
                    </a:extLst>
                  </p:cNvPr>
                  <p:cNvSpPr txBox="1"/>
                  <p:nvPr/>
                </p:nvSpPr>
                <p:spPr>
                  <a:xfrm>
                    <a:off x="7004913" y="6076424"/>
                    <a:ext cx="1950667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Geometric deviation strategies / V1–V8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80836A88-AC7E-2B0E-A117-57E0777C1D61}"/>
                      </a:ext>
                    </a:extLst>
                  </p:cNvPr>
                  <p:cNvSpPr txBox="1"/>
                  <p:nvPr/>
                </p:nvSpPr>
                <p:spPr>
                  <a:xfrm>
                    <a:off x="6701767" y="6250755"/>
                    <a:ext cx="2438573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en-GB" sz="1100" spc="0" baseline="0" dirty="0">
                        <a:ln/>
                        <a:solidFill>
                          <a:srgbClr val="1F2933"/>
                        </a:solidFill>
                        <a:cs typeface="Helvetica"/>
                        <a:sym typeface="Helvetica"/>
                        <a:rtl val="0"/>
                      </a:rPr>
                      <a:t>3 KPIs: annual demand · peak load · overheating</a:t>
                    </a:r>
                  </a:p>
                </p:txBody>
              </p:sp>
            </p:grpSp>
          </p:grpSp>
          <p:sp>
            <p:nvSpPr>
              <p:cNvPr id="220" name="Right Arrow 26">
                <a:extLst>
                  <a:ext uri="{FF2B5EF4-FFF2-40B4-BE49-F238E27FC236}">
                    <a16:creationId xmlns:a16="http://schemas.microsoft.com/office/drawing/2014/main" id="{6443CC46-2CA3-7356-BBF2-C7239D6D9304}"/>
                  </a:ext>
                </a:extLst>
              </p:cNvPr>
              <p:cNvSpPr/>
              <p:nvPr/>
            </p:nvSpPr>
            <p:spPr>
              <a:xfrm rot="5400000">
                <a:off x="3587538" y="5593538"/>
                <a:ext cx="310896" cy="18288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Right Arrow 26">
                <a:extLst>
                  <a:ext uri="{FF2B5EF4-FFF2-40B4-BE49-F238E27FC236}">
                    <a16:creationId xmlns:a16="http://schemas.microsoft.com/office/drawing/2014/main" id="{74AC60D6-C8D8-0871-658B-9F304024E159}"/>
                  </a:ext>
                </a:extLst>
              </p:cNvPr>
              <p:cNvSpPr/>
              <p:nvPr/>
            </p:nvSpPr>
            <p:spPr>
              <a:xfrm rot="5400000">
                <a:off x="8495607" y="5590653"/>
                <a:ext cx="310896" cy="18288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72BF2C5E-0752-A7F6-A528-9E4B07D14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909917" y="5683268"/>
              <a:ext cx="722598" cy="722598"/>
            </a:xfrm>
            <a:prstGeom prst="rect">
              <a:avLst/>
            </a:prstGeom>
          </p:spPr>
        </p:pic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C3689C54-3DEE-1551-127E-1E33339AD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366081" y="5806208"/>
              <a:ext cx="584931" cy="5849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886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35EDFB9-4882-2C29-EAB4-E2F08305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74" y="1908047"/>
            <a:ext cx="872501" cy="114543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BB12D89-4E5C-DC6C-9BFB-B4B8BB1678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2" t="10328" r="36932"/>
          <a:stretch/>
        </p:blipFill>
        <p:spPr>
          <a:xfrm>
            <a:off x="1995447" y="3027943"/>
            <a:ext cx="1193528" cy="45818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0DAB9582-51FF-A1F7-A166-AC1532C57090}"/>
              </a:ext>
            </a:extLst>
          </p:cNvPr>
          <p:cNvSpPr>
            <a:spLocks/>
          </p:cNvSpPr>
          <p:nvPr/>
        </p:nvSpPr>
        <p:spPr>
          <a:xfrm>
            <a:off x="842641" y="2447635"/>
            <a:ext cx="881124" cy="872077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Frutiger LT Pro 45 Light" panose="020B0403030504020204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579067-42A8-E7D6-0F0B-8BD4091DE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311" y="1919406"/>
            <a:ext cx="881124" cy="45547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E55891E-19AA-0D1E-D6A2-3E2D9D3B42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582" y="5705904"/>
            <a:ext cx="1331352" cy="35516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91228-E4B1-85F9-5D2F-45BC144C65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582" y="3985863"/>
            <a:ext cx="1724365" cy="1149576"/>
          </a:xfrm>
          <a:prstGeom prst="rect">
            <a:avLst/>
          </a:prstGeom>
          <a:ln>
            <a:solidFill>
              <a:srgbClr val="003345"/>
            </a:solidFill>
          </a:ln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A9ADC771-750E-3E8E-5D90-F1D349A80DEB}"/>
              </a:ext>
            </a:extLst>
          </p:cNvPr>
          <p:cNvSpPr/>
          <p:nvPr/>
        </p:nvSpPr>
        <p:spPr>
          <a:xfrm>
            <a:off x="6782595" y="5072302"/>
            <a:ext cx="1616998" cy="507108"/>
          </a:xfrm>
          <a:prstGeom prst="rect">
            <a:avLst/>
          </a:prstGeom>
          <a:solidFill>
            <a:srgbClr val="8BC6DC"/>
          </a:solidFill>
          <a:ln w="9525">
            <a:solidFill>
              <a:srgbClr val="0033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+ DIN 18040-2 </a:t>
            </a:r>
          </a:p>
        </p:txBody>
      </p:sp>
      <p:sp>
        <p:nvSpPr>
          <p:cNvPr id="22" name="Inhaltsplatzhalter 8">
            <a:extLst>
              <a:ext uri="{FF2B5EF4-FFF2-40B4-BE49-F238E27FC236}">
                <a16:creationId xmlns:a16="http://schemas.microsoft.com/office/drawing/2014/main" id="{D1EC73EA-E00C-F0CB-2A16-BCF51FD931FD}"/>
              </a:ext>
            </a:extLst>
          </p:cNvPr>
          <p:cNvSpPr txBox="1">
            <a:spLocks/>
          </p:cNvSpPr>
          <p:nvPr/>
        </p:nvSpPr>
        <p:spPr>
          <a:xfrm>
            <a:off x="777534" y="3615062"/>
            <a:ext cx="2724601" cy="249876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3D </a:t>
            </a:r>
            <a:r>
              <a:rPr lang="de-DE" sz="1600" dirty="0" err="1"/>
              <a:t>building</a:t>
            </a:r>
            <a:r>
              <a:rPr lang="de-DE" sz="1600" dirty="0"/>
              <a:t> </a:t>
            </a:r>
            <a:r>
              <a:rPr lang="de-DE" sz="1600" dirty="0" err="1"/>
              <a:t>envelope</a:t>
            </a:r>
            <a:r>
              <a:rPr lang="de-DE" sz="1600" dirty="0"/>
              <a:t> (LoD2) </a:t>
            </a:r>
          </a:p>
          <a:p>
            <a:r>
              <a:rPr lang="de-DE" sz="1600" dirty="0" err="1"/>
              <a:t>Address</a:t>
            </a:r>
            <a:r>
              <a:rPr lang="de-DE" sz="1600" dirty="0"/>
              <a:t> </a:t>
            </a:r>
            <a:r>
              <a:rPr lang="de-DE" sz="1600" dirty="0" err="1"/>
              <a:t>point</a:t>
            </a:r>
            <a:r>
              <a:rPr lang="de-DE" sz="1600" dirty="0"/>
              <a:t> and </a:t>
            </a:r>
            <a:r>
              <a:rPr lang="de-DE" sz="1600" dirty="0" err="1"/>
              <a:t>street</a:t>
            </a:r>
            <a:r>
              <a:rPr lang="de-DE" sz="1600" dirty="0"/>
              <a:t> </a:t>
            </a:r>
            <a:r>
              <a:rPr lang="de-DE" sz="1600" dirty="0" err="1"/>
              <a:t>layout</a:t>
            </a:r>
            <a:endParaRPr lang="de-DE" sz="1600" dirty="0"/>
          </a:p>
          <a:p>
            <a:r>
              <a:rPr lang="de-DE" sz="1600" dirty="0"/>
              <a:t>Orientation</a:t>
            </a:r>
          </a:p>
          <a:p>
            <a:r>
              <a:rPr lang="de-DE" sz="1600" dirty="0"/>
              <a:t>Roof type</a:t>
            </a:r>
          </a:p>
          <a:p>
            <a:r>
              <a:rPr lang="de-DE" sz="1600" dirty="0"/>
              <a:t>Year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construction</a:t>
            </a:r>
            <a:endParaRPr lang="de-DE" sz="1600" dirty="0"/>
          </a:p>
          <a:p>
            <a:r>
              <a:rPr lang="de-DE" sz="1600" dirty="0"/>
              <a:t>…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C84D35-4BFF-CD4E-63BB-E9EABCA3A9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12" t="19443" r="54961" b="3889"/>
          <a:stretch/>
        </p:blipFill>
        <p:spPr>
          <a:xfrm>
            <a:off x="4628301" y="1157424"/>
            <a:ext cx="2079470" cy="1900325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C835B450-BE9C-FFC6-97D9-DD7CBA66B5D5}"/>
              </a:ext>
            </a:extLst>
          </p:cNvPr>
          <p:cNvSpPr/>
          <p:nvPr/>
        </p:nvSpPr>
        <p:spPr>
          <a:xfrm>
            <a:off x="777534" y="1412019"/>
            <a:ext cx="2642391" cy="339451"/>
          </a:xfrm>
          <a:prstGeom prst="rect">
            <a:avLst/>
          </a:prstGeom>
          <a:solidFill>
            <a:srgbClr val="D1E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Geodata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input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5" name="Inhaltsplatzhalter 8">
            <a:extLst>
              <a:ext uri="{FF2B5EF4-FFF2-40B4-BE49-F238E27FC236}">
                <a16:creationId xmlns:a16="http://schemas.microsoft.com/office/drawing/2014/main" id="{9AA85E15-714A-7A92-033D-4F34B0FB7A28}"/>
              </a:ext>
            </a:extLst>
          </p:cNvPr>
          <p:cNvSpPr txBox="1">
            <a:spLocks/>
          </p:cNvSpPr>
          <p:nvPr/>
        </p:nvSpPr>
        <p:spPr>
          <a:xfrm>
            <a:off x="3732512" y="4376738"/>
            <a:ext cx="2285554" cy="16843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Staircase</a:t>
            </a:r>
            <a:r>
              <a:rPr lang="de-DE" sz="1600" dirty="0"/>
              <a:t> </a:t>
            </a:r>
            <a:r>
              <a:rPr lang="de-DE" sz="1600" dirty="0" err="1"/>
              <a:t>measures</a:t>
            </a:r>
            <a:endParaRPr lang="de-DE" sz="1600" dirty="0"/>
          </a:p>
          <a:p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dimensions</a:t>
            </a:r>
            <a:endParaRPr lang="de-DE" sz="1600" dirty="0"/>
          </a:p>
          <a:p>
            <a:r>
              <a:rPr lang="de-DE" sz="1600" dirty="0"/>
              <a:t>Average </a:t>
            </a:r>
            <a:r>
              <a:rPr lang="de-DE" sz="1600" dirty="0" err="1"/>
              <a:t>apartment</a:t>
            </a:r>
            <a:r>
              <a:rPr lang="de-DE" sz="1600" dirty="0"/>
              <a:t> </a:t>
            </a:r>
            <a:r>
              <a:rPr lang="de-DE" sz="1600" dirty="0" err="1"/>
              <a:t>areas</a:t>
            </a:r>
            <a:endParaRPr lang="de-DE" sz="1600" dirty="0"/>
          </a:p>
          <a:p>
            <a:r>
              <a:rPr lang="de-DE" sz="1600" dirty="0"/>
              <a:t>WWR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0353D9-9F83-C4CF-0BD6-293D2ED9C996}"/>
              </a:ext>
            </a:extLst>
          </p:cNvPr>
          <p:cNvSpPr/>
          <p:nvPr/>
        </p:nvSpPr>
        <p:spPr>
          <a:xfrm>
            <a:off x="3651092" y="3985863"/>
            <a:ext cx="2366974" cy="330916"/>
          </a:xfrm>
          <a:prstGeom prst="rect">
            <a:avLst/>
          </a:prstGeom>
          <a:solidFill>
            <a:srgbClr val="8BC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Inner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building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data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22F367A-857B-1539-1A5D-4843C8FC6E75}"/>
              </a:ext>
            </a:extLst>
          </p:cNvPr>
          <p:cNvSpPr/>
          <p:nvPr/>
        </p:nvSpPr>
        <p:spPr>
          <a:xfrm>
            <a:off x="7715370" y="5705904"/>
            <a:ext cx="670588" cy="3551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LBO</a:t>
            </a:r>
          </a:p>
        </p:txBody>
      </p:sp>
      <p:sp>
        <p:nvSpPr>
          <p:cNvPr id="29" name="Inhaltsplatzhalter 8">
            <a:extLst>
              <a:ext uri="{FF2B5EF4-FFF2-40B4-BE49-F238E27FC236}">
                <a16:creationId xmlns:a16="http://schemas.microsoft.com/office/drawing/2014/main" id="{6A09B1C6-E225-B7EA-13AC-E03F019473CB}"/>
              </a:ext>
            </a:extLst>
          </p:cNvPr>
          <p:cNvSpPr txBox="1">
            <a:spLocks/>
          </p:cNvSpPr>
          <p:nvPr/>
        </p:nvSpPr>
        <p:spPr>
          <a:xfrm>
            <a:off x="7859947" y="1868838"/>
            <a:ext cx="2951492" cy="21170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Data clean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</a:p>
          <a:p>
            <a:r>
              <a:rPr lang="de-DE" sz="1600" dirty="0" err="1"/>
              <a:t>Coordinate</a:t>
            </a:r>
            <a:r>
              <a:rPr lang="de-DE" sz="1600" dirty="0"/>
              <a:t> </a:t>
            </a:r>
            <a:r>
              <a:rPr lang="de-DE" sz="1600" dirty="0" err="1"/>
              <a:t>transformation</a:t>
            </a:r>
            <a:endParaRPr lang="de-DE" sz="1600" dirty="0"/>
          </a:p>
          <a:p>
            <a:r>
              <a:rPr lang="de-DE" sz="1600" dirty="0"/>
              <a:t>Front </a:t>
            </a:r>
            <a:r>
              <a:rPr lang="de-DE" sz="1600" dirty="0" err="1"/>
              <a:t>facade</a:t>
            </a:r>
            <a:r>
              <a:rPr lang="de-DE" sz="1600" dirty="0"/>
              <a:t> </a:t>
            </a:r>
            <a:r>
              <a:rPr lang="de-DE" sz="1600" dirty="0" err="1"/>
              <a:t>detection</a:t>
            </a:r>
            <a:endParaRPr lang="de-DE" sz="1600" dirty="0"/>
          </a:p>
          <a:p>
            <a:r>
              <a:rPr lang="de-DE" sz="1600" dirty="0" err="1"/>
              <a:t>Discretization</a:t>
            </a:r>
            <a:endParaRPr lang="de-DE" sz="1600" dirty="0"/>
          </a:p>
          <a:p>
            <a:endParaRPr lang="de-DE" sz="1600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DB62540-0DD3-9860-94DC-7A43D08425C1}"/>
              </a:ext>
            </a:extLst>
          </p:cNvPr>
          <p:cNvSpPr/>
          <p:nvPr/>
        </p:nvSpPr>
        <p:spPr>
          <a:xfrm>
            <a:off x="7859947" y="1412020"/>
            <a:ext cx="2951492" cy="330916"/>
          </a:xfrm>
          <a:prstGeom prst="rect">
            <a:avLst/>
          </a:prstGeom>
          <a:solidFill>
            <a:srgbClr val="3773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Preparation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33" name="Pfeil: nach oben 32">
            <a:extLst>
              <a:ext uri="{FF2B5EF4-FFF2-40B4-BE49-F238E27FC236}">
                <a16:creationId xmlns:a16="http://schemas.microsoft.com/office/drawing/2014/main" id="{B16D26B4-F408-B486-38FF-AD384766AB2C}"/>
              </a:ext>
            </a:extLst>
          </p:cNvPr>
          <p:cNvSpPr/>
          <p:nvPr/>
        </p:nvSpPr>
        <p:spPr>
          <a:xfrm rot="5400000">
            <a:off x="4034486" y="1807226"/>
            <a:ext cx="330917" cy="769221"/>
          </a:xfrm>
          <a:prstGeom prst="upArrow">
            <a:avLst/>
          </a:prstGeom>
          <a:solidFill>
            <a:srgbClr val="D1E8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feil: nach oben 33">
            <a:extLst>
              <a:ext uri="{FF2B5EF4-FFF2-40B4-BE49-F238E27FC236}">
                <a16:creationId xmlns:a16="http://schemas.microsoft.com/office/drawing/2014/main" id="{8752B7A8-94D4-D09A-B1C5-ADB79B535D84}"/>
              </a:ext>
            </a:extLst>
          </p:cNvPr>
          <p:cNvSpPr/>
          <p:nvPr/>
        </p:nvSpPr>
        <p:spPr>
          <a:xfrm>
            <a:off x="5616127" y="3199331"/>
            <a:ext cx="330917" cy="644950"/>
          </a:xfrm>
          <a:prstGeom prst="upArrow">
            <a:avLst/>
          </a:prstGeom>
          <a:solidFill>
            <a:srgbClr val="8BC6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nach oben 34">
            <a:extLst>
              <a:ext uri="{FF2B5EF4-FFF2-40B4-BE49-F238E27FC236}">
                <a16:creationId xmlns:a16="http://schemas.microsoft.com/office/drawing/2014/main" id="{3497F0ED-EF9E-FD49-6FBC-30271B450D12}"/>
              </a:ext>
            </a:extLst>
          </p:cNvPr>
          <p:cNvSpPr/>
          <p:nvPr/>
        </p:nvSpPr>
        <p:spPr>
          <a:xfrm rot="5400000">
            <a:off x="7035692" y="1803594"/>
            <a:ext cx="330917" cy="769221"/>
          </a:xfrm>
          <a:prstGeom prst="upArrow">
            <a:avLst/>
          </a:prstGeom>
          <a:solidFill>
            <a:srgbClr val="3773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Binary Space Partitioning Trees in Computer Graphics">
            <a:extLst>
              <a:ext uri="{FF2B5EF4-FFF2-40B4-BE49-F238E27FC236}">
                <a16:creationId xmlns:a16="http://schemas.microsoft.com/office/drawing/2014/main" id="{855A1303-967E-273E-864B-9EC9C110C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7" r="24988"/>
          <a:stretch/>
        </p:blipFill>
        <p:spPr bwMode="auto">
          <a:xfrm>
            <a:off x="8592227" y="3317926"/>
            <a:ext cx="3271224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5FF010DD-7EC6-F026-72EC-82558A50D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48872EF6-0255-6678-8EC1-0F4FC411AD1F}"/>
              </a:ext>
            </a:extLst>
          </p:cNvPr>
          <p:cNvSpPr txBox="1">
            <a:spLocks/>
          </p:cNvSpPr>
          <p:nvPr/>
        </p:nvSpPr>
        <p:spPr>
          <a:xfrm>
            <a:off x="9008510" y="6061073"/>
            <a:ext cx="2854941" cy="48171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600" dirty="0"/>
              <a:t>Binary Space Partitioning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43398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/>
      <p:bldP spid="30" grpId="0" animBg="1"/>
      <p:bldP spid="33" grpId="0" animBg="1"/>
      <p:bldP spid="34" grpId="0" animBg="1"/>
      <p:bldP spid="35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EC76D08-4D8F-902C-4FA8-EBAFE7BB9020}"/>
              </a:ext>
            </a:extLst>
          </p:cNvPr>
          <p:cNvGrpSpPr/>
          <p:nvPr/>
        </p:nvGrpSpPr>
        <p:grpSpPr>
          <a:xfrm>
            <a:off x="1122274" y="1492057"/>
            <a:ext cx="1690334" cy="2193550"/>
            <a:chOff x="1082131" y="3691281"/>
            <a:chExt cx="1690334" cy="219355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FEE1ED8A-193B-6A4F-095B-3B91E808A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05" t="8616" r="32278" b="55013"/>
            <a:stretch/>
          </p:blipFill>
          <p:spPr>
            <a:xfrm rot="15960534">
              <a:off x="830523" y="3942889"/>
              <a:ext cx="2193550" cy="1690334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50D2B005-CF01-119C-A7C4-D34CA9FB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117" t="52572" r="41579" b="20296"/>
            <a:stretch/>
          </p:blipFill>
          <p:spPr>
            <a:xfrm rot="15997364">
              <a:off x="2063225" y="4582734"/>
              <a:ext cx="278584" cy="534958"/>
            </a:xfrm>
            <a:prstGeom prst="rect">
              <a:avLst/>
            </a:prstGeom>
          </p:spPr>
        </p:pic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43" name="Inhaltsplatzhalter 8">
            <a:extLst>
              <a:ext uri="{FF2B5EF4-FFF2-40B4-BE49-F238E27FC236}">
                <a16:creationId xmlns:a16="http://schemas.microsoft.com/office/drawing/2014/main" id="{9646154D-D019-6698-F8CA-BC44A7CF7292}"/>
              </a:ext>
            </a:extLst>
          </p:cNvPr>
          <p:cNvSpPr txBox="1">
            <a:spLocks/>
          </p:cNvSpPr>
          <p:nvPr/>
        </p:nvSpPr>
        <p:spPr>
          <a:xfrm>
            <a:off x="772018" y="3717827"/>
            <a:ext cx="4038107" cy="22256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Seed </a:t>
            </a:r>
            <a:r>
              <a:rPr lang="de-DE" sz="1600" dirty="0" err="1"/>
              <a:t>placement</a:t>
            </a:r>
            <a:r>
              <a:rPr lang="de-DE" sz="1600" dirty="0"/>
              <a:t> </a:t>
            </a:r>
            <a:r>
              <a:rPr lang="de-DE" sz="1600" dirty="0" err="1"/>
              <a:t>along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staircase</a:t>
            </a:r>
            <a:r>
              <a:rPr lang="de-DE" sz="1600" dirty="0"/>
              <a:t>/</a:t>
            </a:r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walls</a:t>
            </a:r>
            <a:r>
              <a:rPr lang="de-DE" sz="1600" dirty="0"/>
              <a:t> („</a:t>
            </a:r>
            <a:r>
              <a:rPr lang="de-DE" sz="1600" dirty="0" err="1"/>
              <a:t>doors</a:t>
            </a:r>
            <a:r>
              <a:rPr lang="de-DE" sz="1600" dirty="0"/>
              <a:t>“)</a:t>
            </a:r>
          </a:p>
          <a:p>
            <a:r>
              <a:rPr lang="de-DE" sz="1600" dirty="0"/>
              <a:t>X-</a:t>
            </a:r>
            <a:r>
              <a:rPr lang="de-DE" sz="1600" dirty="0" err="1"/>
              <a:t>iterations</a:t>
            </a:r>
            <a:r>
              <a:rPr lang="de-DE" sz="1600" dirty="0"/>
              <a:t> (different </a:t>
            </a:r>
            <a:r>
              <a:rPr lang="de-DE" sz="1600" dirty="0" err="1"/>
              <a:t>seed</a:t>
            </a:r>
            <a:r>
              <a:rPr lang="de-DE" sz="1600" dirty="0"/>
              <a:t> </a:t>
            </a:r>
            <a:r>
              <a:rPr lang="de-DE" sz="1600" dirty="0" err="1"/>
              <a:t>placements</a:t>
            </a:r>
            <a:r>
              <a:rPr lang="de-DE" sz="1600" dirty="0"/>
              <a:t>)</a:t>
            </a:r>
          </a:p>
          <a:p>
            <a:r>
              <a:rPr lang="de-DE" sz="1600" dirty="0" err="1"/>
              <a:t>Continuous</a:t>
            </a:r>
            <a:r>
              <a:rPr lang="de-DE" sz="1600" dirty="0"/>
              <a:t> </a:t>
            </a:r>
            <a:r>
              <a:rPr lang="de-DE" sz="1600" dirty="0" err="1"/>
              <a:t>evaluation</a:t>
            </a:r>
            <a:r>
              <a:rPr lang="de-DE" sz="1600" dirty="0"/>
              <a:t>:</a:t>
            </a:r>
          </a:p>
          <a:p>
            <a:pPr lvl="1"/>
            <a:r>
              <a:rPr lang="de-DE" sz="1400" dirty="0"/>
              <a:t>Outer wall </a:t>
            </a:r>
            <a:r>
              <a:rPr lang="de-DE" sz="1400" dirty="0" err="1"/>
              <a:t>connection</a:t>
            </a:r>
            <a:endParaRPr lang="de-DE" sz="1400" dirty="0"/>
          </a:p>
          <a:p>
            <a:pPr lvl="1"/>
            <a:r>
              <a:rPr lang="de-DE" sz="1400" dirty="0" err="1"/>
              <a:t>Adjacend</a:t>
            </a:r>
            <a:r>
              <a:rPr lang="de-DE" sz="1400" dirty="0"/>
              <a:t> </a:t>
            </a:r>
            <a:r>
              <a:rPr lang="de-DE" sz="1400" dirty="0" err="1"/>
              <a:t>buildings</a:t>
            </a:r>
            <a:r>
              <a:rPr lang="de-DE" sz="1400" dirty="0"/>
              <a:t> / </a:t>
            </a:r>
            <a:r>
              <a:rPr lang="de-DE" sz="1400" dirty="0" err="1"/>
              <a:t>blocked</a:t>
            </a:r>
            <a:r>
              <a:rPr lang="de-DE" sz="1400" dirty="0"/>
              <a:t> </a:t>
            </a:r>
            <a:r>
              <a:rPr lang="de-DE" sz="1400" dirty="0" err="1"/>
              <a:t>walls</a:t>
            </a:r>
            <a:endParaRPr lang="de-DE" sz="1400" dirty="0"/>
          </a:p>
          <a:p>
            <a:pPr lvl="1"/>
            <a:r>
              <a:rPr lang="de-DE" sz="1400" dirty="0"/>
              <a:t>Windows </a:t>
            </a:r>
            <a:r>
              <a:rPr lang="de-DE" sz="1400" dirty="0" err="1"/>
              <a:t>accordingly</a:t>
            </a:r>
            <a:r>
              <a:rPr lang="de-DE" sz="1400" dirty="0"/>
              <a:t>? (</a:t>
            </a:r>
            <a:r>
              <a:rPr lang="de-DE" sz="1400" dirty="0" err="1"/>
              <a:t>if</a:t>
            </a:r>
            <a:r>
              <a:rPr lang="de-DE" sz="1400" dirty="0"/>
              <a:t> LoD3)</a:t>
            </a:r>
          </a:p>
          <a:p>
            <a:pPr lvl="1"/>
            <a:r>
              <a:rPr lang="de-DE" sz="1400" dirty="0" err="1"/>
              <a:t>Artifacts</a:t>
            </a:r>
            <a:r>
              <a:rPr lang="de-DE" sz="1400" dirty="0"/>
              <a:t>, </a:t>
            </a:r>
            <a:r>
              <a:rPr lang="de-DE" sz="1400" dirty="0" err="1"/>
              <a:t>area</a:t>
            </a:r>
            <a:r>
              <a:rPr lang="de-DE" sz="1400" dirty="0"/>
              <a:t> </a:t>
            </a:r>
            <a:r>
              <a:rPr lang="de-DE" sz="1400" dirty="0" err="1"/>
              <a:t>connectivity</a:t>
            </a:r>
            <a:r>
              <a:rPr lang="de-DE" sz="1400" dirty="0"/>
              <a:t> </a:t>
            </a:r>
          </a:p>
        </p:txBody>
      </p:sp>
      <p:sp>
        <p:nvSpPr>
          <p:cNvPr id="44" name="Pfeil: nach oben 43">
            <a:extLst>
              <a:ext uri="{FF2B5EF4-FFF2-40B4-BE49-F238E27FC236}">
                <a16:creationId xmlns:a16="http://schemas.microsoft.com/office/drawing/2014/main" id="{DB122E49-8EA2-718F-C938-D67B0E306EE7}"/>
              </a:ext>
            </a:extLst>
          </p:cNvPr>
          <p:cNvSpPr/>
          <p:nvPr/>
        </p:nvSpPr>
        <p:spPr>
          <a:xfrm rot="5400000">
            <a:off x="3260532" y="2590104"/>
            <a:ext cx="330917" cy="769221"/>
          </a:xfrm>
          <a:prstGeom prst="up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Pfeil: nach oben 44">
            <a:extLst>
              <a:ext uri="{FF2B5EF4-FFF2-40B4-BE49-F238E27FC236}">
                <a16:creationId xmlns:a16="http://schemas.microsoft.com/office/drawing/2014/main" id="{EBF0FC46-8F45-DA13-CE6C-8DCC29FA4E27}"/>
              </a:ext>
            </a:extLst>
          </p:cNvPr>
          <p:cNvSpPr/>
          <p:nvPr/>
        </p:nvSpPr>
        <p:spPr>
          <a:xfrm rot="5400000">
            <a:off x="7537783" y="2621305"/>
            <a:ext cx="330917" cy="604353"/>
          </a:xfrm>
          <a:prstGeom prst="upArrow">
            <a:avLst/>
          </a:prstGeom>
          <a:solidFill>
            <a:srgbClr val="0033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EFA0DFC-DC70-1A99-DF4D-E1AF43E7ADF2}"/>
              </a:ext>
            </a:extLst>
          </p:cNvPr>
          <p:cNvSpPr/>
          <p:nvPr/>
        </p:nvSpPr>
        <p:spPr>
          <a:xfrm>
            <a:off x="1037738" y="1318264"/>
            <a:ext cx="2601233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Voronoi-Seperation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03D4BF75-2532-1535-FD6A-D53C18863D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27" t="12350" r="27872" b="12952"/>
          <a:stretch/>
        </p:blipFill>
        <p:spPr>
          <a:xfrm>
            <a:off x="8655837" y="2052596"/>
            <a:ext cx="2380302" cy="4203369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1FF7EC39-C62E-17D2-1197-976C8CBB7B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11" t="15271" r="6063" b="14290"/>
          <a:stretch/>
        </p:blipFill>
        <p:spPr>
          <a:xfrm>
            <a:off x="4221024" y="1332350"/>
            <a:ext cx="3175380" cy="264304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DE66E95-AE87-1A11-AB37-F391BD85A075}"/>
              </a:ext>
            </a:extLst>
          </p:cNvPr>
          <p:cNvSpPr/>
          <p:nvPr/>
        </p:nvSpPr>
        <p:spPr>
          <a:xfrm>
            <a:off x="8137768" y="1520170"/>
            <a:ext cx="3170289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Postprocessing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6" name="Inhaltsplatzhalter 8">
            <a:extLst>
              <a:ext uri="{FF2B5EF4-FFF2-40B4-BE49-F238E27FC236}">
                <a16:creationId xmlns:a16="http://schemas.microsoft.com/office/drawing/2014/main" id="{2913DBC5-0FC1-B7F3-410F-C876A477C405}"/>
              </a:ext>
            </a:extLst>
          </p:cNvPr>
          <p:cNvSpPr txBox="1">
            <a:spLocks/>
          </p:cNvSpPr>
          <p:nvPr/>
        </p:nvSpPr>
        <p:spPr>
          <a:xfrm>
            <a:off x="5657896" y="4496744"/>
            <a:ext cx="2672731" cy="10289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dirty="0" err="1"/>
              <a:t>Eliminate</a:t>
            </a:r>
            <a:r>
              <a:rPr lang="de-DE" sz="1600" dirty="0"/>
              <a:t> „</a:t>
            </a:r>
            <a:r>
              <a:rPr lang="de-DE" sz="1600" dirty="0" err="1"/>
              <a:t>jagged</a:t>
            </a:r>
            <a:r>
              <a:rPr lang="de-DE" sz="1600" dirty="0"/>
              <a:t> </a:t>
            </a:r>
            <a:r>
              <a:rPr lang="de-DE" sz="1600" dirty="0" err="1"/>
              <a:t>patterns</a:t>
            </a:r>
            <a:r>
              <a:rPr lang="de-DE" sz="1600" dirty="0"/>
              <a:t>“ </a:t>
            </a:r>
            <a:r>
              <a:rPr lang="de-DE" sz="1600" dirty="0" err="1"/>
              <a:t>caused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voronoi</a:t>
            </a:r>
            <a:r>
              <a:rPr lang="de-DE" sz="1600" dirty="0"/>
              <a:t> (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respect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restrictions</a:t>
            </a:r>
            <a:r>
              <a:rPr lang="de-DE" sz="1600" dirty="0"/>
              <a:t>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B70FBF6-410F-616D-97F5-DE07805BA17C}"/>
              </a:ext>
            </a:extLst>
          </p:cNvPr>
          <p:cNvSpPr/>
          <p:nvPr/>
        </p:nvSpPr>
        <p:spPr>
          <a:xfrm>
            <a:off x="6000174" y="2096189"/>
            <a:ext cx="1396230" cy="985287"/>
          </a:xfrm>
          <a:prstGeom prst="rect">
            <a:avLst/>
          </a:prstGeom>
          <a:solidFill>
            <a:srgbClr val="FF9D89">
              <a:alpha val="9804"/>
            </a:srgbClr>
          </a:solidFill>
          <a:ln w="571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Pfeil: gebogen 8">
            <a:extLst>
              <a:ext uri="{FF2B5EF4-FFF2-40B4-BE49-F238E27FC236}">
                <a16:creationId xmlns:a16="http://schemas.microsoft.com/office/drawing/2014/main" id="{06FAFB65-80A3-69A2-4C9B-9205DBBFC435}"/>
              </a:ext>
            </a:extLst>
          </p:cNvPr>
          <p:cNvSpPr/>
          <p:nvPr/>
        </p:nvSpPr>
        <p:spPr>
          <a:xfrm rot="10516196" flipH="1">
            <a:off x="7475750" y="3256991"/>
            <a:ext cx="1209339" cy="1198511"/>
          </a:xfrm>
          <a:prstGeom prst="bentArrow">
            <a:avLst>
              <a:gd name="adj1" fmla="val 11448"/>
              <a:gd name="adj2" fmla="val 16561"/>
              <a:gd name="adj3" fmla="val 25000"/>
              <a:gd name="adj4" fmla="val 759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EB5F39A-AE40-5319-538B-0A889DE5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152710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3" grpId="0" animBg="1"/>
      <p:bldP spid="6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EC76D08-4D8F-902C-4FA8-EBAFE7BB9020}"/>
              </a:ext>
            </a:extLst>
          </p:cNvPr>
          <p:cNvGrpSpPr/>
          <p:nvPr/>
        </p:nvGrpSpPr>
        <p:grpSpPr>
          <a:xfrm>
            <a:off x="1122274" y="1492057"/>
            <a:ext cx="1690334" cy="2193550"/>
            <a:chOff x="1082131" y="3691281"/>
            <a:chExt cx="1690334" cy="219355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FEE1ED8A-193B-6A4F-095B-3B91E808A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05" t="8616" r="32278" b="55013"/>
            <a:stretch/>
          </p:blipFill>
          <p:spPr>
            <a:xfrm rot="15960534">
              <a:off x="830523" y="3942889"/>
              <a:ext cx="2193550" cy="1690334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50D2B005-CF01-119C-A7C4-D34CA9FB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117" t="52572" r="41579" b="20296"/>
            <a:stretch/>
          </p:blipFill>
          <p:spPr>
            <a:xfrm rot="15997364">
              <a:off x="2063225" y="4582734"/>
              <a:ext cx="278584" cy="534958"/>
            </a:xfrm>
            <a:prstGeom prst="rect">
              <a:avLst/>
            </a:prstGeom>
          </p:spPr>
        </p:pic>
      </p:grp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55EB7C-8AC9-45E6-A5F6-5C936EB2F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5A344-4E48-4731-A227-0D90870674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43" name="Inhaltsplatzhalter 8">
            <a:extLst>
              <a:ext uri="{FF2B5EF4-FFF2-40B4-BE49-F238E27FC236}">
                <a16:creationId xmlns:a16="http://schemas.microsoft.com/office/drawing/2014/main" id="{9646154D-D019-6698-F8CA-BC44A7CF7292}"/>
              </a:ext>
            </a:extLst>
          </p:cNvPr>
          <p:cNvSpPr txBox="1">
            <a:spLocks/>
          </p:cNvSpPr>
          <p:nvPr/>
        </p:nvSpPr>
        <p:spPr>
          <a:xfrm>
            <a:off x="772018" y="3717827"/>
            <a:ext cx="4038107" cy="22256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Seed </a:t>
            </a:r>
            <a:r>
              <a:rPr lang="de-DE" sz="1600" dirty="0" err="1"/>
              <a:t>placement</a:t>
            </a:r>
            <a:r>
              <a:rPr lang="de-DE" sz="1600" dirty="0"/>
              <a:t> </a:t>
            </a:r>
            <a:r>
              <a:rPr lang="de-DE" sz="1600" dirty="0" err="1"/>
              <a:t>along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staircase</a:t>
            </a:r>
            <a:r>
              <a:rPr lang="de-DE" sz="1600" dirty="0"/>
              <a:t>/</a:t>
            </a:r>
            <a:r>
              <a:rPr lang="de-DE" sz="1600" dirty="0" err="1"/>
              <a:t>corridor</a:t>
            </a:r>
            <a:r>
              <a:rPr lang="de-DE" sz="1600" dirty="0"/>
              <a:t> </a:t>
            </a:r>
            <a:r>
              <a:rPr lang="de-DE" sz="1600" dirty="0" err="1"/>
              <a:t>walls</a:t>
            </a:r>
            <a:r>
              <a:rPr lang="de-DE" sz="1600" dirty="0"/>
              <a:t> („</a:t>
            </a:r>
            <a:r>
              <a:rPr lang="de-DE" sz="1600" dirty="0" err="1"/>
              <a:t>doors</a:t>
            </a:r>
            <a:r>
              <a:rPr lang="de-DE" sz="1600" dirty="0"/>
              <a:t>“)</a:t>
            </a:r>
          </a:p>
          <a:p>
            <a:r>
              <a:rPr lang="de-DE" sz="1600" dirty="0"/>
              <a:t>X-</a:t>
            </a:r>
            <a:r>
              <a:rPr lang="de-DE" sz="1600" dirty="0" err="1"/>
              <a:t>iterations</a:t>
            </a:r>
            <a:r>
              <a:rPr lang="de-DE" sz="1600" dirty="0"/>
              <a:t> (different </a:t>
            </a:r>
            <a:r>
              <a:rPr lang="de-DE" sz="1600" dirty="0" err="1"/>
              <a:t>seed</a:t>
            </a:r>
            <a:r>
              <a:rPr lang="de-DE" sz="1600" dirty="0"/>
              <a:t> </a:t>
            </a:r>
            <a:r>
              <a:rPr lang="de-DE" sz="1600" dirty="0" err="1"/>
              <a:t>placements</a:t>
            </a:r>
            <a:r>
              <a:rPr lang="de-DE" sz="1600" dirty="0"/>
              <a:t>)</a:t>
            </a:r>
          </a:p>
          <a:p>
            <a:r>
              <a:rPr lang="de-DE" sz="1600" dirty="0" err="1"/>
              <a:t>Continuous</a:t>
            </a:r>
            <a:r>
              <a:rPr lang="de-DE" sz="1600" dirty="0"/>
              <a:t> </a:t>
            </a:r>
            <a:r>
              <a:rPr lang="de-DE" sz="1600" dirty="0" err="1"/>
              <a:t>evaluation</a:t>
            </a:r>
            <a:r>
              <a:rPr lang="de-DE" sz="1600" dirty="0"/>
              <a:t>:</a:t>
            </a:r>
          </a:p>
          <a:p>
            <a:pPr lvl="1"/>
            <a:r>
              <a:rPr lang="de-DE" sz="1400" dirty="0"/>
              <a:t>Outer wall </a:t>
            </a:r>
            <a:r>
              <a:rPr lang="de-DE" sz="1400" dirty="0" err="1"/>
              <a:t>connection</a:t>
            </a:r>
            <a:endParaRPr lang="de-DE" sz="1400" dirty="0"/>
          </a:p>
          <a:p>
            <a:pPr lvl="1"/>
            <a:r>
              <a:rPr lang="de-DE" sz="1400" dirty="0" err="1"/>
              <a:t>Adjacend</a:t>
            </a:r>
            <a:r>
              <a:rPr lang="de-DE" sz="1400" dirty="0"/>
              <a:t> </a:t>
            </a:r>
            <a:r>
              <a:rPr lang="de-DE" sz="1400" dirty="0" err="1"/>
              <a:t>buildings</a:t>
            </a:r>
            <a:r>
              <a:rPr lang="de-DE" sz="1400" dirty="0"/>
              <a:t> / </a:t>
            </a:r>
            <a:r>
              <a:rPr lang="de-DE" sz="1400" dirty="0" err="1"/>
              <a:t>blocked</a:t>
            </a:r>
            <a:r>
              <a:rPr lang="de-DE" sz="1400" dirty="0"/>
              <a:t> </a:t>
            </a:r>
            <a:r>
              <a:rPr lang="de-DE" sz="1400" dirty="0" err="1"/>
              <a:t>walls</a:t>
            </a:r>
            <a:endParaRPr lang="de-DE" sz="1400" dirty="0"/>
          </a:p>
          <a:p>
            <a:pPr lvl="1"/>
            <a:r>
              <a:rPr lang="de-DE" sz="1400" dirty="0"/>
              <a:t>Windows </a:t>
            </a:r>
            <a:r>
              <a:rPr lang="de-DE" sz="1400" dirty="0" err="1"/>
              <a:t>accordingly</a:t>
            </a:r>
            <a:r>
              <a:rPr lang="de-DE" sz="1400" dirty="0"/>
              <a:t>? (</a:t>
            </a:r>
            <a:r>
              <a:rPr lang="de-DE" sz="1400" dirty="0" err="1"/>
              <a:t>if</a:t>
            </a:r>
            <a:r>
              <a:rPr lang="de-DE" sz="1400" dirty="0"/>
              <a:t> LoD3)</a:t>
            </a:r>
          </a:p>
          <a:p>
            <a:pPr lvl="1"/>
            <a:r>
              <a:rPr lang="de-DE" sz="1400" dirty="0" err="1"/>
              <a:t>Artifacts</a:t>
            </a:r>
            <a:r>
              <a:rPr lang="de-DE" sz="1400" dirty="0"/>
              <a:t>, </a:t>
            </a:r>
            <a:r>
              <a:rPr lang="de-DE" sz="1400" dirty="0" err="1"/>
              <a:t>area</a:t>
            </a:r>
            <a:r>
              <a:rPr lang="de-DE" sz="1400" dirty="0"/>
              <a:t> </a:t>
            </a:r>
            <a:r>
              <a:rPr lang="de-DE" sz="1400" dirty="0" err="1"/>
              <a:t>connectivity</a:t>
            </a:r>
            <a:r>
              <a:rPr lang="de-DE" sz="1400" dirty="0"/>
              <a:t> </a:t>
            </a:r>
          </a:p>
        </p:txBody>
      </p:sp>
      <p:sp>
        <p:nvSpPr>
          <p:cNvPr id="44" name="Pfeil: nach oben 43">
            <a:extLst>
              <a:ext uri="{FF2B5EF4-FFF2-40B4-BE49-F238E27FC236}">
                <a16:creationId xmlns:a16="http://schemas.microsoft.com/office/drawing/2014/main" id="{DB122E49-8EA2-718F-C938-D67B0E306EE7}"/>
              </a:ext>
            </a:extLst>
          </p:cNvPr>
          <p:cNvSpPr/>
          <p:nvPr/>
        </p:nvSpPr>
        <p:spPr>
          <a:xfrm rot="5400000">
            <a:off x="3260532" y="2590104"/>
            <a:ext cx="330917" cy="769221"/>
          </a:xfrm>
          <a:prstGeom prst="up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EFA0DFC-DC70-1A99-DF4D-E1AF43E7ADF2}"/>
              </a:ext>
            </a:extLst>
          </p:cNvPr>
          <p:cNvSpPr/>
          <p:nvPr/>
        </p:nvSpPr>
        <p:spPr>
          <a:xfrm>
            <a:off x="1037738" y="1318264"/>
            <a:ext cx="2601233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Voronoi-Seperation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1FF7EC39-C62E-17D2-1197-976C8CBB7B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311" t="15271" r="6063" b="14290"/>
          <a:stretch/>
        </p:blipFill>
        <p:spPr>
          <a:xfrm>
            <a:off x="4221024" y="1332350"/>
            <a:ext cx="3175380" cy="264304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DE66E95-AE87-1A11-AB37-F391BD85A075}"/>
              </a:ext>
            </a:extLst>
          </p:cNvPr>
          <p:cNvSpPr/>
          <p:nvPr/>
        </p:nvSpPr>
        <p:spPr>
          <a:xfrm>
            <a:off x="8137768" y="1520170"/>
            <a:ext cx="3170289" cy="330916"/>
          </a:xfrm>
          <a:prstGeom prst="rect">
            <a:avLst/>
          </a:prstGeom>
          <a:solidFill>
            <a:srgbClr val="254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Result</a:t>
            </a:r>
            <a:endParaRPr lang="de-DE" b="1" dirty="0">
              <a:solidFill>
                <a:schemeClr val="bg1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F1E6F95-0100-2E82-6B04-140C53CA79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73" t="4861" r="7632" b="8525"/>
          <a:stretch/>
        </p:blipFill>
        <p:spPr>
          <a:xfrm>
            <a:off x="8055615" y="2153397"/>
            <a:ext cx="3327816" cy="36767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CBA5434-9FE9-A6AA-19DD-DB7F2AF433E1}"/>
                  </a:ext>
                </a:extLst>
              </p:cNvPr>
              <p:cNvSpPr/>
              <p:nvPr/>
            </p:nvSpPr>
            <p:spPr>
              <a:xfrm>
                <a:off x="5408982" y="4755097"/>
                <a:ext cx="2632429" cy="1028906"/>
              </a:xfrm>
              <a:prstGeom prst="rect">
                <a:avLst/>
              </a:prstGeom>
              <a:solidFill>
                <a:srgbClr val="254D70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b="1" i="0" dirty="0"/>
                        <m:t>SCORE = </m:t>
                      </m:r>
                    </m:oMath>
                  </m:oMathPara>
                </a14:m>
                <a:endParaRPr lang="de-DE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b="1" i="0" dirty="0"/>
                        <m:t>Total perimeter + </m:t>
                      </m:r>
                    </m:oMath>
                  </m:oMathPara>
                </a14:m>
                <a:endParaRPr lang="en-US" sz="1600" b="1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600" b="1" i="0" dirty="0"/>
                        <m:t>area range</m:t>
                      </m:r>
                    </m:oMath>
                  </m:oMathPara>
                </a14:m>
                <a:endParaRPr lang="de-DE" sz="1600" b="1" dirty="0"/>
              </a:p>
              <a:p>
                <a:pPr algn="ctr"/>
                <a:endParaRPr lang="de-DE" sz="1600" b="1" dirty="0"/>
              </a:p>
            </p:txBody>
          </p:sp>
        </mc:Choice>
        <mc:Fallback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CBA5434-9FE9-A6AA-19DD-DB7F2AF43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982" y="4755097"/>
                <a:ext cx="2632429" cy="10289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feil: gebogen 10">
            <a:extLst>
              <a:ext uri="{FF2B5EF4-FFF2-40B4-BE49-F238E27FC236}">
                <a16:creationId xmlns:a16="http://schemas.microsoft.com/office/drawing/2014/main" id="{2228688A-4A5C-935D-B8ED-37B3BD0D67F7}"/>
              </a:ext>
            </a:extLst>
          </p:cNvPr>
          <p:cNvSpPr/>
          <p:nvPr/>
        </p:nvSpPr>
        <p:spPr>
          <a:xfrm rot="10516196" flipH="1">
            <a:off x="7475750" y="3256991"/>
            <a:ext cx="1209339" cy="1198511"/>
          </a:xfrm>
          <a:prstGeom prst="bentArrow">
            <a:avLst>
              <a:gd name="adj1" fmla="val 11448"/>
              <a:gd name="adj2" fmla="val 16561"/>
              <a:gd name="adj3" fmla="val 25000"/>
              <a:gd name="adj4" fmla="val 759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6EBA612B-F6BA-1081-900A-62EC19CD2933}"/>
              </a:ext>
            </a:extLst>
          </p:cNvPr>
          <p:cNvSpPr txBox="1">
            <a:spLocks/>
          </p:cNvSpPr>
          <p:nvPr/>
        </p:nvSpPr>
        <p:spPr>
          <a:xfrm>
            <a:off x="6035040" y="4277706"/>
            <a:ext cx="2270760" cy="52792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DE" sz="2000" b="1" dirty="0">
                <a:solidFill>
                  <a:srgbClr val="C00000"/>
                </a:solidFill>
              </a:rPr>
              <a:t>Best</a:t>
            </a:r>
            <a:r>
              <a:rPr lang="de-DE" sz="2000" b="1" dirty="0">
                <a:solidFill>
                  <a:srgbClr val="C00000"/>
                </a:solidFill>
              </a:rPr>
              <a:t> SCORE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794ECD6-8810-DDAE-80A9-68F99F1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3" y="416579"/>
            <a:ext cx="10643616" cy="717279"/>
          </a:xfrm>
        </p:spPr>
        <p:txBody>
          <a:bodyPr/>
          <a:lstStyle/>
          <a:p>
            <a:r>
              <a:rPr lang="de-DE" cap="none" dirty="0"/>
              <a:t>Multizone </a:t>
            </a:r>
            <a:r>
              <a:rPr lang="de-DE" cap="none" dirty="0" err="1"/>
              <a:t>Assignment</a:t>
            </a:r>
            <a:r>
              <a:rPr lang="de-DE" cap="none" dirty="0"/>
              <a:t> </a:t>
            </a:r>
            <a:r>
              <a:rPr lang="de-DE" cap="none" dirty="0" err="1"/>
              <a:t>Algorithm</a:t>
            </a:r>
            <a:endParaRPr lang="en-GB" cap="none" dirty="0"/>
          </a:p>
        </p:txBody>
      </p:sp>
    </p:spTree>
    <p:extLst>
      <p:ext uri="{BB962C8B-B14F-4D97-AF65-F5344CB8AC3E}">
        <p14:creationId xmlns:p14="http://schemas.microsoft.com/office/powerpoint/2010/main" val="309876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/>
          <a:lstStyle/>
          <a:p>
            <a:r>
              <a:rPr lang="de-DE" dirty="0"/>
              <a:t>Datasets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5D1377-D8A6-493D-92F4-20C846588C5D}"/>
              </a:ext>
            </a:extLst>
          </p:cNvPr>
          <p:cNvSpPr txBox="1"/>
          <p:nvPr/>
        </p:nvSpPr>
        <p:spPr>
          <a:xfrm>
            <a:off x="445954" y="1168415"/>
            <a:ext cx="44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Modified</a:t>
            </a:r>
            <a:r>
              <a:rPr lang="de-DE" dirty="0"/>
              <a:t> Swiss </a:t>
            </a:r>
            <a:r>
              <a:rPr lang="de-DE" dirty="0" err="1"/>
              <a:t>Dwellings</a:t>
            </a:r>
            <a:r>
              <a:rPr lang="de-DE" dirty="0"/>
              <a:t> (MSD)</a:t>
            </a:r>
            <a:endParaRPr lang="en-GB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F97D80-1E6F-4F33-993B-3CED4FCF521F}"/>
              </a:ext>
            </a:extLst>
          </p:cNvPr>
          <p:cNvSpPr txBox="1"/>
          <p:nvPr/>
        </p:nvSpPr>
        <p:spPr>
          <a:xfrm>
            <a:off x="6271152" y="1168415"/>
            <a:ext cx="536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German </a:t>
            </a:r>
            <a:r>
              <a:rPr lang="de-DE" dirty="0"/>
              <a:t>Real Estate Data</a:t>
            </a:r>
            <a:endParaRPr lang="en-GB" b="1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9B04E9F-1270-402D-9DFD-90567C3C530C}"/>
              </a:ext>
            </a:extLst>
          </p:cNvPr>
          <p:cNvCxnSpPr>
            <a:cxnSpLocks/>
          </p:cNvCxnSpPr>
          <p:nvPr/>
        </p:nvCxnSpPr>
        <p:spPr>
          <a:xfrm flipV="1">
            <a:off x="6096000" y="1017413"/>
            <a:ext cx="0" cy="5384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453A694-633C-5403-20E4-714D1E3D2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954" y="1688749"/>
            <a:ext cx="5336360" cy="421259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Floor plan dataset with multimodal representations (image, geometry, graph) derived from real floor plans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Graph based structure enables identification of apartments based on adjacency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Over 5,000 floor plans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B999AF-0DD7-CCE3-8193-9956BEC31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77" y="3511550"/>
            <a:ext cx="5728235" cy="25757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E9714D-6D33-B88D-47A6-F83EB9903B3F}"/>
              </a:ext>
            </a:extLst>
          </p:cNvPr>
          <p:cNvSpPr txBox="1"/>
          <p:nvPr/>
        </p:nvSpPr>
        <p:spPr>
          <a:xfrm>
            <a:off x="691916" y="6359022"/>
            <a:ext cx="8326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Source : </a:t>
            </a:r>
            <a:r>
              <a:rPr lang="en-GB" sz="1000" dirty="0">
                <a:hlinkClick r:id="rId4"/>
              </a:rPr>
              <a:t>MSD: A Benchmark Dataset for Floor Plan Generation of Building Complexes</a:t>
            </a:r>
            <a:r>
              <a:rPr lang="en-GB" sz="1000" dirty="0"/>
              <a:t>, </a:t>
            </a:r>
            <a:r>
              <a:rPr lang="de-DE" sz="1000" dirty="0">
                <a:hlinkClick r:id="rId5"/>
              </a:rPr>
              <a:t>ImmoScout24 – Die Nr. 1 für Immobilien</a:t>
            </a:r>
            <a:endParaRPr lang="en-GB" sz="1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D72B4E6-CCD8-8D78-61F7-5F5D603C54E3}"/>
              </a:ext>
            </a:extLst>
          </p:cNvPr>
          <p:cNvSpPr txBox="1">
            <a:spLocks/>
          </p:cNvSpPr>
          <p:nvPr/>
        </p:nvSpPr>
        <p:spPr>
          <a:xfrm>
            <a:off x="6301370" y="1688749"/>
            <a:ext cx="5336360" cy="421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Floor plans collected from real estate websites (Immoscout24).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Provided mainly as PDF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Include geometric information such as area and layout proportions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Collected over 40 real floor plans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94777B-B8DD-8713-C55E-29C018ED60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523" y="3756453"/>
            <a:ext cx="2742099" cy="231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8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Dataset </a:t>
            </a:r>
            <a:r>
              <a:rPr lang="de-DE" dirty="0" err="1"/>
              <a:t>Preprocessing</a:t>
            </a:r>
            <a:r>
              <a:rPr lang="de-DE" dirty="0"/>
              <a:t> and </a:t>
            </a:r>
            <a:r>
              <a:rPr lang="en-GB" dirty="0"/>
              <a:t>Ground Truth Generation</a:t>
            </a:r>
            <a:br>
              <a:rPr lang="de-DE" dirty="0"/>
            </a:br>
            <a:r>
              <a:rPr lang="de-DE" sz="2200" dirty="0"/>
              <a:t>MSD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8DDD10-6DB5-4956-514A-14D898ACF961}"/>
              </a:ext>
            </a:extLst>
          </p:cNvPr>
          <p:cNvGrpSpPr/>
          <p:nvPr/>
        </p:nvGrpSpPr>
        <p:grpSpPr>
          <a:xfrm>
            <a:off x="583011" y="1336649"/>
            <a:ext cx="2154360" cy="2315084"/>
            <a:chOff x="668019" y="2122534"/>
            <a:chExt cx="4198163" cy="41785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E3ECE-E7DD-2552-67B1-A4F49FC5D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642"/>
            <a:stretch/>
          </p:blipFill>
          <p:spPr>
            <a:xfrm>
              <a:off x="668019" y="2122534"/>
              <a:ext cx="3236427" cy="357472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771E31-11AC-5077-4FF6-9045DBEA7AAA}"/>
                </a:ext>
              </a:extLst>
            </p:cNvPr>
            <p:cNvSpPr txBox="1"/>
            <p:nvPr/>
          </p:nvSpPr>
          <p:spPr>
            <a:xfrm>
              <a:off x="1629755" y="5712082"/>
              <a:ext cx="3236427" cy="58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Raw Dataset</a:t>
              </a:r>
              <a:endParaRPr lang="en-GB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40D13F-5D3D-6061-D0E0-9424770468F0}"/>
              </a:ext>
            </a:extLst>
          </p:cNvPr>
          <p:cNvGrpSpPr/>
          <p:nvPr/>
        </p:nvGrpSpPr>
        <p:grpSpPr>
          <a:xfrm>
            <a:off x="4634948" y="1062413"/>
            <a:ext cx="3071144" cy="2592981"/>
            <a:chOff x="4339251" y="1060007"/>
            <a:chExt cx="2624380" cy="221942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2AB98E8-4996-DED2-3991-C4D0F841FABD}"/>
                </a:ext>
              </a:extLst>
            </p:cNvPr>
            <p:cNvGrpSpPr/>
            <p:nvPr/>
          </p:nvGrpSpPr>
          <p:grpSpPr>
            <a:xfrm>
              <a:off x="4922976" y="1060007"/>
              <a:ext cx="2040655" cy="2219428"/>
              <a:chOff x="4171729" y="1003009"/>
              <a:chExt cx="2040655" cy="2219428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017EEE4C-F689-7F3B-9CD5-499D950F57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07" t="8905" r="51727" b="-8905"/>
              <a:stretch/>
            </p:blipFill>
            <p:spPr>
              <a:xfrm>
                <a:off x="4171729" y="1003009"/>
                <a:ext cx="1579798" cy="2106431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E6994B-FD19-2E09-2617-C25D1B98ADC3}"/>
                  </a:ext>
                </a:extLst>
              </p:cNvPr>
              <p:cNvSpPr txBox="1"/>
              <p:nvPr/>
            </p:nvSpPr>
            <p:spPr>
              <a:xfrm>
                <a:off x="4202195" y="2945438"/>
                <a:ext cx="2010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Apartment Footprint (GT)</a:t>
                </a:r>
                <a:endParaRPr lang="en-GB" sz="1200" dirty="0"/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BB5F456-73F8-2B85-3A95-B1B28B92E564}"/>
                </a:ext>
              </a:extLst>
            </p:cNvPr>
            <p:cNvCxnSpPr>
              <a:cxnSpLocks/>
            </p:cNvCxnSpPr>
            <p:nvPr/>
          </p:nvCxnSpPr>
          <p:spPr>
            <a:xfrm>
              <a:off x="4339251" y="2044061"/>
              <a:ext cx="61597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8BC7BC-6DEA-6002-EC87-C206D8C208E8}"/>
              </a:ext>
            </a:extLst>
          </p:cNvPr>
          <p:cNvGrpSpPr/>
          <p:nvPr/>
        </p:nvGrpSpPr>
        <p:grpSpPr>
          <a:xfrm>
            <a:off x="7411686" y="1772407"/>
            <a:ext cx="3773158" cy="1774786"/>
            <a:chOff x="2556880" y="1927193"/>
            <a:chExt cx="5198673" cy="232986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1521629-4654-F62B-09F0-E5A3935DBB93}"/>
                </a:ext>
              </a:extLst>
            </p:cNvPr>
            <p:cNvGrpSpPr/>
            <p:nvPr/>
          </p:nvGrpSpPr>
          <p:grpSpPr>
            <a:xfrm>
              <a:off x="2556880" y="1927193"/>
              <a:ext cx="5103072" cy="2128872"/>
              <a:chOff x="2556880" y="1927193"/>
              <a:chExt cx="5103072" cy="2128872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58FD2ED-E295-4997-2C7A-38ABD30F6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6880" y="2495550"/>
                <a:ext cx="1110245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07E6E1D-9FD6-F20D-ACF8-C23A6ED1D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9643" y="1927193"/>
                <a:ext cx="3303850" cy="1518803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D33132-CFFD-C771-F8B6-5BA0132FCDD7}"/>
                  </a:ext>
                </a:extLst>
              </p:cNvPr>
              <p:cNvSpPr txBox="1"/>
              <p:nvPr/>
            </p:nvSpPr>
            <p:spPr>
              <a:xfrm>
                <a:off x="4757780" y="3692432"/>
                <a:ext cx="2902172" cy="363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Building Footprint GeoJSON</a:t>
                </a:r>
                <a:endParaRPr lang="en-GB" sz="1200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5C2800-FC97-739E-1E33-E5343518F77A}"/>
                </a:ext>
              </a:extLst>
            </p:cNvPr>
            <p:cNvSpPr txBox="1"/>
            <p:nvPr/>
          </p:nvSpPr>
          <p:spPr>
            <a:xfrm>
              <a:off x="5172692" y="3893426"/>
              <a:ext cx="2582861" cy="363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geojson</a:t>
              </a:r>
              <a:endParaRPr lang="en-GB" sz="12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D21D924-6420-D113-3CA4-63BA01898391}"/>
              </a:ext>
            </a:extLst>
          </p:cNvPr>
          <p:cNvGrpSpPr/>
          <p:nvPr/>
        </p:nvGrpSpPr>
        <p:grpSpPr>
          <a:xfrm>
            <a:off x="2343879" y="1187195"/>
            <a:ext cx="2712215" cy="2325424"/>
            <a:chOff x="2952748" y="1445626"/>
            <a:chExt cx="4571816" cy="403492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3D94DA5-0545-907C-BEC8-66ED48A9F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4" t="10663" r="77594" b="-8106"/>
            <a:stretch>
              <a:fillRect/>
            </a:stretch>
          </p:blipFill>
          <p:spPr>
            <a:xfrm>
              <a:off x="4079021" y="1445626"/>
              <a:ext cx="2847975" cy="4016066"/>
            </a:xfrm>
            <a:prstGeom prst="rect">
              <a:avLst/>
            </a:prstGeom>
          </p:spPr>
        </p:pic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AAA437F-EB1D-53A3-41ED-E0851CFF5518}"/>
                </a:ext>
              </a:extLst>
            </p:cNvPr>
            <p:cNvCxnSpPr>
              <a:cxnSpLocks/>
            </p:cNvCxnSpPr>
            <p:nvPr/>
          </p:nvCxnSpPr>
          <p:spPr>
            <a:xfrm>
              <a:off x="2952748" y="3168390"/>
              <a:ext cx="112627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3DC9F52-C3D6-A989-CBB0-75D04500475B}"/>
                </a:ext>
              </a:extLst>
            </p:cNvPr>
            <p:cNvSpPr txBox="1"/>
            <p:nvPr/>
          </p:nvSpPr>
          <p:spPr>
            <a:xfrm>
              <a:off x="4941703" y="5142242"/>
              <a:ext cx="2582861" cy="338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Apartment Classification</a:t>
              </a:r>
              <a:endParaRPr lang="en-GB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FDCFE5-AFCD-316C-2426-CC874FD649A1}"/>
              </a:ext>
            </a:extLst>
          </p:cNvPr>
          <p:cNvGrpSpPr/>
          <p:nvPr/>
        </p:nvGrpSpPr>
        <p:grpSpPr>
          <a:xfrm>
            <a:off x="8760084" y="3640168"/>
            <a:ext cx="2604371" cy="2422231"/>
            <a:chOff x="8772525" y="948886"/>
            <a:chExt cx="3588314" cy="317980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3504EB8-7228-4F0B-E759-1A19C5994763}"/>
                </a:ext>
              </a:extLst>
            </p:cNvPr>
            <p:cNvGrpSpPr/>
            <p:nvPr/>
          </p:nvGrpSpPr>
          <p:grpSpPr>
            <a:xfrm>
              <a:off x="8772525" y="948886"/>
              <a:ext cx="3464506" cy="2978811"/>
              <a:chOff x="4095960" y="948886"/>
              <a:chExt cx="3464506" cy="2978811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FE94C5B-6598-D075-A69A-651095B3A9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7390" y="948886"/>
                <a:ext cx="3276" cy="817466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71FD0E7-07A8-CD53-2188-D97365CAC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567" b="5215"/>
              <a:stretch>
                <a:fillRect/>
              </a:stretch>
            </p:blipFill>
            <p:spPr>
              <a:xfrm>
                <a:off x="4095960" y="2088308"/>
                <a:ext cx="2618467" cy="1687904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7C1C57-941F-2E9F-8FCE-A3B044DFA3B4}"/>
                  </a:ext>
                </a:extLst>
              </p:cNvPr>
              <p:cNvSpPr txBox="1"/>
              <p:nvPr/>
            </p:nvSpPr>
            <p:spPr>
              <a:xfrm>
                <a:off x="4977605" y="3650698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CityGML</a:t>
                </a:r>
                <a:endParaRPr lang="en-GB" sz="1200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01233E-7834-C655-4229-0B1B7FB37C65}"/>
                </a:ext>
              </a:extLst>
            </p:cNvPr>
            <p:cNvSpPr txBox="1"/>
            <p:nvPr/>
          </p:nvSpPr>
          <p:spPr>
            <a:xfrm>
              <a:off x="9777978" y="3851691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</a:t>
              </a:r>
              <a:r>
                <a:rPr lang="de-DE" sz="1200" dirty="0" err="1"/>
                <a:t>gml</a:t>
              </a:r>
              <a:endParaRPr lang="en-GB" sz="12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2BBFFE9-C63C-B145-A00A-C0BBDF2D49D4}"/>
              </a:ext>
            </a:extLst>
          </p:cNvPr>
          <p:cNvGrpSpPr/>
          <p:nvPr/>
        </p:nvGrpSpPr>
        <p:grpSpPr>
          <a:xfrm>
            <a:off x="4756674" y="4470994"/>
            <a:ext cx="3315201" cy="1831888"/>
            <a:chOff x="3338477" y="4696383"/>
            <a:chExt cx="3315201" cy="1831888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B93C024-F9A6-4FB8-2CCB-D3A4ED454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58"/>
            <a:stretch>
              <a:fillRect/>
            </a:stretch>
          </p:blipFill>
          <p:spPr>
            <a:xfrm>
              <a:off x="3338477" y="4696383"/>
              <a:ext cx="2340819" cy="148539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0A22D5-55BD-D181-98C9-BA2DA8E03750}"/>
                </a:ext>
              </a:extLst>
            </p:cNvPr>
            <p:cNvSpPr txBox="1"/>
            <p:nvPr/>
          </p:nvSpPr>
          <p:spPr>
            <a:xfrm>
              <a:off x="4423954" y="6164158"/>
              <a:ext cx="1874621" cy="211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MZA </a:t>
              </a:r>
              <a:r>
                <a:rPr lang="de-DE" sz="1200" dirty="0" err="1"/>
                <a:t>zoning</a:t>
              </a:r>
              <a:endParaRPr lang="en-GB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7526D3-F14A-F72C-8A7E-1E6ED6C80148}"/>
                </a:ext>
              </a:extLst>
            </p:cNvPr>
            <p:cNvSpPr txBox="1"/>
            <p:nvPr/>
          </p:nvSpPr>
          <p:spPr>
            <a:xfrm>
              <a:off x="4513813" y="6317266"/>
              <a:ext cx="1874621" cy="211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.pickle</a:t>
              </a:r>
              <a:endParaRPr lang="en-GB" sz="12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AABD236-4BCA-095F-101D-15C344EA2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3471" y="5369649"/>
              <a:ext cx="710207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664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77BE-589A-4002-86C4-3B3F0830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293619"/>
            <a:ext cx="10056093" cy="723794"/>
          </a:xfrm>
        </p:spPr>
        <p:txBody>
          <a:bodyPr>
            <a:normAutofit fontScale="90000"/>
          </a:bodyPr>
          <a:lstStyle/>
          <a:p>
            <a:r>
              <a:rPr lang="de-DE" dirty="0"/>
              <a:t>Dataset </a:t>
            </a:r>
            <a:r>
              <a:rPr lang="de-DE" dirty="0" err="1"/>
              <a:t>Preprocessing</a:t>
            </a:r>
            <a:r>
              <a:rPr lang="de-DE" dirty="0"/>
              <a:t> and </a:t>
            </a:r>
            <a:r>
              <a:rPr lang="en-GB" dirty="0"/>
              <a:t>Ground Truth Generation</a:t>
            </a:r>
            <a:br>
              <a:rPr lang="de-DE" dirty="0"/>
            </a:br>
            <a:r>
              <a:rPr lang="de-DE" sz="2200" dirty="0"/>
              <a:t>Real Estate Data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7354-4754-4C02-BE07-74C3A2E36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0818-079B-4057-A14A-74CFBD9C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8DDD10-6DB5-4956-514A-14D898ACF961}"/>
              </a:ext>
            </a:extLst>
          </p:cNvPr>
          <p:cNvGrpSpPr/>
          <p:nvPr/>
        </p:nvGrpSpPr>
        <p:grpSpPr>
          <a:xfrm>
            <a:off x="418168" y="1443863"/>
            <a:ext cx="3172300" cy="1762980"/>
            <a:chOff x="797634" y="2647654"/>
            <a:chExt cx="3508164" cy="19708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E3ECE-E7DD-2552-67B1-A4F49FC5D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85" b="28307"/>
            <a:stretch/>
          </p:blipFill>
          <p:spPr>
            <a:xfrm>
              <a:off x="797634" y="2647654"/>
              <a:ext cx="2938698" cy="174346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771E31-11AC-5077-4FF6-9045DBEA7AAA}"/>
                </a:ext>
              </a:extLst>
            </p:cNvPr>
            <p:cNvSpPr txBox="1"/>
            <p:nvPr/>
          </p:nvSpPr>
          <p:spPr>
            <a:xfrm>
              <a:off x="1722937" y="4341457"/>
              <a:ext cx="25828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Raw Dataset</a:t>
              </a:r>
              <a:endParaRPr lang="en-GB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F4D08B9-0DE9-B0C8-3CA8-E2518AFB68D6}"/>
              </a:ext>
            </a:extLst>
          </p:cNvPr>
          <p:cNvGrpSpPr/>
          <p:nvPr/>
        </p:nvGrpSpPr>
        <p:grpSpPr>
          <a:xfrm>
            <a:off x="3134503" y="1452995"/>
            <a:ext cx="3705472" cy="1629953"/>
            <a:chOff x="3134503" y="1452995"/>
            <a:chExt cx="3705472" cy="162995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E459431-83E3-7D21-861F-DEDF8D1C7A61}"/>
                </a:ext>
              </a:extLst>
            </p:cNvPr>
            <p:cNvGrpSpPr/>
            <p:nvPr/>
          </p:nvGrpSpPr>
          <p:grpSpPr>
            <a:xfrm>
              <a:off x="3756238" y="1452995"/>
              <a:ext cx="3083737" cy="1629953"/>
              <a:chOff x="3752850" y="2849799"/>
              <a:chExt cx="3681165" cy="196000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9B9FABB-1791-48F1-99A5-8EE5BD9E4B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15" t="12568" r="6556" b="9443"/>
              <a:stretch/>
            </p:blipFill>
            <p:spPr>
              <a:xfrm>
                <a:off x="3752850" y="2849799"/>
                <a:ext cx="3209772" cy="1683007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1736A0-FE63-3457-94B3-A8DFDF6D758F}"/>
                  </a:ext>
                </a:extLst>
              </p:cNvPr>
              <p:cNvSpPr txBox="1"/>
              <p:nvPr/>
            </p:nvSpPr>
            <p:spPr>
              <a:xfrm>
                <a:off x="4851154" y="4532805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Manual </a:t>
                </a:r>
                <a:r>
                  <a:rPr lang="de-DE" sz="1200" dirty="0" err="1"/>
                  <a:t>Sketching</a:t>
                </a:r>
                <a:endParaRPr lang="en-GB" sz="1200" dirty="0"/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596B04F-14BC-48A3-E9B5-61322CB855F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3134503" y="2152795"/>
              <a:ext cx="621735" cy="299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7C0FA7B-8CE6-A9B9-62AA-6ED48B5B4280}"/>
              </a:ext>
            </a:extLst>
          </p:cNvPr>
          <p:cNvGrpSpPr/>
          <p:nvPr/>
        </p:nvGrpSpPr>
        <p:grpSpPr>
          <a:xfrm>
            <a:off x="6413180" y="1209765"/>
            <a:ext cx="3366483" cy="1886059"/>
            <a:chOff x="6413180" y="1209765"/>
            <a:chExt cx="3366483" cy="188605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24F0287-5CC5-414C-FA00-DAF911F1E501}"/>
                </a:ext>
              </a:extLst>
            </p:cNvPr>
            <p:cNvGrpSpPr/>
            <p:nvPr/>
          </p:nvGrpSpPr>
          <p:grpSpPr>
            <a:xfrm>
              <a:off x="7004243" y="1209765"/>
              <a:ext cx="2775420" cy="1886059"/>
              <a:chOff x="9134475" y="2517967"/>
              <a:chExt cx="3419458" cy="184029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E32B25C-0BF7-F163-90BF-8AE767A90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2" t="20439" r="-2553" b="22948"/>
              <a:stretch/>
            </p:blipFill>
            <p:spPr>
              <a:xfrm>
                <a:off x="9134475" y="2517967"/>
                <a:ext cx="3074243" cy="1683007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E1D9D9-9C81-A689-4DC8-322B9FAEC5A7}"/>
                  </a:ext>
                </a:extLst>
              </p:cNvPr>
              <p:cNvSpPr txBox="1"/>
              <p:nvPr/>
            </p:nvSpPr>
            <p:spPr>
              <a:xfrm>
                <a:off x="9971072" y="4168269"/>
                <a:ext cx="2582861" cy="1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Apartment Footprint (GT)</a:t>
                </a:r>
                <a:endParaRPr lang="en-GB" sz="1200" dirty="0"/>
              </a:p>
            </p:txBody>
          </p: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1A20683-95C2-CD4A-0722-B644347B8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3180" y="2149801"/>
              <a:ext cx="621735" cy="299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8819348-0516-A6B5-9C5F-25899ADB1B20}"/>
              </a:ext>
            </a:extLst>
          </p:cNvPr>
          <p:cNvGrpSpPr/>
          <p:nvPr/>
        </p:nvGrpSpPr>
        <p:grpSpPr>
          <a:xfrm>
            <a:off x="9415550" y="1383550"/>
            <a:ext cx="3300081" cy="2045450"/>
            <a:chOff x="9415550" y="1383550"/>
            <a:chExt cx="3300081" cy="204545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4D81EDC-6834-1EB8-2AD8-86B0B5166CA4}"/>
                </a:ext>
              </a:extLst>
            </p:cNvPr>
            <p:cNvGrpSpPr/>
            <p:nvPr/>
          </p:nvGrpSpPr>
          <p:grpSpPr>
            <a:xfrm>
              <a:off x="10058625" y="1383550"/>
              <a:ext cx="2657006" cy="2045450"/>
              <a:chOff x="4366532" y="2586759"/>
              <a:chExt cx="3615421" cy="3215015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CA63A34B-8AB0-A562-27A6-1BFB224CA5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851" b="544"/>
              <a:stretch/>
            </p:blipFill>
            <p:spPr>
              <a:xfrm>
                <a:off x="4366532" y="2586759"/>
                <a:ext cx="2511168" cy="2453711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4F870D-0596-E436-8599-569CB433CE0C}"/>
                  </a:ext>
                </a:extLst>
              </p:cNvPr>
              <p:cNvSpPr txBox="1"/>
              <p:nvPr/>
            </p:nvSpPr>
            <p:spPr>
              <a:xfrm>
                <a:off x="4473572" y="5148699"/>
                <a:ext cx="3126503" cy="43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Building Footprint GeoJSON</a:t>
                </a:r>
                <a:endParaRPr lang="en-GB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983DE1-B6F7-FFB0-DB05-0652D4176558}"/>
                  </a:ext>
                </a:extLst>
              </p:cNvPr>
              <p:cNvSpPr txBox="1"/>
              <p:nvPr/>
            </p:nvSpPr>
            <p:spPr>
              <a:xfrm>
                <a:off x="5399092" y="5366390"/>
                <a:ext cx="2582861" cy="43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.</a:t>
                </a:r>
                <a:r>
                  <a:rPr lang="de-DE" sz="1200" dirty="0" err="1"/>
                  <a:t>geojson</a:t>
                </a:r>
                <a:endParaRPr lang="en-GB" sz="1200" dirty="0"/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0F633B5-0DB1-B55A-26BF-6B978CCC7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550" y="2161103"/>
              <a:ext cx="621735" cy="299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650F4C-BCF9-9A4F-2EB0-52F342F9F974}"/>
              </a:ext>
            </a:extLst>
          </p:cNvPr>
          <p:cNvGrpSpPr/>
          <p:nvPr/>
        </p:nvGrpSpPr>
        <p:grpSpPr>
          <a:xfrm>
            <a:off x="3868923" y="4154751"/>
            <a:ext cx="3559340" cy="1703039"/>
            <a:chOff x="3874914" y="4409623"/>
            <a:chExt cx="3559340" cy="170303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ECB1D1B-0420-ADD6-6126-73A7819C42B2}"/>
                </a:ext>
              </a:extLst>
            </p:cNvPr>
            <p:cNvGrpSpPr/>
            <p:nvPr/>
          </p:nvGrpSpPr>
          <p:grpSpPr>
            <a:xfrm>
              <a:off x="3874914" y="4409623"/>
              <a:ext cx="2819059" cy="1703039"/>
              <a:chOff x="5255226" y="4017270"/>
              <a:chExt cx="4138948" cy="247554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E6F4F73-234F-8403-8661-2809207AC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282" b="1"/>
              <a:stretch>
                <a:fillRect/>
              </a:stretch>
            </p:blipFill>
            <p:spPr>
              <a:xfrm>
                <a:off x="5255226" y="4017270"/>
                <a:ext cx="3695138" cy="2441219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E41A67-F487-4EC1-80F8-12ED0968E5D3}"/>
                  </a:ext>
                </a:extLst>
              </p:cNvPr>
              <p:cNvSpPr txBox="1"/>
              <p:nvPr/>
            </p:nvSpPr>
            <p:spPr>
              <a:xfrm>
                <a:off x="6687505" y="6014825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MZA </a:t>
                </a:r>
                <a:r>
                  <a:rPr lang="de-DE" sz="1200" dirty="0" err="1"/>
                  <a:t>zoning</a:t>
                </a:r>
                <a:endParaRPr lang="en-GB" sz="12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640B2C-BA12-2F33-2D31-B3F55330A087}"/>
                  </a:ext>
                </a:extLst>
              </p:cNvPr>
              <p:cNvSpPr txBox="1"/>
              <p:nvPr/>
            </p:nvSpPr>
            <p:spPr>
              <a:xfrm>
                <a:off x="6811313" y="6215818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.pickle</a:t>
                </a:r>
                <a:endParaRPr lang="en-GB" sz="1200" dirty="0"/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C81B497-D8E6-8E54-615C-ED35BB7479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4047" y="5066527"/>
              <a:ext cx="710207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90EAC5-B73F-2104-703B-4132CEB684B9}"/>
              </a:ext>
            </a:extLst>
          </p:cNvPr>
          <p:cNvGrpSpPr/>
          <p:nvPr/>
        </p:nvGrpSpPr>
        <p:grpSpPr>
          <a:xfrm>
            <a:off x="8039969" y="3520922"/>
            <a:ext cx="3221047" cy="2192280"/>
            <a:chOff x="8039969" y="3520922"/>
            <a:chExt cx="3221047" cy="219228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59FCD18-D4FE-92DC-7160-AAC779A0B003}"/>
                </a:ext>
              </a:extLst>
            </p:cNvPr>
            <p:cNvGrpSpPr/>
            <p:nvPr/>
          </p:nvGrpSpPr>
          <p:grpSpPr>
            <a:xfrm>
              <a:off x="8039969" y="4213553"/>
              <a:ext cx="2622454" cy="1499649"/>
              <a:chOff x="7452262" y="4166844"/>
              <a:chExt cx="3881652" cy="2530326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F2500E4-E222-92D1-240A-9A1D1D71E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5" t="4043" r="14222" b="14703"/>
              <a:stretch>
                <a:fillRect/>
              </a:stretch>
            </p:blipFill>
            <p:spPr>
              <a:xfrm>
                <a:off x="7452262" y="4166844"/>
                <a:ext cx="3221416" cy="1993727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88FA0C3-43E8-1B94-AC14-E5C55A54A0F9}"/>
                  </a:ext>
                </a:extLst>
              </p:cNvPr>
              <p:cNvSpPr txBox="1"/>
              <p:nvPr/>
            </p:nvSpPr>
            <p:spPr>
              <a:xfrm>
                <a:off x="8627245" y="6219178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CityGML</a:t>
                </a:r>
                <a:endParaRPr lang="en-GB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C6DA0B-02DC-6C7C-EE36-9D38B40CF2C5}"/>
                  </a:ext>
                </a:extLst>
              </p:cNvPr>
              <p:cNvSpPr txBox="1"/>
              <p:nvPr/>
            </p:nvSpPr>
            <p:spPr>
              <a:xfrm>
                <a:off x="8751053" y="6420171"/>
                <a:ext cx="2582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200" dirty="0"/>
                  <a:t>.</a:t>
                </a:r>
                <a:r>
                  <a:rPr lang="de-DE" sz="1200" dirty="0" err="1"/>
                  <a:t>gml</a:t>
                </a:r>
                <a:endParaRPr lang="en-GB" sz="1200" dirty="0"/>
              </a:p>
            </p:txBody>
          </p:sp>
        </p:grpSp>
        <p:sp>
          <p:nvSpPr>
            <p:cNvPr id="51" name="Pfeil: gebogen 10">
              <a:extLst>
                <a:ext uri="{FF2B5EF4-FFF2-40B4-BE49-F238E27FC236}">
                  <a16:creationId xmlns:a16="http://schemas.microsoft.com/office/drawing/2014/main" id="{1D496841-658D-C2DE-5687-A5949550E124}"/>
                </a:ext>
              </a:extLst>
            </p:cNvPr>
            <p:cNvSpPr/>
            <p:nvPr/>
          </p:nvSpPr>
          <p:spPr>
            <a:xfrm rot="11083804">
              <a:off x="10569587" y="3520922"/>
              <a:ext cx="691429" cy="896697"/>
            </a:xfrm>
            <a:prstGeom prst="bentArrow">
              <a:avLst>
                <a:gd name="adj1" fmla="val 11322"/>
                <a:gd name="adj2" fmla="val 15978"/>
                <a:gd name="adj3" fmla="val 25000"/>
                <a:gd name="adj4" fmla="val 7590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08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7C67C-3D61-5CFB-1823-BAD2F4EA8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9F432-93DA-3E8C-531D-4C35BB43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F187E-19D2-6E25-6046-7C9D48296142}"/>
              </a:ext>
            </a:extLst>
          </p:cNvPr>
          <p:cNvSpPr txBox="1"/>
          <p:nvPr/>
        </p:nvSpPr>
        <p:spPr>
          <a:xfrm>
            <a:off x="786384" y="310896"/>
            <a:ext cx="5486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808080"/>
                </a:solidFill>
                <a:latin typeface="Arial"/>
              </a:defRPr>
            </a:pPr>
            <a:r>
              <a:rPr dirty="0"/>
              <a:t>Validation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E4C05-BA09-0AE6-8ACF-37A898C64398}"/>
              </a:ext>
            </a:extLst>
          </p:cNvPr>
          <p:cNvSpPr txBox="1"/>
          <p:nvPr/>
        </p:nvSpPr>
        <p:spPr>
          <a:xfrm>
            <a:off x="786384" y="64922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808080"/>
                </a:solidFill>
                <a:latin typeface="Arial"/>
              </a:defRPr>
            </a:pPr>
            <a:r>
              <a:rPr dirty="0"/>
              <a:t>Ground Truth vs. MZA Zoning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A2158-0493-73FB-5267-E492B0885550}"/>
              </a:ext>
            </a:extLst>
          </p:cNvPr>
          <p:cNvSpPr txBox="1"/>
          <p:nvPr/>
        </p:nvSpPr>
        <p:spPr>
          <a:xfrm>
            <a:off x="786384" y="1016551"/>
            <a:ext cx="9966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  <a:r>
              <a:rPr dirty="0"/>
              <a:t>Validation proceeds in three steps: zone matching, metric calculation, and diagnostic classification.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FE8334-B3A0-21A4-D3B9-7F3242FB8A83}"/>
              </a:ext>
            </a:extLst>
          </p:cNvPr>
          <p:cNvSpPr txBox="1"/>
          <p:nvPr/>
        </p:nvSpPr>
        <p:spPr>
          <a:xfrm>
            <a:off x="822959" y="3951484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rPr dirty="0"/>
              <a:t>Validation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0582AC-F472-03D7-9015-8A54800DB074}"/>
              </a:ext>
            </a:extLst>
          </p:cNvPr>
          <p:cNvSpPr txBox="1"/>
          <p:nvPr/>
        </p:nvSpPr>
        <p:spPr>
          <a:xfrm>
            <a:off x="6355079" y="3951484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</a:defRPr>
            </a:pPr>
            <a:r>
              <a:t>Diagnostic classification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9B256B-F2BB-D435-9012-D0B81FD8E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24244"/>
              </p:ext>
            </p:extLst>
          </p:nvPr>
        </p:nvGraphicFramePr>
        <p:xfrm>
          <a:off x="822959" y="4225804"/>
          <a:ext cx="5074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t>What it checks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ΔN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Correct number of zones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IoU</a:t>
                      </a:r>
                      <a:endParaRPr sz="1100" b="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Geometric overlap of matched zones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AreaError</a:t>
                      </a:r>
                      <a:endParaRPr sz="1100" b="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Difference in zone size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Difference in centroid position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Topology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Missing / extra dwelling–stairwell adjacency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9670BC-F7A3-7C67-2B8D-615422BCC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582644"/>
              </p:ext>
            </p:extLst>
          </p:nvPr>
        </p:nvGraphicFramePr>
        <p:xfrm>
          <a:off x="6355079" y="4225804"/>
          <a:ext cx="49834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78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t>Outcome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t>Main criterion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Structural mismatch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Missing + additional zones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Under-zoned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Too few zones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Over-zoned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Too many zones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Shifted / area error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Correct count, but large area / position deviation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Moderate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0.50 ≤ IoU &lt; 0.70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1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Good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 err="1"/>
                        <a:t>IoU</a:t>
                      </a:r>
                      <a:r>
                        <a:rPr dirty="0"/>
                        <a:t> ≥ 0.70 + correct topology / count</a:t>
                      </a: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07B18A6-A1E2-1EF4-76E4-9944FE9E8D1E}"/>
              </a:ext>
            </a:extLst>
          </p:cNvPr>
          <p:cNvSpPr txBox="1"/>
          <p:nvPr/>
        </p:nvSpPr>
        <p:spPr>
          <a:xfrm>
            <a:off x="974749" y="6158728"/>
            <a:ext cx="10058400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20" b="0">
                <a:solidFill>
                  <a:srgbClr val="000000"/>
                </a:solidFill>
                <a:latin typeface="Arial"/>
              </a:defRPr>
            </a:pPr>
            <a:r>
              <a:rPr dirty="0"/>
              <a:t>The metrics are evaluated hierarchically and condensed into one interpretable validation outcome per building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7B4429-0EF0-E726-98CC-8B1BF2C59ED6}"/>
                  </a:ext>
                </a:extLst>
              </p:cNvPr>
              <p:cNvSpPr txBox="1"/>
              <p:nvPr/>
            </p:nvSpPr>
            <p:spPr>
              <a:xfrm>
                <a:off x="7680007" y="2230332"/>
                <a:ext cx="2333625" cy="54758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de-DE"/>
                </a:defPPr>
                <a:lvl1pPr>
                  <a:defRPr sz="1600"/>
                </a:lvl1pPr>
              </a:lstStyle>
              <a:p>
                <a:r>
                  <a:rPr lang="en-GB" dirty="0"/>
                  <a:t>IoU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0" dirty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i="0" dirty="0" smtClean="0"/>
                          <m:t>Area(GT∪Pred)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i="0" dirty="0" smtClean="0"/>
                          <m:t>Area(GT∩Pred)​ </m:t>
                        </m:r>
                      </m:den>
                    </m:f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7B4429-0EF0-E726-98CC-8B1BF2C59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007" y="2230332"/>
                <a:ext cx="2333625" cy="547586"/>
              </a:xfrm>
              <a:prstGeom prst="rect">
                <a:avLst/>
              </a:prstGeom>
              <a:blipFill>
                <a:blip r:embed="rId2"/>
                <a:stretch>
                  <a:fillRect l="-771" b="-4167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1F6EF62-E535-73CA-E016-B015CBAAA0F3}"/>
              </a:ext>
            </a:extLst>
          </p:cNvPr>
          <p:cNvGrpSpPr/>
          <p:nvPr/>
        </p:nvGrpSpPr>
        <p:grpSpPr>
          <a:xfrm>
            <a:off x="5458491" y="2037993"/>
            <a:ext cx="1335024" cy="1016103"/>
            <a:chOff x="5504688" y="2427173"/>
            <a:chExt cx="1335024" cy="1016103"/>
          </a:xfrm>
        </p:grpSpPr>
        <p:cxnSp>
          <p:nvCxnSpPr>
            <p:cNvPr id="21" name="Connector 13">
              <a:extLst>
                <a:ext uri="{FF2B5EF4-FFF2-40B4-BE49-F238E27FC236}">
                  <a16:creationId xmlns:a16="http://schemas.microsoft.com/office/drawing/2014/main" id="{33EA39CC-7714-D8F1-B8EA-7CC829C50A42}"/>
                </a:ext>
              </a:extLst>
            </p:cNvPr>
            <p:cNvCxnSpPr/>
            <p:nvPr/>
          </p:nvCxnSpPr>
          <p:spPr>
            <a:xfrm>
              <a:off x="5504688" y="2871216"/>
              <a:ext cx="1335024" cy="0"/>
            </a:xfrm>
            <a:prstGeom prst="line">
              <a:avLst/>
            </a:prstGeom>
            <a:ln w="31750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8C6605-D4E2-B70C-2554-1A466D0A0B74}"/>
                </a:ext>
              </a:extLst>
            </p:cNvPr>
            <p:cNvSpPr txBox="1"/>
            <p:nvPr/>
          </p:nvSpPr>
          <p:spPr>
            <a:xfrm>
              <a:off x="5577840" y="2427173"/>
              <a:ext cx="1170432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50" b="1">
                  <a:solidFill>
                    <a:srgbClr val="004A5F"/>
                  </a:solidFill>
                  <a:latin typeface="Arial"/>
                </a:defRPr>
              </a:pPr>
              <a:r>
                <a:rPr sz="1100" dirty="0"/>
                <a:t>Hungarian assignment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7B6C99-F3C9-9E37-DF60-D3D9B14784F0}"/>
                </a:ext>
              </a:extLst>
            </p:cNvPr>
            <p:cNvSpPr txBox="1"/>
            <p:nvPr/>
          </p:nvSpPr>
          <p:spPr>
            <a:xfrm>
              <a:off x="5577840" y="3012389"/>
              <a:ext cx="1170432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19" b="0">
                  <a:solidFill>
                    <a:srgbClr val="646464"/>
                  </a:solidFill>
                  <a:latin typeface="Arial"/>
                </a:defRPr>
              </a:pPr>
              <a:r>
                <a:rPr sz="1100"/>
                <a:t>maximises total IoU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D92D8604-464F-3FBD-901F-EA64EE7E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18303"/>
            <a:ext cx="4635532" cy="260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7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C4B9-66F6-335D-650A-70727BEA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90CE7-9312-7FB0-9C8B-BA2DE6F1B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D6AE5-0B1E-FED9-3103-CF77E206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AF9E8-7B57-1E24-7B51-83AF447B09AC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808080"/>
                </a:solidFill>
                <a:latin typeface="Arial"/>
              </a:defRPr>
            </a:pPr>
            <a:r>
              <a:rPr dirty="0"/>
              <a:t>Validation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6A286-B091-91FD-C5D6-A9F6642E46C1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808080"/>
                </a:solidFill>
                <a:latin typeface="Arial"/>
              </a:defRPr>
            </a:pPr>
            <a:r>
              <a:rPr dirty="0"/>
              <a:t>Diagnostic Classification Across Both Datasets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A5098-2B52-E879-F939-8ACCA1C86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16" y="1411095"/>
            <a:ext cx="7742318" cy="321691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8BD9109-1826-F8A4-D084-8D635F5CC4DB}"/>
              </a:ext>
            </a:extLst>
          </p:cNvPr>
          <p:cNvGrpSpPr/>
          <p:nvPr/>
        </p:nvGrpSpPr>
        <p:grpSpPr>
          <a:xfrm>
            <a:off x="1093746" y="5127515"/>
            <a:ext cx="10004507" cy="429768"/>
            <a:chOff x="749808" y="5550408"/>
            <a:chExt cx="10927080" cy="42976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76BCF5D-C816-A8D0-F543-38A123119A4A}"/>
                </a:ext>
              </a:extLst>
            </p:cNvPr>
            <p:cNvSpPr/>
            <p:nvPr/>
          </p:nvSpPr>
          <p:spPr>
            <a:xfrm>
              <a:off x="749808" y="5550408"/>
              <a:ext cx="10927080" cy="42976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24C8A2-0BAA-4E1B-F474-C52BC078D798}"/>
                </a:ext>
              </a:extLst>
            </p:cNvPr>
            <p:cNvSpPr txBox="1"/>
            <p:nvPr/>
          </p:nvSpPr>
          <p:spPr>
            <a:xfrm>
              <a:off x="941832" y="5626201"/>
              <a:ext cx="10515600" cy="241605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lang="en-GB" sz="1450" b="1" dirty="0">
                  <a:solidFill>
                    <a:srgbClr val="FFFFFF"/>
                  </a:solidFill>
                </a:rPr>
                <a:t>81.5% of MSD and 85.0% of German real-estate cases achieved at least moderate agreement</a:t>
              </a:r>
              <a:endParaRPr sz="1450" b="1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52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2685-EA78-8F8C-FE90-11C4E1F9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7408F-6A24-38EF-87A3-01625070E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5FBE71-ED8B-B3CB-0C5A-BC01235FDD38}"/>
              </a:ext>
            </a:extLst>
          </p:cNvPr>
          <p:cNvSpPr/>
          <p:nvPr/>
        </p:nvSpPr>
        <p:spPr>
          <a:xfrm>
            <a:off x="7745896" y="3038885"/>
            <a:ext cx="1431234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1DCA28-5824-86E1-67FC-5F35E7F6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93" y="1910683"/>
            <a:ext cx="9670614" cy="3036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4D91B9-6EFE-5D62-6A28-460C1DEAB6F8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GB" sz="2000" b="1" dirty="0">
                <a:solidFill>
                  <a:srgbClr val="808080"/>
                </a:solidFill>
                <a:latin typeface="Arial"/>
              </a:rPr>
              <a:t>Representative Good Matches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400330-7DC4-B772-A460-FEDB03D108C2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808080"/>
                </a:solidFill>
                <a:latin typeface="Arial"/>
              </a:defRPr>
            </a:pPr>
            <a:r>
              <a:rPr dirty="0"/>
              <a:t>Validation Results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A6E647-3438-B670-B035-928ECD3718BC}"/>
              </a:ext>
            </a:extLst>
          </p:cNvPr>
          <p:cNvGrpSpPr/>
          <p:nvPr/>
        </p:nvGrpSpPr>
        <p:grpSpPr>
          <a:xfrm>
            <a:off x="786383" y="5779237"/>
            <a:ext cx="11110363" cy="465544"/>
            <a:chOff x="749808" y="5514632"/>
            <a:chExt cx="10927080" cy="46554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AC359B-8837-41A8-FA72-0E1460152B33}"/>
                </a:ext>
              </a:extLst>
            </p:cNvPr>
            <p:cNvSpPr/>
            <p:nvPr/>
          </p:nvSpPr>
          <p:spPr>
            <a:xfrm>
              <a:off x="749808" y="5550408"/>
              <a:ext cx="10927080" cy="429768"/>
            </a:xfrm>
            <a:prstGeom prst="rect">
              <a:avLst/>
            </a:prstGeom>
            <a:solidFill>
              <a:srgbClr val="3773A9"/>
            </a:solidFill>
            <a:ln>
              <a:solidFill>
                <a:srgbClr val="3773A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3872F4-5F39-AF49-6A28-8FD8018672DD}"/>
                </a:ext>
              </a:extLst>
            </p:cNvPr>
            <p:cNvSpPr txBox="1"/>
            <p:nvPr/>
          </p:nvSpPr>
          <p:spPr>
            <a:xfrm>
              <a:off x="941832" y="5514632"/>
              <a:ext cx="10735056" cy="464743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lang="en-IN" sz="1450" b="1" dirty="0">
                  <a:solidFill>
                    <a:srgbClr val="FFFFFF"/>
                  </a:solidFill>
                </a:rPr>
                <a:t>In good cases, the MZA reproduces the dominant dwelling–stairwell structure, with only minor local boundary differences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A0C5EC4-0849-3A72-7B17-0E271AA3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BF8842-CF93-EDAF-07F0-D4A9A313C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560" y="5007136"/>
            <a:ext cx="9038880" cy="4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04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E1A8-46E5-1DC1-88CF-3A448892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3CC4-568B-8E4D-8A19-4E1A766C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the MZA deviates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B3E70-E016-1867-0A66-B2C17EAF0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15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62BB29-17DD-AE33-FADB-2A641FD7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84" y="1401992"/>
            <a:ext cx="7301618" cy="466040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6ACDC00-51B8-E622-714C-313209B823E7}"/>
              </a:ext>
            </a:extLst>
          </p:cNvPr>
          <p:cNvGrpSpPr/>
          <p:nvPr/>
        </p:nvGrpSpPr>
        <p:grpSpPr>
          <a:xfrm>
            <a:off x="8166031" y="1345698"/>
            <a:ext cx="3456432" cy="4695988"/>
            <a:chOff x="7650344" y="1142605"/>
            <a:chExt cx="3456432" cy="46959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D57602-1C3E-EF4D-11BB-BF56F5FDE740}"/>
                </a:ext>
              </a:extLst>
            </p:cNvPr>
            <p:cNvSpPr/>
            <p:nvPr/>
          </p:nvSpPr>
          <p:spPr>
            <a:xfrm>
              <a:off x="7745896" y="3038885"/>
              <a:ext cx="1431234" cy="1722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094FE7-604C-815B-3DEA-9BCFB0E5FC44}"/>
                </a:ext>
              </a:extLst>
            </p:cNvPr>
            <p:cNvGrpSpPr/>
            <p:nvPr/>
          </p:nvGrpSpPr>
          <p:grpSpPr>
            <a:xfrm>
              <a:off x="7650344" y="1142605"/>
              <a:ext cx="3456432" cy="1261872"/>
              <a:chOff x="472304" y="4752165"/>
              <a:chExt cx="3456432" cy="126187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C1979F-DE0D-F88F-74A8-C78E8DE733EA}"/>
                  </a:ext>
                </a:extLst>
              </p:cNvPr>
              <p:cNvSpPr/>
              <p:nvPr/>
            </p:nvSpPr>
            <p:spPr>
              <a:xfrm>
                <a:off x="472304" y="4752165"/>
                <a:ext cx="3456432" cy="1261872"/>
              </a:xfrm>
              <a:prstGeom prst="rect">
                <a:avLst/>
              </a:prstGeom>
              <a:solidFill>
                <a:srgbClr val="F7F9FA"/>
              </a:solidFill>
              <a:ln w="10160">
                <a:solidFill>
                  <a:srgbClr val="D7DD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DFA29A-C766-8788-2DDD-D9975F2BA9FE}"/>
                  </a:ext>
                </a:extLst>
              </p:cNvPr>
              <p:cNvSpPr/>
              <p:nvPr/>
            </p:nvSpPr>
            <p:spPr>
              <a:xfrm>
                <a:off x="472304" y="4752165"/>
                <a:ext cx="64008" cy="1261872"/>
              </a:xfrm>
              <a:prstGeom prst="rect">
                <a:avLst/>
              </a:prstGeom>
              <a:solidFill>
                <a:srgbClr val="00658B"/>
              </a:solidFill>
              <a:ln w="12700">
                <a:solidFill>
                  <a:srgbClr val="00658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4B149E-C77E-C089-F2A6-A8EB79FC1C41}"/>
                  </a:ext>
                </a:extLst>
              </p:cNvPr>
              <p:cNvSpPr txBox="1"/>
              <p:nvPr/>
            </p:nvSpPr>
            <p:spPr>
              <a:xfrm>
                <a:off x="636896" y="4880180"/>
                <a:ext cx="3145536" cy="29260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500" b="1" i="0">
                    <a:solidFill>
                      <a:srgbClr val="003345"/>
                    </a:solidFill>
                    <a:latin typeface="Calibri"/>
                  </a:rPr>
                  <a:t>Structural mismatch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EE6798-4F5D-68DA-9AC0-3E4DF9F66F79}"/>
                  </a:ext>
                </a:extLst>
              </p:cNvPr>
              <p:cNvSpPr txBox="1"/>
              <p:nvPr/>
            </p:nvSpPr>
            <p:spPr>
              <a:xfrm>
                <a:off x="636896" y="5264228"/>
                <a:ext cx="3145536" cy="658367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280" b="0" i="0" dirty="0">
                    <a:solidFill>
                      <a:srgbClr val="303030"/>
                    </a:solidFill>
                    <a:latin typeface="Calibri"/>
                  </a:rPr>
                  <a:t>different dwelling–stairwell topology or stairwell </a:t>
                </a:r>
                <a:r>
                  <a:rPr sz="1280" b="0" i="0" dirty="0" err="1">
                    <a:solidFill>
                      <a:srgbClr val="303030"/>
                    </a:solidFill>
                    <a:latin typeface="Calibri"/>
                  </a:rPr>
                  <a:t>organisation</a:t>
                </a:r>
                <a:endParaRPr sz="1280" b="0" i="0" dirty="0">
                  <a:solidFill>
                    <a:srgbClr val="303030"/>
                  </a:solidFill>
                  <a:latin typeface="Calibri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01952A2-6C38-7129-17BD-E786AEF32B7D}"/>
                </a:ext>
              </a:extLst>
            </p:cNvPr>
            <p:cNvGrpSpPr/>
            <p:nvPr/>
          </p:nvGrpSpPr>
          <p:grpSpPr>
            <a:xfrm>
              <a:off x="7650344" y="2859663"/>
              <a:ext cx="3456432" cy="1261872"/>
              <a:chOff x="4056752" y="4752165"/>
              <a:chExt cx="3456432" cy="126187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56754B2-6314-2E57-DA0D-B64E464A985D}"/>
                  </a:ext>
                </a:extLst>
              </p:cNvPr>
              <p:cNvSpPr/>
              <p:nvPr/>
            </p:nvSpPr>
            <p:spPr>
              <a:xfrm>
                <a:off x="4056752" y="4752165"/>
                <a:ext cx="3456432" cy="1261872"/>
              </a:xfrm>
              <a:prstGeom prst="rect">
                <a:avLst/>
              </a:prstGeom>
              <a:solidFill>
                <a:srgbClr val="FFF7EF"/>
              </a:solidFill>
              <a:ln w="10160">
                <a:solidFill>
                  <a:srgbClr val="D7DD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F0166C6-2422-3840-B72E-591652D3BF17}"/>
                  </a:ext>
                </a:extLst>
              </p:cNvPr>
              <p:cNvSpPr/>
              <p:nvPr/>
            </p:nvSpPr>
            <p:spPr>
              <a:xfrm>
                <a:off x="4056752" y="4752165"/>
                <a:ext cx="64008" cy="1261872"/>
              </a:xfrm>
              <a:prstGeom prst="rect">
                <a:avLst/>
              </a:prstGeom>
              <a:solidFill>
                <a:srgbClr val="D98645"/>
              </a:solidFill>
              <a:ln w="12700">
                <a:solidFill>
                  <a:srgbClr val="D986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EDB136C-4619-CF46-0D92-695FC5B05C7E}"/>
                  </a:ext>
                </a:extLst>
              </p:cNvPr>
              <p:cNvSpPr txBox="1"/>
              <p:nvPr/>
            </p:nvSpPr>
            <p:spPr>
              <a:xfrm>
                <a:off x="4221344" y="4880180"/>
                <a:ext cx="3145536" cy="29260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500" b="1" i="0">
                    <a:solidFill>
                      <a:srgbClr val="003345"/>
                    </a:solidFill>
                    <a:latin typeface="Calibri"/>
                  </a:rPr>
                  <a:t>Under / over-zoning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220A68-4D5F-0BB4-8D88-3227D1CB807B}"/>
                  </a:ext>
                </a:extLst>
              </p:cNvPr>
              <p:cNvSpPr txBox="1"/>
              <p:nvPr/>
            </p:nvSpPr>
            <p:spPr>
              <a:xfrm>
                <a:off x="4221344" y="5264228"/>
                <a:ext cx="3145536" cy="658367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280" b="0" i="0" dirty="0">
                    <a:solidFill>
                      <a:srgbClr val="303030"/>
                    </a:solidFill>
                    <a:latin typeface="Calibri"/>
                  </a:rPr>
                  <a:t>estimated dwelling subdivision produces too few or too many zones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30E97D-ADB5-96E0-4456-9F6C42ECAAE6}"/>
                </a:ext>
              </a:extLst>
            </p:cNvPr>
            <p:cNvGrpSpPr/>
            <p:nvPr/>
          </p:nvGrpSpPr>
          <p:grpSpPr>
            <a:xfrm>
              <a:off x="7650344" y="4576721"/>
              <a:ext cx="3456432" cy="1261872"/>
              <a:chOff x="7650344" y="4752165"/>
              <a:chExt cx="3456432" cy="1261872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1AB577E-CD41-1FB1-9C2C-7113C3A0D5F4}"/>
                  </a:ext>
                </a:extLst>
              </p:cNvPr>
              <p:cNvSpPr/>
              <p:nvPr/>
            </p:nvSpPr>
            <p:spPr>
              <a:xfrm>
                <a:off x="7650344" y="4752165"/>
                <a:ext cx="3456432" cy="1261872"/>
              </a:xfrm>
              <a:prstGeom prst="rect">
                <a:avLst/>
              </a:prstGeom>
              <a:solidFill>
                <a:srgbClr val="F0F7F7"/>
              </a:solidFill>
              <a:ln w="10160">
                <a:solidFill>
                  <a:srgbClr val="D7DDE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810A511-0EF4-C618-E8DA-D10EB977557E}"/>
                  </a:ext>
                </a:extLst>
              </p:cNvPr>
              <p:cNvSpPr/>
              <p:nvPr/>
            </p:nvSpPr>
            <p:spPr>
              <a:xfrm>
                <a:off x="7650344" y="4752165"/>
                <a:ext cx="64008" cy="1261872"/>
              </a:xfrm>
              <a:prstGeom prst="rect">
                <a:avLst/>
              </a:prstGeom>
              <a:solidFill>
                <a:srgbClr val="0094A8"/>
              </a:solidFill>
              <a:ln w="12700">
                <a:solidFill>
                  <a:srgbClr val="0094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18CE698-8C10-2F33-C706-78A91E29DAE9}"/>
                  </a:ext>
                </a:extLst>
              </p:cNvPr>
              <p:cNvSpPr txBox="1"/>
              <p:nvPr/>
            </p:nvSpPr>
            <p:spPr>
              <a:xfrm>
                <a:off x="7814936" y="4880180"/>
                <a:ext cx="3145536" cy="29260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500" b="1" i="0">
                    <a:solidFill>
                      <a:srgbClr val="003345"/>
                    </a:solidFill>
                    <a:latin typeface="Calibri"/>
                  </a:rPr>
                  <a:t>Shifted / high-area error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91D7985-761D-5DF6-FC97-1BC334ED524C}"/>
                  </a:ext>
                </a:extLst>
              </p:cNvPr>
              <p:cNvSpPr txBox="1"/>
              <p:nvPr/>
            </p:nvSpPr>
            <p:spPr>
              <a:xfrm>
                <a:off x="7814936" y="5264228"/>
                <a:ext cx="3145536" cy="658367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280" b="0" i="0">
                    <a:solidFill>
                      <a:srgbClr val="303030"/>
                    </a:solidFill>
                    <a:latin typeface="Calibri"/>
                  </a:rPr>
                  <a:t>correct count, but area balancing or placement changes zone size / position</a:t>
                </a:r>
              </a:p>
            </p:txBody>
          </p:sp>
        </p:grp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BF6215-3FAC-01AA-B0B8-29B0C19B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845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373C-0E38-42F1-3830-67BB89D6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E08E0-6992-2CC0-1F51-3A7B837F3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860C9-E166-ABA3-D7E4-B03FBE488007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808080"/>
                </a:solidFill>
                <a:latin typeface="Arial"/>
              </a:defRPr>
            </a:pPr>
            <a:r>
              <a:rPr lang="en-GB" sz="2000" dirty="0"/>
              <a:t>Zoning Variants V1–V8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3E8DE3-A86D-0844-BA2F-2A5D0760E129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endParaRPr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A672BC4-D797-B881-13B2-9A895E5A9962}"/>
              </a:ext>
            </a:extLst>
          </p:cNvPr>
          <p:cNvSpPr txBox="1"/>
          <p:nvPr/>
        </p:nvSpPr>
        <p:spPr>
          <a:xfrm>
            <a:off x="786384" y="988308"/>
            <a:ext cx="10149840" cy="473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40" b="0">
                <a:solidFill>
                  <a:srgbClr val="000000"/>
                </a:solidFill>
                <a:latin typeface="Arial"/>
              </a:defRPr>
            </a:pPr>
            <a:r>
              <a:rPr lang="en-GB" sz="1240" dirty="0">
                <a:solidFill>
                  <a:srgbClr val="000000"/>
                </a:solidFill>
                <a:latin typeface="Arial"/>
              </a:rPr>
              <a:t>The validation identified recurring zoning deviations. To assess whether these deviations matter for building-energy simulation, representative mechanisms were translated into eight controlled zoning variants.</a:t>
            </a:r>
            <a:endParaRPr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C391B5-584F-1003-11B1-D8AA499218C1}"/>
              </a:ext>
            </a:extLst>
          </p:cNvPr>
          <p:cNvSpPr txBox="1"/>
          <p:nvPr/>
        </p:nvSpPr>
        <p:spPr>
          <a:xfrm>
            <a:off x="7199378" y="1716615"/>
            <a:ext cx="4114800" cy="2954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Arial"/>
              </a:defRPr>
            </a:pPr>
            <a:r>
              <a:rPr dirty="0"/>
              <a:t>Variant summary</a:t>
            </a:r>
          </a:p>
        </p:txBody>
      </p:sp>
      <p:graphicFrame>
        <p:nvGraphicFramePr>
          <p:cNvPr id="232" name="Table 231">
            <a:extLst>
              <a:ext uri="{FF2B5EF4-FFF2-40B4-BE49-F238E27FC236}">
                <a16:creationId xmlns:a16="http://schemas.microsoft.com/office/drawing/2014/main" id="{32387AE8-8975-47E6-B0EF-62B7DDBAB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40644"/>
              </p:ext>
            </p:extLst>
          </p:nvPr>
        </p:nvGraphicFramePr>
        <p:xfrm>
          <a:off x="7304413" y="2088024"/>
          <a:ext cx="4511204" cy="3781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2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034"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050" dirty="0"/>
                        <a:t>Var.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050" dirty="0"/>
                        <a:t>Residential zoning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050"/>
                        <a:t>Stairwell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050"/>
                        <a:t>Zones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4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Aggregated building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No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V2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One zone per storey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Yes, unheated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6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3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V3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Two zones per storey,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Layout A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Yes, unheated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11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88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V4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Two zones per storey,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Layout B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Yes, unheated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11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22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V5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Four zones per storey,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Layout A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Yes, unheated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7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V6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Four zones per storey,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Layout B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Yes, unheated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21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42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V7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Two zones per storey,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Layout A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No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10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3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V8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Two zones per </a:t>
                      </a:r>
                      <a:r>
                        <a:rPr sz="1000" dirty="0" err="1"/>
                        <a:t>storey</a:t>
                      </a:r>
                      <a:r>
                        <a:rPr sz="1000" dirty="0"/>
                        <a:t>,</a:t>
                      </a:r>
                    </a:p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Layout A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Yes, heated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11</a:t>
                      </a:r>
                    </a:p>
                  </a:txBody>
                  <a:tcPr marL="32004" marR="32004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ECEB26E-6D36-6319-28D0-64AF5574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3DE0B5-07A3-A1D5-4C1B-C4A94A5663AC}"/>
              </a:ext>
            </a:extLst>
          </p:cNvPr>
          <p:cNvGrpSpPr/>
          <p:nvPr/>
        </p:nvGrpSpPr>
        <p:grpSpPr>
          <a:xfrm>
            <a:off x="368988" y="1716615"/>
            <a:ext cx="6830390" cy="4269419"/>
            <a:chOff x="368988" y="1716615"/>
            <a:chExt cx="6830390" cy="4269419"/>
          </a:xfrm>
        </p:grpSpPr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8BACCA0A-F97C-7E0D-D237-B5E207B0B141}"/>
                </a:ext>
              </a:extLst>
            </p:cNvPr>
            <p:cNvGrpSpPr/>
            <p:nvPr/>
          </p:nvGrpSpPr>
          <p:grpSpPr>
            <a:xfrm>
              <a:off x="786384" y="1716615"/>
              <a:ext cx="5455920" cy="4269419"/>
              <a:chOff x="786384" y="1415891"/>
              <a:chExt cx="5455920" cy="4269419"/>
            </a:xfrm>
          </p:grpSpPr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1B27BB27-0595-2170-DD08-E508D73CB62D}"/>
                  </a:ext>
                </a:extLst>
              </p:cNvPr>
              <p:cNvSpPr txBox="1"/>
              <p:nvPr/>
            </p:nvSpPr>
            <p:spPr>
              <a:xfrm>
                <a:off x="786384" y="1415891"/>
                <a:ext cx="4206240" cy="29546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320" b="1">
                    <a:solidFill>
                      <a:srgbClr val="000000"/>
                    </a:solidFill>
                    <a:latin typeface="Arial"/>
                  </a:defRPr>
                </a:pPr>
                <a:r>
                  <a:rPr dirty="0"/>
                  <a:t>Schematic layouts of different zoning variants </a:t>
                </a:r>
              </a:p>
            </p:txBody>
          </p: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52886768-D90D-C2F0-AE15-25308BC99805}"/>
                  </a:ext>
                </a:extLst>
              </p:cNvPr>
              <p:cNvGrpSpPr/>
              <p:nvPr/>
            </p:nvGrpSpPr>
            <p:grpSpPr>
              <a:xfrm>
                <a:off x="1524000" y="5118382"/>
                <a:ext cx="4718304" cy="566928"/>
                <a:chOff x="1542289" y="4567439"/>
                <a:chExt cx="4718304" cy="566928"/>
              </a:xfrm>
            </p:grpSpPr>
            <p:sp>
              <p:nvSpPr>
                <p:cNvPr id="226" name="Rounded Rectangle 8">
                  <a:extLst>
                    <a:ext uri="{FF2B5EF4-FFF2-40B4-BE49-F238E27FC236}">
                      <a16:creationId xmlns:a16="http://schemas.microsoft.com/office/drawing/2014/main" id="{5FFC3B61-5B0E-A01B-B04F-A8831D24152C}"/>
                    </a:ext>
                  </a:extLst>
                </p:cNvPr>
                <p:cNvSpPr/>
                <p:nvPr/>
              </p:nvSpPr>
              <p:spPr>
                <a:xfrm>
                  <a:off x="1542289" y="4567439"/>
                  <a:ext cx="4718304" cy="566928"/>
                </a:xfrm>
                <a:prstGeom prst="roundRect">
                  <a:avLst/>
                </a:prstGeom>
                <a:solidFill>
                  <a:srgbClr val="E5EEF5"/>
                </a:solidFill>
                <a:ln>
                  <a:solidFill>
                    <a:srgbClr val="CDD2D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98C5AA4-6BB7-F03E-2343-CE6CAA4C140B}"/>
                    </a:ext>
                  </a:extLst>
                </p:cNvPr>
                <p:cNvSpPr txBox="1"/>
                <p:nvPr/>
              </p:nvSpPr>
              <p:spPr>
                <a:xfrm>
                  <a:off x="1670305" y="4668023"/>
                  <a:ext cx="4443984" cy="34747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defRPr sz="1040" b="1">
                      <a:solidFill>
                        <a:srgbClr val="004A5F"/>
                      </a:solidFill>
                      <a:latin typeface="Arial"/>
                    </a:defRPr>
                  </a:pPr>
                  <a:r>
                    <a:rPr dirty="0"/>
                    <a:t>V1–V8 span aggregation, dwelling-level layouts, finer subdivision, missing stairwell representation, and changed stairwell thermal treatment.</a:t>
                  </a:r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08E2D3-0CB3-BE80-4426-425247424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988" y="2285355"/>
              <a:ext cx="6830390" cy="2776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2414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E13F-A335-78C0-9819-EB34FE7F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A82A-77B4-F9ED-3716-983D1807C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552C1-6EA4-7E2A-73F8-A946A39B3428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808080"/>
                </a:solidFill>
                <a:latin typeface="Arial"/>
              </a:defRPr>
            </a:pPr>
            <a:r>
              <a:rPr lang="en-IN" sz="2000" dirty="0"/>
              <a:t>From Validation Deviations to Controlled Variants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FCE23B-B97C-8B4C-B0DA-4A8D0624E100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9C138-7062-894E-CC3E-6854E0BC755F}"/>
              </a:ext>
            </a:extLst>
          </p:cNvPr>
          <p:cNvSpPr txBox="1"/>
          <p:nvPr/>
        </p:nvSpPr>
        <p:spPr>
          <a:xfrm>
            <a:off x="786384" y="1078992"/>
            <a:ext cx="10058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rial"/>
              </a:defRPr>
            </a:pPr>
            <a:r>
              <a:t>The zoning variants were designed as controlled analogues of the recurrent deviation mechanisms observed during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662C0-F3D4-8F50-1DBC-A2383DE701A6}"/>
              </a:ext>
            </a:extLst>
          </p:cNvPr>
          <p:cNvSpPr txBox="1"/>
          <p:nvPr/>
        </p:nvSpPr>
        <p:spPr>
          <a:xfrm>
            <a:off x="914400" y="1481328"/>
            <a:ext cx="2834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20" b="1">
                <a:solidFill>
                  <a:srgbClr val="000000"/>
                </a:solidFill>
                <a:latin typeface="Arial"/>
              </a:defRPr>
            </a:pPr>
            <a:r>
              <a:t>Observed validation deviations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F4C47-367C-B372-2C1E-F37B8410C3B2}"/>
              </a:ext>
            </a:extLst>
          </p:cNvPr>
          <p:cNvSpPr txBox="1"/>
          <p:nvPr/>
        </p:nvSpPr>
        <p:spPr>
          <a:xfrm>
            <a:off x="6410994" y="1505604"/>
            <a:ext cx="2743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20" b="1">
                <a:solidFill>
                  <a:srgbClr val="000000"/>
                </a:solidFill>
                <a:latin typeface="Arial"/>
              </a:defRPr>
            </a:pPr>
            <a:r>
              <a:t>Sensitivity-analysis variants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8714A56-DC9D-62D8-D599-98AEEF91B2BC}"/>
              </a:ext>
            </a:extLst>
          </p:cNvPr>
          <p:cNvSpPr/>
          <p:nvPr/>
        </p:nvSpPr>
        <p:spPr>
          <a:xfrm>
            <a:off x="1286632" y="1828800"/>
            <a:ext cx="3154680" cy="749808"/>
          </a:xfrm>
          <a:prstGeom prst="roundRect">
            <a:avLst/>
          </a:prstGeom>
          <a:solidFill>
            <a:srgbClr val="E5EEF5"/>
          </a:solidFill>
          <a:ln w="15240">
            <a:solidFill>
              <a:srgbClr val="00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5C9450-22EE-7930-E1DB-AE7A59615BCE}"/>
              </a:ext>
            </a:extLst>
          </p:cNvPr>
          <p:cNvSpPr/>
          <p:nvPr/>
        </p:nvSpPr>
        <p:spPr>
          <a:xfrm>
            <a:off x="1286632" y="1828800"/>
            <a:ext cx="91440" cy="749808"/>
          </a:xfrm>
          <a:prstGeom prst="rect">
            <a:avLst/>
          </a:prstGeom>
          <a:solidFill>
            <a:srgbClr val="00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885AD-1BB0-BE4F-6C82-7462EC9A8333}"/>
              </a:ext>
            </a:extLst>
          </p:cNvPr>
          <p:cNvSpPr txBox="1"/>
          <p:nvPr/>
        </p:nvSpPr>
        <p:spPr>
          <a:xfrm>
            <a:off x="1451224" y="1920240"/>
            <a:ext cx="28986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 b="1">
                <a:solidFill>
                  <a:srgbClr val="004A5F"/>
                </a:solidFill>
                <a:latin typeface="Arial"/>
              </a:defRPr>
            </a:pPr>
            <a:r>
              <a:t>Under-zoning / aggregation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68EB8-F987-9E49-D08E-8B26ACAFAEC2}"/>
              </a:ext>
            </a:extLst>
          </p:cNvPr>
          <p:cNvSpPr txBox="1"/>
          <p:nvPr/>
        </p:nvSpPr>
        <p:spPr>
          <a:xfrm>
            <a:off x="1451224" y="2130552"/>
            <a:ext cx="28986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Too few zones or excessive aggregation of dwellings / storeys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15B57938-9FD9-7665-1FBB-09C35EFB0CE6}"/>
              </a:ext>
            </a:extLst>
          </p:cNvPr>
          <p:cNvSpPr/>
          <p:nvPr/>
        </p:nvSpPr>
        <p:spPr>
          <a:xfrm>
            <a:off x="1286632" y="2743200"/>
            <a:ext cx="3154680" cy="749808"/>
          </a:xfrm>
          <a:prstGeom prst="roundRect">
            <a:avLst/>
          </a:prstGeom>
          <a:solidFill>
            <a:srgbClr val="F9ECDD"/>
          </a:solidFill>
          <a:ln w="15240">
            <a:solidFill>
              <a:srgbClr val="E09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58C91-254C-5093-645D-0886A99F6ECF}"/>
              </a:ext>
            </a:extLst>
          </p:cNvPr>
          <p:cNvSpPr/>
          <p:nvPr/>
        </p:nvSpPr>
        <p:spPr>
          <a:xfrm>
            <a:off x="1286632" y="2743200"/>
            <a:ext cx="91440" cy="749808"/>
          </a:xfrm>
          <a:prstGeom prst="rect">
            <a:avLst/>
          </a:prstGeom>
          <a:solidFill>
            <a:srgbClr val="E0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11573-2BC0-21A7-482F-17FA32E612DB}"/>
              </a:ext>
            </a:extLst>
          </p:cNvPr>
          <p:cNvSpPr txBox="1"/>
          <p:nvPr/>
        </p:nvSpPr>
        <p:spPr>
          <a:xfrm>
            <a:off x="1451224" y="2834640"/>
            <a:ext cx="28986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 b="1">
                <a:solidFill>
                  <a:srgbClr val="004A5F"/>
                </a:solidFill>
                <a:latin typeface="Arial"/>
              </a:defRPr>
            </a:pPr>
            <a:r>
              <a:t>Over-zoning / finer subdivision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FAF87-50D9-E102-D730-6ED69A9FF872}"/>
              </a:ext>
            </a:extLst>
          </p:cNvPr>
          <p:cNvSpPr txBox="1"/>
          <p:nvPr/>
        </p:nvSpPr>
        <p:spPr>
          <a:xfrm>
            <a:off x="1451224" y="3044952"/>
            <a:ext cx="28986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Too many zones caused by excessive dwelling subdivision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E10B8199-4653-576D-3851-C97EDF0C4D8A}"/>
              </a:ext>
            </a:extLst>
          </p:cNvPr>
          <p:cNvSpPr/>
          <p:nvPr/>
        </p:nvSpPr>
        <p:spPr>
          <a:xfrm>
            <a:off x="1286632" y="3657600"/>
            <a:ext cx="3154680" cy="74980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82C29-30A3-7A7F-FE13-17CF14802814}"/>
              </a:ext>
            </a:extLst>
          </p:cNvPr>
          <p:cNvSpPr/>
          <p:nvPr/>
        </p:nvSpPr>
        <p:spPr>
          <a:xfrm>
            <a:off x="1286632" y="3657600"/>
            <a:ext cx="91440" cy="749808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D1FBC-F9D0-E440-A3B5-D8C6CF73DD80}"/>
              </a:ext>
            </a:extLst>
          </p:cNvPr>
          <p:cNvSpPr txBox="1"/>
          <p:nvPr/>
        </p:nvSpPr>
        <p:spPr>
          <a:xfrm>
            <a:off x="1451224" y="3749039"/>
            <a:ext cx="28986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 b="1">
                <a:solidFill>
                  <a:srgbClr val="004A5F"/>
                </a:solidFill>
                <a:latin typeface="Arial"/>
              </a:defRPr>
            </a:pPr>
            <a:r>
              <a:t>Shifted / high-area error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E6C55-BD80-B99D-49A1-68E918C6A9D0}"/>
              </a:ext>
            </a:extLst>
          </p:cNvPr>
          <p:cNvSpPr txBox="1"/>
          <p:nvPr/>
        </p:nvSpPr>
        <p:spPr>
          <a:xfrm>
            <a:off x="1451224" y="3959352"/>
            <a:ext cx="28986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Correct count, but area balancing or boundary placement differs</a:t>
            </a: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3C3A1FF8-EDDC-1D6D-D427-A39DFA4020B3}"/>
              </a:ext>
            </a:extLst>
          </p:cNvPr>
          <p:cNvSpPr/>
          <p:nvPr/>
        </p:nvSpPr>
        <p:spPr>
          <a:xfrm>
            <a:off x="1286632" y="4572000"/>
            <a:ext cx="3154680" cy="749808"/>
          </a:xfrm>
          <a:prstGeom prst="roundRect">
            <a:avLst/>
          </a:prstGeom>
          <a:solidFill>
            <a:srgbClr val="E8F2E4"/>
          </a:solidFill>
          <a:ln w="15240">
            <a:solidFill>
              <a:srgbClr val="659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A3FEA6-544F-0F04-FDF6-B6403EEE9F87}"/>
              </a:ext>
            </a:extLst>
          </p:cNvPr>
          <p:cNvSpPr/>
          <p:nvPr/>
        </p:nvSpPr>
        <p:spPr>
          <a:xfrm>
            <a:off x="1276436" y="4555815"/>
            <a:ext cx="156500" cy="778491"/>
          </a:xfrm>
          <a:prstGeom prst="rect">
            <a:avLst/>
          </a:prstGeom>
          <a:solidFill>
            <a:srgbClr val="659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EB559B-9954-6A28-2C89-FEB1CBAC0290}"/>
              </a:ext>
            </a:extLst>
          </p:cNvPr>
          <p:cNvSpPr txBox="1"/>
          <p:nvPr/>
        </p:nvSpPr>
        <p:spPr>
          <a:xfrm>
            <a:off x="1451224" y="4663440"/>
            <a:ext cx="28986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20" b="1">
                <a:solidFill>
                  <a:srgbClr val="004A5F"/>
                </a:solidFill>
                <a:latin typeface="Arial"/>
              </a:defRPr>
            </a:pPr>
            <a:r>
              <a:t>Stairwell / topology deviation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A90EC-F514-0191-33A7-3BA79262AB1F}"/>
              </a:ext>
            </a:extLst>
          </p:cNvPr>
          <p:cNvSpPr txBox="1"/>
          <p:nvPr/>
        </p:nvSpPr>
        <p:spPr>
          <a:xfrm>
            <a:off x="1451224" y="4873752"/>
            <a:ext cx="28986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Missing, altered, or thermally different stairwell representation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A4384F9-19FD-1C75-63FE-A7B729401E5D}"/>
              </a:ext>
            </a:extLst>
          </p:cNvPr>
          <p:cNvSpPr/>
          <p:nvPr/>
        </p:nvSpPr>
        <p:spPr>
          <a:xfrm>
            <a:off x="6410994" y="1853076"/>
            <a:ext cx="4023360" cy="749808"/>
          </a:xfrm>
          <a:prstGeom prst="roundRect">
            <a:avLst/>
          </a:prstGeom>
          <a:solidFill>
            <a:srgbClr val="E5EEF5"/>
          </a:solidFill>
          <a:ln w="15240">
            <a:solidFill>
              <a:srgbClr val="006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6C7104-DD16-B6D9-AB40-1C45009D1988}"/>
              </a:ext>
            </a:extLst>
          </p:cNvPr>
          <p:cNvSpPr txBox="1"/>
          <p:nvPr/>
        </p:nvSpPr>
        <p:spPr>
          <a:xfrm>
            <a:off x="6575586" y="19445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1">
                <a:solidFill>
                  <a:srgbClr val="004A5F"/>
                </a:solidFill>
                <a:latin typeface="Arial"/>
              </a:defRPr>
            </a:pPr>
            <a:r>
              <a:t>V1 + V2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9425AB-8C03-C3E5-81F7-1B8E02F46E2C}"/>
              </a:ext>
            </a:extLst>
          </p:cNvPr>
          <p:cNvSpPr txBox="1"/>
          <p:nvPr/>
        </p:nvSpPr>
        <p:spPr>
          <a:xfrm>
            <a:off x="7371114" y="194451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Aggregated representations</a:t>
            </a:r>
            <a:br/>
            <a:r>
              <a:t>(single-zone and storey-level zoning)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DC596F2-EDB4-C13D-5505-D9AE7419D7F6}"/>
              </a:ext>
            </a:extLst>
          </p:cNvPr>
          <p:cNvSpPr/>
          <p:nvPr/>
        </p:nvSpPr>
        <p:spPr>
          <a:xfrm>
            <a:off x="6410994" y="2767476"/>
            <a:ext cx="4023360" cy="749808"/>
          </a:xfrm>
          <a:prstGeom prst="roundRect">
            <a:avLst/>
          </a:prstGeom>
          <a:solidFill>
            <a:srgbClr val="F9ECDD"/>
          </a:solidFill>
          <a:ln w="15240">
            <a:solidFill>
              <a:srgbClr val="E09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723C7-9D61-B3A4-3D13-501A15AD79F3}"/>
              </a:ext>
            </a:extLst>
          </p:cNvPr>
          <p:cNvSpPr txBox="1"/>
          <p:nvPr/>
        </p:nvSpPr>
        <p:spPr>
          <a:xfrm>
            <a:off x="6575586" y="28589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1">
                <a:solidFill>
                  <a:srgbClr val="004A5F"/>
                </a:solidFill>
                <a:latin typeface="Arial"/>
              </a:defRPr>
            </a:pPr>
            <a:r>
              <a:t>V5 + V6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B83565-EDA5-95D9-7624-4C8AEE4BF86D}"/>
              </a:ext>
            </a:extLst>
          </p:cNvPr>
          <p:cNvSpPr txBox="1"/>
          <p:nvPr/>
        </p:nvSpPr>
        <p:spPr>
          <a:xfrm>
            <a:off x="7371114" y="285891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Finer subdivision variants</a:t>
            </a:r>
            <a:br/>
            <a:r>
              <a:t>(four zones per storey)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5CA4D6D-49BE-A39E-25DC-3A73FEC7BF91}"/>
              </a:ext>
            </a:extLst>
          </p:cNvPr>
          <p:cNvSpPr/>
          <p:nvPr/>
        </p:nvSpPr>
        <p:spPr>
          <a:xfrm>
            <a:off x="6410994" y="3681876"/>
            <a:ext cx="4023360" cy="74980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D22F0F-3E47-8C76-5195-0842ACA72A80}"/>
              </a:ext>
            </a:extLst>
          </p:cNvPr>
          <p:cNvSpPr txBox="1"/>
          <p:nvPr/>
        </p:nvSpPr>
        <p:spPr>
          <a:xfrm>
            <a:off x="6575586" y="3716253"/>
            <a:ext cx="822960" cy="2970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1">
                <a:solidFill>
                  <a:srgbClr val="004A5F"/>
                </a:solidFill>
                <a:latin typeface="Arial"/>
              </a:defRPr>
            </a:pPr>
            <a:r>
              <a:rPr dirty="0"/>
              <a:t>V4, V6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26FD82-36B2-D520-CF02-51FB417EFECF}"/>
              </a:ext>
            </a:extLst>
          </p:cNvPr>
          <p:cNvSpPr txBox="1"/>
          <p:nvPr/>
        </p:nvSpPr>
        <p:spPr>
          <a:xfrm>
            <a:off x="7371114" y="3773315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Alternative two-zone layout</a:t>
            </a:r>
            <a:br/>
            <a:r>
              <a:t>(boundary shift / area redistribution)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5F5ED90-F37C-7B48-A163-BB44A22BAFBC}"/>
              </a:ext>
            </a:extLst>
          </p:cNvPr>
          <p:cNvSpPr/>
          <p:nvPr/>
        </p:nvSpPr>
        <p:spPr>
          <a:xfrm>
            <a:off x="6410994" y="4596276"/>
            <a:ext cx="4023360" cy="749808"/>
          </a:xfrm>
          <a:prstGeom prst="roundRect">
            <a:avLst/>
          </a:prstGeom>
          <a:solidFill>
            <a:srgbClr val="E8F2E4"/>
          </a:solidFill>
          <a:ln w="15240">
            <a:solidFill>
              <a:srgbClr val="659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ADC91-6D50-0A75-5FF9-A8B333DA251B}"/>
              </a:ext>
            </a:extLst>
          </p:cNvPr>
          <p:cNvSpPr txBox="1"/>
          <p:nvPr/>
        </p:nvSpPr>
        <p:spPr>
          <a:xfrm>
            <a:off x="6575586" y="46877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1">
                <a:solidFill>
                  <a:srgbClr val="004A5F"/>
                </a:solidFill>
                <a:latin typeface="Arial"/>
              </a:defRPr>
            </a:pPr>
            <a:r>
              <a:t>V7 + V8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9E648-A2A0-76DA-8154-9C4405F8DD74}"/>
              </a:ext>
            </a:extLst>
          </p:cNvPr>
          <p:cNvSpPr txBox="1"/>
          <p:nvPr/>
        </p:nvSpPr>
        <p:spPr>
          <a:xfrm>
            <a:off x="7371114" y="468771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Arial"/>
              </a:defRPr>
            </a:pPr>
            <a:r>
              <a:t>Stairwell variants</a:t>
            </a:r>
            <a:br/>
            <a:r>
              <a:t>(no stairwell / heated stairwell)</a:t>
            </a:r>
          </a:p>
        </p:txBody>
      </p: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FE9EBB0E-4DD2-6276-D07D-DECFDB21D0E6}"/>
              </a:ext>
            </a:extLst>
          </p:cNvPr>
          <p:cNvCxnSpPr>
            <a:cxnSpLocks/>
          </p:cNvCxnSpPr>
          <p:nvPr/>
        </p:nvCxnSpPr>
        <p:spPr>
          <a:xfrm>
            <a:off x="4459600" y="2203704"/>
            <a:ext cx="1916922" cy="0"/>
          </a:xfrm>
          <a:prstGeom prst="line">
            <a:avLst/>
          </a:prstGeom>
          <a:ln w="25400">
            <a:solidFill>
              <a:srgbClr val="00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6DC69A53-A203-44C6-3F46-C8FB4AEB0089}"/>
              </a:ext>
            </a:extLst>
          </p:cNvPr>
          <p:cNvCxnSpPr>
            <a:cxnSpLocks/>
          </p:cNvCxnSpPr>
          <p:nvPr/>
        </p:nvCxnSpPr>
        <p:spPr>
          <a:xfrm>
            <a:off x="4459600" y="3118104"/>
            <a:ext cx="1916922" cy="0"/>
          </a:xfrm>
          <a:prstGeom prst="line">
            <a:avLst/>
          </a:prstGeom>
          <a:ln w="25400">
            <a:solidFill>
              <a:srgbClr val="00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ED471968-6024-741D-4929-B5F801E05BC3}"/>
              </a:ext>
            </a:extLst>
          </p:cNvPr>
          <p:cNvCxnSpPr>
            <a:cxnSpLocks/>
          </p:cNvCxnSpPr>
          <p:nvPr/>
        </p:nvCxnSpPr>
        <p:spPr>
          <a:xfrm>
            <a:off x="4459600" y="4032504"/>
            <a:ext cx="1916922" cy="0"/>
          </a:xfrm>
          <a:prstGeom prst="line">
            <a:avLst/>
          </a:prstGeom>
          <a:ln w="25400">
            <a:solidFill>
              <a:srgbClr val="00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5F3CB417-E243-3852-B9B7-325C5104B8DC}"/>
              </a:ext>
            </a:extLst>
          </p:cNvPr>
          <p:cNvCxnSpPr>
            <a:cxnSpLocks/>
          </p:cNvCxnSpPr>
          <p:nvPr/>
        </p:nvCxnSpPr>
        <p:spPr>
          <a:xfrm>
            <a:off x="4459600" y="4946904"/>
            <a:ext cx="1916922" cy="0"/>
          </a:xfrm>
          <a:prstGeom prst="line">
            <a:avLst/>
          </a:prstGeom>
          <a:ln w="25400">
            <a:solidFill>
              <a:srgbClr val="006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7934394-B5AD-BDEE-D11C-D0532E0EDDC8}"/>
              </a:ext>
            </a:extLst>
          </p:cNvPr>
          <p:cNvSpPr/>
          <p:nvPr/>
        </p:nvSpPr>
        <p:spPr>
          <a:xfrm>
            <a:off x="1874519" y="5504688"/>
            <a:ext cx="8138160" cy="493776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CD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FD4585-328C-E6D3-1084-86F70892EF67}"/>
              </a:ext>
            </a:extLst>
          </p:cNvPr>
          <p:cNvSpPr txBox="1"/>
          <p:nvPr/>
        </p:nvSpPr>
        <p:spPr>
          <a:xfrm>
            <a:off x="2011680" y="5605272"/>
            <a:ext cx="7863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20" b="1">
                <a:solidFill>
                  <a:srgbClr val="004A5F"/>
                </a:solidFill>
                <a:latin typeface="Arial"/>
              </a:defRPr>
            </a:pPr>
            <a:r>
              <a:t>Reference comparison case: V3 = dwelling-level baseline multi-zone model used to compare the effect of the other controlled variants.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97D2924-9721-7DA6-BB02-E0977B32F095}"/>
              </a:ext>
            </a:extLst>
          </p:cNvPr>
          <p:cNvSpPr/>
          <p:nvPr/>
        </p:nvSpPr>
        <p:spPr>
          <a:xfrm>
            <a:off x="1268344" y="3643258"/>
            <a:ext cx="156500" cy="778491"/>
          </a:xfrm>
          <a:prstGeom prst="rect">
            <a:avLst/>
          </a:prstGeom>
          <a:solidFill>
            <a:srgbClr val="CDD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A8907D1-5C7C-951E-2FFE-0ACEC53FA881}"/>
              </a:ext>
            </a:extLst>
          </p:cNvPr>
          <p:cNvSpPr/>
          <p:nvPr/>
        </p:nvSpPr>
        <p:spPr>
          <a:xfrm>
            <a:off x="1268182" y="2730204"/>
            <a:ext cx="156500" cy="778491"/>
          </a:xfrm>
          <a:prstGeom prst="rect">
            <a:avLst/>
          </a:prstGeom>
          <a:solidFill>
            <a:srgbClr val="E0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FFA64A8-C491-374A-86CA-56A4D228899B}"/>
              </a:ext>
            </a:extLst>
          </p:cNvPr>
          <p:cNvSpPr/>
          <p:nvPr/>
        </p:nvSpPr>
        <p:spPr>
          <a:xfrm>
            <a:off x="1268344" y="1814458"/>
            <a:ext cx="156500" cy="778491"/>
          </a:xfrm>
          <a:prstGeom prst="rect">
            <a:avLst/>
          </a:prstGeom>
          <a:solidFill>
            <a:srgbClr val="00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8E90C8B0-7715-EBE2-1F68-46E15CA3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347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5809-4881-417E-8DA3-2AD52E2D3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77FD9-48E8-076C-F5D8-E3FF41379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36B48-5CDD-2521-FA32-6EBB7D5FE54A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DE" sz="2000" b="1" dirty="0">
                <a:solidFill>
                  <a:srgbClr val="808080"/>
                </a:solidFill>
                <a:latin typeface="Arial"/>
              </a:rPr>
              <a:t>Simulation Setup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1E7D85-7287-67C4-AAE6-3789CED38FEE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C940A1-9D5D-7EB9-1F84-E0BCEFE4B118}"/>
              </a:ext>
            </a:extLst>
          </p:cNvPr>
          <p:cNvSpPr txBox="1"/>
          <p:nvPr/>
        </p:nvSpPr>
        <p:spPr>
          <a:xfrm>
            <a:off x="786384" y="1078992"/>
            <a:ext cx="10058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rial"/>
              </a:defRPr>
            </a:pPr>
            <a:r>
              <a:rPr dirty="0"/>
              <a:t>Each zoning variant is simulated under the same exterior geometry while uncertain physical and operational inputs are sampled jointly.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A8F513-94B2-9050-A9E5-0FD88C527023}"/>
              </a:ext>
            </a:extLst>
          </p:cNvPr>
          <p:cNvSpPr txBox="1"/>
          <p:nvPr/>
        </p:nvSpPr>
        <p:spPr>
          <a:xfrm>
            <a:off x="786384" y="1536192"/>
            <a:ext cx="3474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000000"/>
                </a:solidFill>
                <a:latin typeface="Arial"/>
              </a:defRPr>
            </a:pPr>
            <a:r>
              <a:t>Uncertain inputs and ranges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76F74E4-149B-CE70-CA7C-9FECD6B91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80928"/>
              </p:ext>
            </p:extLst>
          </p:nvPr>
        </p:nvGraphicFramePr>
        <p:xfrm>
          <a:off x="633245" y="1828801"/>
          <a:ext cx="4360149" cy="3486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5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19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dirty="0"/>
                        <a:t>Input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t>Range / setting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t>Role in model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Construction state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Standard: p = 0.75</a:t>
                      </a:r>
                    </a:p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Retrofit: otherwise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TABULA envelope state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TABULA age class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−1 / 0 / +1 class shift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Construction properties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Mean heating setpoint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20.5–21.5 °C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Building-level operation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Zonal setpoint spread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0.5–2.0 K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Inter-zone heterogeneity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Residential setpoint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Limited to 18–24 °C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Zone-level bound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WWR factor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0.8–1.2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Window / façade scaling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Internal gains factor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0.8–1.2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Occupant + appliance gains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004A5F"/>
                          </a:solidFill>
                          <a:latin typeface="Arial"/>
                        </a:defRPr>
                      </a:pPr>
                      <a:r>
                        <a:rPr sz="12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Weather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Napoli 2011</a:t>
                      </a:r>
                    </a:p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/>
                        <a:t>Munich 2015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sz="1000" dirty="0"/>
                        <a:t>2 annual climates</a:t>
                      </a:r>
                    </a:p>
                  </a:txBody>
                  <a:tcPr marL="45720" marR="45720" marT="13716" marB="137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F67A296-BB55-D932-15D9-997A09E3F1ED}"/>
              </a:ext>
            </a:extLst>
          </p:cNvPr>
          <p:cNvGrpSpPr/>
          <p:nvPr/>
        </p:nvGrpSpPr>
        <p:grpSpPr>
          <a:xfrm>
            <a:off x="5727459" y="1536191"/>
            <a:ext cx="5982418" cy="1882270"/>
            <a:chOff x="5727459" y="1536191"/>
            <a:chExt cx="5982418" cy="188227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DCBE61B-F525-ADA1-2E89-DEF1B376C88D}"/>
                </a:ext>
              </a:extLst>
            </p:cNvPr>
            <p:cNvSpPr txBox="1"/>
            <p:nvPr/>
          </p:nvSpPr>
          <p:spPr>
            <a:xfrm>
              <a:off x="5746742" y="1536191"/>
              <a:ext cx="2892384" cy="2306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550" b="1">
                  <a:solidFill>
                    <a:srgbClr val="000000"/>
                  </a:solidFill>
                  <a:latin typeface="Arial"/>
                </a:defRPr>
              </a:pPr>
              <a:r>
                <a:t>Simulation workflow</a:t>
              </a:r>
            </a:p>
          </p:txBody>
        </p:sp>
        <p:sp>
          <p:nvSpPr>
            <p:cNvPr id="95" name="Rounded Rectangle 9">
              <a:extLst>
                <a:ext uri="{FF2B5EF4-FFF2-40B4-BE49-F238E27FC236}">
                  <a16:creationId xmlns:a16="http://schemas.microsoft.com/office/drawing/2014/main" id="{E0E5E061-1850-E7AD-CE35-76F240C133AD}"/>
                </a:ext>
              </a:extLst>
            </p:cNvPr>
            <p:cNvSpPr/>
            <p:nvPr/>
          </p:nvSpPr>
          <p:spPr>
            <a:xfrm>
              <a:off x="5727459" y="1859128"/>
              <a:ext cx="1716148" cy="535155"/>
            </a:xfrm>
            <a:prstGeom prst="roundRect">
              <a:avLst/>
            </a:prstGeom>
            <a:solidFill>
              <a:srgbClr val="F4F6F7"/>
            </a:solidFill>
            <a:ln w="13970"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8351F93-86BA-4B3F-18CA-A372A0650C67}"/>
                </a:ext>
              </a:extLst>
            </p:cNvPr>
            <p:cNvSpPr txBox="1"/>
            <p:nvPr/>
          </p:nvSpPr>
          <p:spPr>
            <a:xfrm>
              <a:off x="5785306" y="1914489"/>
              <a:ext cx="1600452" cy="42443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50" b="1">
                  <a:solidFill>
                    <a:srgbClr val="004A5F"/>
                  </a:solidFill>
                  <a:latin typeface="Arial"/>
                </a:defRPr>
              </a:pPr>
              <a:r>
                <a:t>Zoning variant</a:t>
              </a:r>
              <a:br/>
              <a:r>
                <a:t>V1–V8</a:t>
              </a:r>
            </a:p>
          </p:txBody>
        </p:sp>
        <p:sp>
          <p:nvSpPr>
            <p:cNvPr id="97" name="Rounded Rectangle 11">
              <a:extLst>
                <a:ext uri="{FF2B5EF4-FFF2-40B4-BE49-F238E27FC236}">
                  <a16:creationId xmlns:a16="http://schemas.microsoft.com/office/drawing/2014/main" id="{477F3BF3-0685-8E49-8A42-376F647020E9}"/>
                </a:ext>
              </a:extLst>
            </p:cNvPr>
            <p:cNvSpPr/>
            <p:nvPr/>
          </p:nvSpPr>
          <p:spPr>
            <a:xfrm>
              <a:off x="7848541" y="1859128"/>
              <a:ext cx="1716148" cy="535155"/>
            </a:xfrm>
            <a:prstGeom prst="roundRect">
              <a:avLst/>
            </a:prstGeom>
            <a:solidFill>
              <a:srgbClr val="F4F6F7"/>
            </a:solidFill>
            <a:ln w="13970"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AD7474E-02F0-F5E4-DDF8-58A725D21257}"/>
                </a:ext>
              </a:extLst>
            </p:cNvPr>
            <p:cNvSpPr txBox="1"/>
            <p:nvPr/>
          </p:nvSpPr>
          <p:spPr>
            <a:xfrm>
              <a:off x="7906388" y="1914489"/>
              <a:ext cx="1600452" cy="42443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50" b="1">
                  <a:solidFill>
                    <a:srgbClr val="004A5F"/>
                  </a:solidFill>
                  <a:latin typeface="Arial"/>
                </a:defRPr>
              </a:pPr>
              <a:r>
                <a:rPr dirty="0"/>
                <a:t>60 Sampled inputs </a:t>
              </a:r>
              <a:br>
                <a:rPr dirty="0"/>
              </a:br>
              <a:r>
                <a:rPr dirty="0"/>
                <a:t>/ variant</a:t>
              </a:r>
            </a:p>
          </p:txBody>
        </p:sp>
        <p:sp>
          <p:nvSpPr>
            <p:cNvPr id="99" name="Rounded Rectangle 13">
              <a:extLst>
                <a:ext uri="{FF2B5EF4-FFF2-40B4-BE49-F238E27FC236}">
                  <a16:creationId xmlns:a16="http://schemas.microsoft.com/office/drawing/2014/main" id="{C6482ED0-E325-A679-0473-93E2AB1A20DD}"/>
                </a:ext>
              </a:extLst>
            </p:cNvPr>
            <p:cNvSpPr/>
            <p:nvPr/>
          </p:nvSpPr>
          <p:spPr>
            <a:xfrm>
              <a:off x="9969622" y="1859128"/>
              <a:ext cx="1716148" cy="535155"/>
            </a:xfrm>
            <a:prstGeom prst="roundRect">
              <a:avLst/>
            </a:prstGeom>
            <a:solidFill>
              <a:srgbClr val="F9ECDD"/>
            </a:solidFill>
            <a:ln w="13970"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F36848B-B5F8-4F46-485E-763384E2BCAC}"/>
                </a:ext>
              </a:extLst>
            </p:cNvPr>
            <p:cNvSpPr txBox="1"/>
            <p:nvPr/>
          </p:nvSpPr>
          <p:spPr>
            <a:xfrm>
              <a:off x="10027470" y="1940996"/>
              <a:ext cx="1600452" cy="4154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50" b="1">
                  <a:solidFill>
                    <a:srgbClr val="004A5F"/>
                  </a:solidFill>
                  <a:latin typeface="Arial"/>
                </a:defRPr>
              </a:pPr>
              <a:endParaRPr dirty="0"/>
            </a:p>
            <a:p>
              <a:pPr algn="ctr">
                <a:defRPr sz="1050" b="1">
                  <a:solidFill>
                    <a:srgbClr val="004A5F"/>
                  </a:solidFill>
                  <a:latin typeface="Arial"/>
                </a:defRPr>
              </a:pPr>
              <a:r>
                <a:rPr dirty="0"/>
                <a:t>4 occupancy seeds</a:t>
              </a:r>
            </a:p>
          </p:txBody>
        </p:sp>
        <p:cxnSp>
          <p:nvCxnSpPr>
            <p:cNvPr id="102" name="Connector 16">
              <a:extLst>
                <a:ext uri="{FF2B5EF4-FFF2-40B4-BE49-F238E27FC236}">
                  <a16:creationId xmlns:a16="http://schemas.microsoft.com/office/drawing/2014/main" id="{8A114977-561A-9E82-078F-BCE8CDD604DE}"/>
                </a:ext>
              </a:extLst>
            </p:cNvPr>
            <p:cNvCxnSpPr/>
            <p:nvPr/>
          </p:nvCxnSpPr>
          <p:spPr>
            <a:xfrm>
              <a:off x="6585533" y="2421965"/>
              <a:ext cx="684530" cy="378299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7">
              <a:extLst>
                <a:ext uri="{FF2B5EF4-FFF2-40B4-BE49-F238E27FC236}">
                  <a16:creationId xmlns:a16="http://schemas.microsoft.com/office/drawing/2014/main" id="{D9575FD6-6C1F-2771-C68D-10CB90049BA2}"/>
                </a:ext>
              </a:extLst>
            </p:cNvPr>
            <p:cNvCxnSpPr/>
            <p:nvPr/>
          </p:nvCxnSpPr>
          <p:spPr>
            <a:xfrm flipH="1">
              <a:off x="8658408" y="2421965"/>
              <a:ext cx="48206" cy="378299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8">
              <a:extLst>
                <a:ext uri="{FF2B5EF4-FFF2-40B4-BE49-F238E27FC236}">
                  <a16:creationId xmlns:a16="http://schemas.microsoft.com/office/drawing/2014/main" id="{48103F64-4E43-3A1B-9C21-FF9BA2071BEF}"/>
                </a:ext>
              </a:extLst>
            </p:cNvPr>
            <p:cNvCxnSpPr/>
            <p:nvPr/>
          </p:nvCxnSpPr>
          <p:spPr>
            <a:xfrm flipH="1">
              <a:off x="9959981" y="2421965"/>
              <a:ext cx="867715" cy="378299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ounded Rectangle 19">
              <a:extLst>
                <a:ext uri="{FF2B5EF4-FFF2-40B4-BE49-F238E27FC236}">
                  <a16:creationId xmlns:a16="http://schemas.microsoft.com/office/drawing/2014/main" id="{1355039B-8F12-A784-5F28-7B9BFEBBB421}"/>
                </a:ext>
              </a:extLst>
            </p:cNvPr>
            <p:cNvSpPr/>
            <p:nvPr/>
          </p:nvSpPr>
          <p:spPr>
            <a:xfrm>
              <a:off x="6518044" y="2809491"/>
              <a:ext cx="4145750" cy="608970"/>
            </a:xfrm>
            <a:prstGeom prst="roundRect">
              <a:avLst/>
            </a:prstGeom>
            <a:solidFill>
              <a:srgbClr val="E5EEF5"/>
            </a:solidFill>
            <a:ln w="13970">
              <a:solidFill>
                <a:srgbClr val="0065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ounded Rectangle 20">
              <a:extLst>
                <a:ext uri="{FF2B5EF4-FFF2-40B4-BE49-F238E27FC236}">
                  <a16:creationId xmlns:a16="http://schemas.microsoft.com/office/drawing/2014/main" id="{426B24C7-70FC-7283-7A59-F964DA930C3E}"/>
                </a:ext>
              </a:extLst>
            </p:cNvPr>
            <p:cNvSpPr/>
            <p:nvPr/>
          </p:nvSpPr>
          <p:spPr>
            <a:xfrm>
              <a:off x="6653022" y="2920213"/>
              <a:ext cx="327804" cy="221443"/>
            </a:xfrm>
            <a:prstGeom prst="roundRect">
              <a:avLst/>
            </a:prstGeom>
            <a:solidFill>
              <a:srgbClr val="006582"/>
            </a:solidFill>
            <a:ln w="13970">
              <a:solidFill>
                <a:srgbClr val="0065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ounded Rectangle 21">
              <a:extLst>
                <a:ext uri="{FF2B5EF4-FFF2-40B4-BE49-F238E27FC236}">
                  <a16:creationId xmlns:a16="http://schemas.microsoft.com/office/drawing/2014/main" id="{48591976-284D-3BE8-E170-0C4A8E193181}"/>
                </a:ext>
              </a:extLst>
            </p:cNvPr>
            <p:cNvSpPr/>
            <p:nvPr/>
          </p:nvSpPr>
          <p:spPr>
            <a:xfrm>
              <a:off x="6807282" y="3040161"/>
              <a:ext cx="327804" cy="221443"/>
            </a:xfrm>
            <a:prstGeom prst="roundRect">
              <a:avLst/>
            </a:prstGeom>
            <a:solidFill>
              <a:srgbClr val="E09344"/>
            </a:solidFill>
            <a:ln w="13970">
              <a:solidFill>
                <a:srgbClr val="E09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BD29F0E-189A-5776-E69B-86B97787212E}"/>
                </a:ext>
              </a:extLst>
            </p:cNvPr>
            <p:cNvSpPr txBox="1"/>
            <p:nvPr/>
          </p:nvSpPr>
          <p:spPr>
            <a:xfrm>
              <a:off x="7164010" y="2874079"/>
              <a:ext cx="1494398" cy="18453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180" b="1">
                  <a:solidFill>
                    <a:srgbClr val="004A5F"/>
                  </a:solidFill>
                  <a:latin typeface="Arial"/>
                </a:defRPr>
              </a:pPr>
              <a:r>
                <a:t>Python workflow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6D8654-64CF-5373-789D-2F7684C9C048}"/>
                </a:ext>
              </a:extLst>
            </p:cNvPr>
            <p:cNvSpPr txBox="1"/>
            <p:nvPr/>
          </p:nvSpPr>
          <p:spPr>
            <a:xfrm>
              <a:off x="7144727" y="3067842"/>
              <a:ext cx="3229829" cy="2583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80" b="1">
                  <a:solidFill>
                    <a:srgbClr val="004A5F"/>
                  </a:solidFill>
                  <a:latin typeface="Arial"/>
                </a:defRPr>
              </a:pPr>
              <a:r>
                <a:t>orchestrates model generation, parameter assignment and simulation runs</a:t>
              </a:r>
            </a:p>
          </p:txBody>
        </p:sp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F7C1A4EE-7132-3140-1A94-512E34A4E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9265" y="1880483"/>
              <a:ext cx="1700612" cy="311779"/>
            </a:xfrm>
            <a:prstGeom prst="rect">
              <a:avLst/>
            </a:prstGeom>
          </p:spPr>
        </p:pic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9F0EE87-646C-1BC6-F5BE-D0DD7B28105C}"/>
              </a:ext>
            </a:extLst>
          </p:cNvPr>
          <p:cNvGrpSpPr/>
          <p:nvPr/>
        </p:nvGrpSpPr>
        <p:grpSpPr>
          <a:xfrm>
            <a:off x="5823345" y="3621450"/>
            <a:ext cx="6209511" cy="2934126"/>
            <a:chOff x="5823345" y="3621450"/>
            <a:chExt cx="6209511" cy="2934126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1518124-B2CD-6CCF-D045-6EEF8C4AE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186" y="3663874"/>
              <a:ext cx="1333686" cy="704948"/>
            </a:xfrm>
            <a:prstGeom prst="rect">
              <a:avLst/>
            </a:prstGeom>
          </p:spPr>
        </p:pic>
        <p:sp>
          <p:nvSpPr>
            <p:cNvPr id="111" name="Rounded Rectangle 25">
              <a:extLst>
                <a:ext uri="{FF2B5EF4-FFF2-40B4-BE49-F238E27FC236}">
                  <a16:creationId xmlns:a16="http://schemas.microsoft.com/office/drawing/2014/main" id="{E5203B05-CAA5-5991-1969-320D54CC01BB}"/>
                </a:ext>
              </a:extLst>
            </p:cNvPr>
            <p:cNvSpPr/>
            <p:nvPr/>
          </p:nvSpPr>
          <p:spPr>
            <a:xfrm>
              <a:off x="5823345" y="4350367"/>
              <a:ext cx="1687224" cy="442887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065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308E178-8A01-DE60-7661-F727251B1DFC}"/>
                </a:ext>
              </a:extLst>
            </p:cNvPr>
            <p:cNvSpPr txBox="1"/>
            <p:nvPr/>
          </p:nvSpPr>
          <p:spPr>
            <a:xfrm>
              <a:off x="5919757" y="4405728"/>
              <a:ext cx="1494398" cy="29525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60" b="1">
                  <a:solidFill>
                    <a:srgbClr val="004A5F"/>
                  </a:solidFill>
                  <a:latin typeface="Arial"/>
                </a:defRPr>
              </a:pPr>
              <a:r>
                <a:t>Construction properties</a:t>
              </a:r>
            </a:p>
          </p:txBody>
        </p:sp>
        <p:cxnSp>
          <p:nvCxnSpPr>
            <p:cNvPr id="113" name="Connector 27">
              <a:extLst>
                <a:ext uri="{FF2B5EF4-FFF2-40B4-BE49-F238E27FC236}">
                  <a16:creationId xmlns:a16="http://schemas.microsoft.com/office/drawing/2014/main" id="{DC48D2FC-60B9-3649-6865-FD215A3A6E87}"/>
                </a:ext>
              </a:extLst>
            </p:cNvPr>
            <p:cNvCxnSpPr/>
            <p:nvPr/>
          </p:nvCxnSpPr>
          <p:spPr>
            <a:xfrm>
              <a:off x="7289346" y="4119698"/>
              <a:ext cx="289238" cy="0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ounded Rectangle 28">
              <a:extLst>
                <a:ext uri="{FF2B5EF4-FFF2-40B4-BE49-F238E27FC236}">
                  <a16:creationId xmlns:a16="http://schemas.microsoft.com/office/drawing/2014/main" id="{7210A5E0-7794-3EBF-6F1B-9585CE905708}"/>
                </a:ext>
              </a:extLst>
            </p:cNvPr>
            <p:cNvSpPr/>
            <p:nvPr/>
          </p:nvSpPr>
          <p:spPr>
            <a:xfrm>
              <a:off x="7607509" y="3695264"/>
              <a:ext cx="1947539" cy="1061083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00658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3782016-8171-1EC3-C025-96D08FA6AA5E}"/>
                </a:ext>
              </a:extLst>
            </p:cNvPr>
            <p:cNvSpPr txBox="1"/>
            <p:nvPr/>
          </p:nvSpPr>
          <p:spPr>
            <a:xfrm>
              <a:off x="8154572" y="3852121"/>
              <a:ext cx="1079823" cy="2583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30" b="1">
                  <a:solidFill>
                    <a:srgbClr val="004A5F"/>
                  </a:solidFill>
                  <a:latin typeface="Arial"/>
                </a:defRPr>
              </a:pPr>
              <a:r>
                <a:rPr dirty="0"/>
                <a:t>TEASER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EB3A05D-B7EC-26D5-C2C1-D5F6D5F5C916}"/>
                </a:ext>
              </a:extLst>
            </p:cNvPr>
            <p:cNvSpPr txBox="1"/>
            <p:nvPr/>
          </p:nvSpPr>
          <p:spPr>
            <a:xfrm>
              <a:off x="7800334" y="4119698"/>
              <a:ext cx="1590811" cy="442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60" b="0">
                  <a:solidFill>
                    <a:srgbClr val="000000"/>
                  </a:solidFill>
                  <a:latin typeface="Arial"/>
                </a:defRPr>
              </a:pPr>
              <a:r>
                <a:t>generates &amp; parameterises</a:t>
              </a:r>
              <a:br/>
              <a:r>
                <a:t>the building model</a:t>
              </a:r>
            </a:p>
          </p:txBody>
        </p:sp>
        <p:pic>
          <p:nvPicPr>
            <p:cNvPr id="118" name="Picture 117" descr="simsetup_modelica.png">
              <a:extLst>
                <a:ext uri="{FF2B5EF4-FFF2-40B4-BE49-F238E27FC236}">
                  <a16:creationId xmlns:a16="http://schemas.microsoft.com/office/drawing/2014/main" id="{9655144B-52A5-C8F4-FB35-19AED9668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538"/>
            <a:stretch>
              <a:fillRect/>
            </a:stretch>
          </p:blipFill>
          <p:spPr>
            <a:xfrm>
              <a:off x="9702893" y="3621450"/>
              <a:ext cx="1728976" cy="111161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11B733E-5D03-DCA4-EFB0-E2EA0C36791B}"/>
                </a:ext>
              </a:extLst>
            </p:cNvPr>
            <p:cNvSpPr txBox="1"/>
            <p:nvPr/>
          </p:nvSpPr>
          <p:spPr>
            <a:xfrm>
              <a:off x="9776797" y="4710214"/>
              <a:ext cx="1590811" cy="18453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70" b="1">
                  <a:solidFill>
                    <a:srgbClr val="004A5F"/>
                  </a:solidFill>
                  <a:latin typeface="Arial"/>
                </a:defRPr>
              </a:pPr>
              <a:r>
                <a:t>AixLib / Modelica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63B0F8F-78A3-333F-D703-CEBC0D89B64C}"/>
                </a:ext>
              </a:extLst>
            </p:cNvPr>
            <p:cNvSpPr txBox="1"/>
            <p:nvPr/>
          </p:nvSpPr>
          <p:spPr>
            <a:xfrm>
              <a:off x="9699666" y="4913204"/>
              <a:ext cx="1764354" cy="21221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80" b="0">
                  <a:solidFill>
                    <a:srgbClr val="808080"/>
                  </a:solidFill>
                  <a:latin typeface="Arial"/>
                </a:defRPr>
              </a:pPr>
              <a:r>
                <a:t>reduced-order VDI 6007-1 model</a:t>
              </a:r>
            </a:p>
          </p:txBody>
        </p:sp>
        <p:cxnSp>
          <p:nvCxnSpPr>
            <p:cNvPr id="121" name="Connector 35">
              <a:extLst>
                <a:ext uri="{FF2B5EF4-FFF2-40B4-BE49-F238E27FC236}">
                  <a16:creationId xmlns:a16="http://schemas.microsoft.com/office/drawing/2014/main" id="{C50C8E10-B3ED-FE69-1F43-56D2D735FAA9}"/>
                </a:ext>
              </a:extLst>
            </p:cNvPr>
            <p:cNvCxnSpPr/>
            <p:nvPr/>
          </p:nvCxnSpPr>
          <p:spPr>
            <a:xfrm>
              <a:off x="9555047" y="4202739"/>
              <a:ext cx="125337" cy="0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36">
              <a:extLst>
                <a:ext uri="{FF2B5EF4-FFF2-40B4-BE49-F238E27FC236}">
                  <a16:creationId xmlns:a16="http://schemas.microsoft.com/office/drawing/2014/main" id="{6D3B5AC5-1F4A-2C05-6BB9-B808EFAABD42}"/>
                </a:ext>
              </a:extLst>
            </p:cNvPr>
            <p:cNvCxnSpPr/>
            <p:nvPr/>
          </p:nvCxnSpPr>
          <p:spPr>
            <a:xfrm>
              <a:off x="10567381" y="5273049"/>
              <a:ext cx="0" cy="230670"/>
            </a:xfrm>
            <a:prstGeom prst="line">
              <a:avLst/>
            </a:prstGeom>
            <a:ln w="29209">
              <a:solidFill>
                <a:srgbClr val="0065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ounded Rectangle 37">
              <a:extLst>
                <a:ext uri="{FF2B5EF4-FFF2-40B4-BE49-F238E27FC236}">
                  <a16:creationId xmlns:a16="http://schemas.microsoft.com/office/drawing/2014/main" id="{C42A9419-C1D8-3CC2-E577-EB0A07737317}"/>
                </a:ext>
              </a:extLst>
            </p:cNvPr>
            <p:cNvSpPr/>
            <p:nvPr/>
          </p:nvSpPr>
          <p:spPr>
            <a:xfrm>
              <a:off x="9024777" y="5531400"/>
              <a:ext cx="3008079" cy="507475"/>
            </a:xfrm>
            <a:prstGeom prst="roundRect">
              <a:avLst/>
            </a:prstGeom>
            <a:solidFill>
              <a:srgbClr val="F9ECDD"/>
            </a:solidFill>
            <a:ln w="13970">
              <a:solidFill>
                <a:srgbClr val="E09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CD43519-2BBE-1062-4932-B3E359F648AC}"/>
                </a:ext>
              </a:extLst>
            </p:cNvPr>
            <p:cNvSpPr txBox="1"/>
            <p:nvPr/>
          </p:nvSpPr>
          <p:spPr>
            <a:xfrm>
              <a:off x="9395965" y="5666853"/>
              <a:ext cx="915922" cy="2029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E09344"/>
                  </a:solidFill>
                  <a:latin typeface="Arial"/>
                </a:defRPr>
              </a:pPr>
              <a:r>
                <a:rPr dirty="0"/>
                <a:t>DYMOLA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F4BC086-9D2A-53FB-DE57-30AFCD7A8434}"/>
                </a:ext>
              </a:extLst>
            </p:cNvPr>
            <p:cNvSpPr txBox="1"/>
            <p:nvPr/>
          </p:nvSpPr>
          <p:spPr>
            <a:xfrm>
              <a:off x="10270236" y="5703761"/>
              <a:ext cx="1667941" cy="2029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40" b="1">
                  <a:solidFill>
                    <a:srgbClr val="004A5F"/>
                  </a:solidFill>
                  <a:latin typeface="Arial"/>
                </a:defRPr>
              </a:pPr>
              <a:r>
                <a:rPr dirty="0"/>
                <a:t>compile &amp; simulate one full year</a:t>
              </a:r>
            </a:p>
          </p:txBody>
        </p:sp>
        <p:sp>
          <p:nvSpPr>
            <p:cNvPr id="126" name="Rounded Rectangle 40">
              <a:extLst>
                <a:ext uri="{FF2B5EF4-FFF2-40B4-BE49-F238E27FC236}">
                  <a16:creationId xmlns:a16="http://schemas.microsoft.com/office/drawing/2014/main" id="{23A66116-9AF4-4491-6B02-082153E0C3B7}"/>
                </a:ext>
              </a:extLst>
            </p:cNvPr>
            <p:cNvSpPr/>
            <p:nvPr/>
          </p:nvSpPr>
          <p:spPr>
            <a:xfrm>
              <a:off x="6268619" y="5014699"/>
              <a:ext cx="1291931" cy="764309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E093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18961B2-5338-376F-AC2E-7FAB122E3EEF}"/>
                </a:ext>
              </a:extLst>
            </p:cNvPr>
            <p:cNvSpPr txBox="1"/>
            <p:nvPr/>
          </p:nvSpPr>
          <p:spPr>
            <a:xfrm>
              <a:off x="6384314" y="5106967"/>
              <a:ext cx="1060541" cy="1660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10" b="1">
                  <a:solidFill>
                    <a:srgbClr val="E09344"/>
                  </a:solidFill>
                  <a:latin typeface="Arial"/>
                </a:defRPr>
              </a:pPr>
              <a:r>
                <a:t>SIMULATION RUNS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8D89551-840F-814A-E2D1-545914EDB862}"/>
                </a:ext>
              </a:extLst>
            </p:cNvPr>
            <p:cNvSpPr txBox="1"/>
            <p:nvPr/>
          </p:nvSpPr>
          <p:spPr>
            <a:xfrm>
              <a:off x="6355391" y="5345241"/>
              <a:ext cx="1108747" cy="2431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80" b="1">
                  <a:solidFill>
                    <a:srgbClr val="000000"/>
                  </a:solidFill>
                  <a:latin typeface="Arial"/>
                </a:defRPr>
              </a:pPr>
              <a:r>
                <a:rPr dirty="0"/>
                <a:t>8 × 60 × 4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A156576-15AF-32EC-F0EA-BBC5CF9D5337}"/>
                </a:ext>
              </a:extLst>
            </p:cNvPr>
            <p:cNvSpPr txBox="1"/>
            <p:nvPr/>
          </p:nvSpPr>
          <p:spPr>
            <a:xfrm>
              <a:off x="6377258" y="5570906"/>
              <a:ext cx="1137671" cy="14762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0">
                  <a:solidFill>
                    <a:srgbClr val="808080"/>
                  </a:solidFill>
                  <a:latin typeface="Arial"/>
                </a:defRPr>
              </a:pPr>
              <a:r>
                <a:rPr dirty="0"/>
                <a:t>annual simulations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4BD44C0-681A-B2B9-F6B0-1C35C3E7CAD3}"/>
                </a:ext>
              </a:extLst>
            </p:cNvPr>
            <p:cNvSpPr/>
            <p:nvPr/>
          </p:nvSpPr>
          <p:spPr>
            <a:xfrm>
              <a:off x="6585533" y="6241864"/>
              <a:ext cx="5061672" cy="313712"/>
            </a:xfrm>
            <a:prstGeom prst="rect">
              <a:avLst/>
            </a:prstGeom>
            <a:solidFill>
              <a:srgbClr val="3C7D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382FF57-8E08-8116-EA03-CBE3BAA46F30}"/>
                </a:ext>
              </a:extLst>
            </p:cNvPr>
            <p:cNvSpPr txBox="1"/>
            <p:nvPr/>
          </p:nvSpPr>
          <p:spPr>
            <a:xfrm>
              <a:off x="6898235" y="6251007"/>
              <a:ext cx="4623634" cy="24006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960" b="1">
                  <a:solidFill>
                    <a:srgbClr val="FFFFFF"/>
                  </a:solidFill>
                  <a:latin typeface="Arial"/>
                </a:defRPr>
              </a:pPr>
              <a:r>
                <a:rPr dirty="0"/>
                <a:t>Outputs: annual heating demand  |  peak heating load  |  overheating hours</a:t>
              </a:r>
            </a:p>
          </p:txBody>
        </p:sp>
        <p:pic>
          <p:nvPicPr>
            <p:cNvPr id="213" name="Picture 212">
              <a:extLst>
                <a:ext uri="{FF2B5EF4-FFF2-40B4-BE49-F238E27FC236}">
                  <a16:creationId xmlns:a16="http://schemas.microsoft.com/office/drawing/2014/main" id="{F1128E03-8163-4A21-DACF-D2D5846E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1414" y="3700780"/>
              <a:ext cx="574402" cy="704948"/>
            </a:xfrm>
            <a:prstGeom prst="rect">
              <a:avLst/>
            </a:prstGeom>
          </p:spPr>
        </p:pic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F4706AC5-CF92-009F-51B8-575BCACF4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6840" y="5618879"/>
              <a:ext cx="307111" cy="298937"/>
            </a:xfrm>
            <a:prstGeom prst="rect">
              <a:avLst/>
            </a:prstGeom>
          </p:spPr>
        </p:pic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D331044-9A4B-3C22-8E94-BFA1B26A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541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6FDE-D73B-8D23-DB51-C82B465E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950E2-E825-AB43-9C14-7C0EB136D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29347-F34F-0E15-A3D0-359E7923156C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DE" sz="2000" b="1" dirty="0">
                <a:solidFill>
                  <a:srgbClr val="808080"/>
                </a:solidFill>
                <a:latin typeface="Arial"/>
              </a:rPr>
              <a:t>Annual Heating Demand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353C04-8F10-294A-34DA-F6532E441BBD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r>
              <a:rPr lang="en-DE" sz="2600" b="1" dirty="0">
                <a:solidFill>
                  <a:srgbClr val="808080"/>
                </a:solidFill>
                <a:latin typeface="Arial"/>
              </a:rPr>
              <a:t> Results</a:t>
            </a:r>
            <a:endParaRPr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37C4DF0-FF10-C22C-C4A9-E4BBB665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2C6AF6-65AA-105F-F116-57F2F172A881}"/>
              </a:ext>
            </a:extLst>
          </p:cNvPr>
          <p:cNvGrpSpPr/>
          <p:nvPr/>
        </p:nvGrpSpPr>
        <p:grpSpPr>
          <a:xfrm>
            <a:off x="2220544" y="5162718"/>
            <a:ext cx="7918323" cy="292609"/>
            <a:chOff x="2220544" y="5162718"/>
            <a:chExt cx="7918323" cy="2926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A56924-5781-8563-BBA0-1EE1322FC782}"/>
                </a:ext>
              </a:extLst>
            </p:cNvPr>
            <p:cNvSpPr txBox="1"/>
            <p:nvPr/>
          </p:nvSpPr>
          <p:spPr>
            <a:xfrm>
              <a:off x="2220544" y="5162719"/>
              <a:ext cx="1064361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50" b="0">
                  <a:solidFill>
                    <a:srgbClr val="000000"/>
                  </a:solidFill>
                  <a:latin typeface="Arial"/>
                </a:defRPr>
              </a:pPr>
              <a:r>
                <a:rPr dirty="0">
                  <a:solidFill>
                    <a:srgbClr val="FF0000"/>
                  </a:solidFill>
                </a:rPr>
                <a:t>Single-zone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CC68A7-EA9C-C05C-FE32-7F5BE2813194}"/>
                </a:ext>
              </a:extLst>
            </p:cNvPr>
            <p:cNvSpPr txBox="1"/>
            <p:nvPr/>
          </p:nvSpPr>
          <p:spPr>
            <a:xfrm>
              <a:off x="3284905" y="5166676"/>
              <a:ext cx="1064361" cy="2846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50" b="0">
                  <a:solidFill>
                    <a:srgbClr val="000000"/>
                  </a:solidFill>
                  <a:latin typeface="Arial"/>
                </a:defRPr>
              </a:pPr>
              <a:r>
                <a:rPr dirty="0">
                  <a:solidFill>
                    <a:srgbClr val="FF0000"/>
                  </a:solidFill>
                </a:rPr>
                <a:t>S</a:t>
              </a:r>
              <a:r>
                <a:rPr lang="en-GB" dirty="0">
                  <a:solidFill>
                    <a:srgbClr val="FF0000"/>
                  </a:solidFill>
                </a:rPr>
                <a:t>t</a:t>
              </a:r>
              <a:r>
                <a:rPr lang="en-DE" dirty="0" err="1">
                  <a:solidFill>
                    <a:srgbClr val="FF0000"/>
                  </a:solidFill>
                </a:rPr>
                <a:t>orey</a:t>
              </a:r>
              <a:r>
                <a:rPr lang="en-DE" dirty="0">
                  <a:solidFill>
                    <a:srgbClr val="FF0000"/>
                  </a:solidFill>
                </a:rPr>
                <a:t>-level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1D1FCF-033A-C701-7204-0673BFFC44AF}"/>
                </a:ext>
              </a:extLst>
            </p:cNvPr>
            <p:cNvSpPr txBox="1"/>
            <p:nvPr/>
          </p:nvSpPr>
          <p:spPr>
            <a:xfrm>
              <a:off x="6900581" y="5162718"/>
              <a:ext cx="942156" cy="28469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50" b="0">
                  <a:solidFill>
                    <a:srgbClr val="000000"/>
                  </a:solidFill>
                  <a:latin typeface="Arial"/>
                </a:defRPr>
              </a:pPr>
              <a:r>
                <a:rPr dirty="0">
                  <a:solidFill>
                    <a:srgbClr val="FF0000"/>
                  </a:solidFill>
                </a:rPr>
                <a:t>Multi-zone 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ECA084F-AE9C-7612-8765-BF40BFCE7A87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V="1">
              <a:off x="7842737" y="5305064"/>
              <a:ext cx="2296130" cy="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1291104-00AF-903C-9AC3-D4B52A35F0B9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4681728" y="5305065"/>
              <a:ext cx="221885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CB45AD2E-D9D5-AEBB-888C-5C043E11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" r="1"/>
          <a:stretch>
            <a:fillRect/>
          </a:stretch>
        </p:blipFill>
        <p:spPr>
          <a:xfrm>
            <a:off x="1221638" y="1085521"/>
            <a:ext cx="9567513" cy="41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3B83-D9F3-909A-059C-CAD8F1E4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E23E5-A9B1-6DED-E6F5-2AA7956AB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76D31-7F06-DCBC-85C8-AAC8B6F0D945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DE" sz="2000" b="1" dirty="0">
                <a:solidFill>
                  <a:srgbClr val="808080"/>
                </a:solidFill>
                <a:latin typeface="Arial"/>
              </a:rPr>
              <a:t>Annual Heating Demand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36FA63-08F6-590B-1B25-AFB90A9127F8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r>
              <a:rPr lang="en-DE" sz="2600" b="1" dirty="0">
                <a:solidFill>
                  <a:srgbClr val="808080"/>
                </a:solidFill>
                <a:latin typeface="Arial"/>
              </a:rPr>
              <a:t> Results</a:t>
            </a:r>
            <a:endParaRPr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00615C9-CC97-9232-941F-1E4AE75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F1ABC5E-A4A1-8520-5746-3A89FAD9F1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" r="1"/>
          <a:stretch>
            <a:fillRect/>
          </a:stretch>
        </p:blipFill>
        <p:spPr>
          <a:xfrm>
            <a:off x="1221638" y="1085521"/>
            <a:ext cx="9567513" cy="4120461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05D1B755-071A-B1B6-9F4D-41AFC7F5E6FE}"/>
              </a:ext>
            </a:extLst>
          </p:cNvPr>
          <p:cNvGrpSpPr/>
          <p:nvPr/>
        </p:nvGrpSpPr>
        <p:grpSpPr>
          <a:xfrm>
            <a:off x="987552" y="1573577"/>
            <a:ext cx="3694176" cy="4814278"/>
            <a:chOff x="987552" y="1573577"/>
            <a:chExt cx="3694176" cy="481427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C1BB6FF-23B6-4720-117F-AE9E6BD2142B}"/>
                </a:ext>
              </a:extLst>
            </p:cNvPr>
            <p:cNvGrpSpPr/>
            <p:nvPr/>
          </p:nvGrpSpPr>
          <p:grpSpPr>
            <a:xfrm>
              <a:off x="2662733" y="1573577"/>
              <a:ext cx="2018995" cy="1125732"/>
              <a:chOff x="2662733" y="1573577"/>
              <a:chExt cx="2018995" cy="1125732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CA5EAC0-32D2-9358-8D82-3AD792971FB2}"/>
                  </a:ext>
                </a:extLst>
              </p:cNvPr>
              <p:cNvCxnSpPr/>
              <p:nvPr/>
            </p:nvCxnSpPr>
            <p:spPr>
              <a:xfrm>
                <a:off x="2662733" y="2216506"/>
                <a:ext cx="0" cy="482803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9B50251-1FBD-68E0-94CA-6220360B403D}"/>
                  </a:ext>
                </a:extLst>
              </p:cNvPr>
              <p:cNvCxnSpPr/>
              <p:nvPr/>
            </p:nvCxnSpPr>
            <p:spPr>
              <a:xfrm>
                <a:off x="2662733" y="2216506"/>
                <a:ext cx="2011680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6F96C83-8287-EAC5-1502-5BDF489304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413" y="2216505"/>
                <a:ext cx="7315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00FA9E8-DC06-FD72-3674-6DFD2D76AEB1}"/>
                  </a:ext>
                </a:extLst>
              </p:cNvPr>
              <p:cNvCxnSpPr/>
              <p:nvPr/>
            </p:nvCxnSpPr>
            <p:spPr>
              <a:xfrm flipV="1">
                <a:off x="3284905" y="2033626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52161E-B673-7DC5-615C-F3849B9993B9}"/>
                  </a:ext>
                </a:extLst>
              </p:cNvPr>
              <p:cNvSpPr txBox="1"/>
              <p:nvPr/>
            </p:nvSpPr>
            <p:spPr>
              <a:xfrm>
                <a:off x="2662733" y="1573577"/>
                <a:ext cx="1470724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Aggregation effect:</a:t>
                </a:r>
              </a:p>
              <a:p>
                <a:r>
                  <a:rPr lang="en-DE" sz="1200" dirty="0"/>
                  <a:t>V3 – V1 = +27.7%</a:t>
                </a:r>
                <a:endParaRPr lang="en-GB" sz="1200" dirty="0"/>
              </a:p>
            </p:txBody>
          </p:sp>
        </p:grpSp>
        <p:sp>
          <p:nvSpPr>
            <p:cNvPr id="59" name="Rounded Rectangle 8">
              <a:extLst>
                <a:ext uri="{FF2B5EF4-FFF2-40B4-BE49-F238E27FC236}">
                  <a16:creationId xmlns:a16="http://schemas.microsoft.com/office/drawing/2014/main" id="{C6C4FC34-C426-4795-535D-6E445C9A6CC7}"/>
                </a:ext>
              </a:extLst>
            </p:cNvPr>
            <p:cNvSpPr/>
            <p:nvPr/>
          </p:nvSpPr>
          <p:spPr>
            <a:xfrm>
              <a:off x="987552" y="5255051"/>
              <a:ext cx="3419856" cy="1124712"/>
            </a:xfrm>
            <a:prstGeom prst="roundRect">
              <a:avLst/>
            </a:prstGeom>
            <a:solidFill>
              <a:srgbClr val="EFF2F4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3869EA6-0333-6A6E-09B4-5BAC75FCC89F}"/>
                </a:ext>
              </a:extLst>
            </p:cNvPr>
            <p:cNvSpPr/>
            <p:nvPr/>
          </p:nvSpPr>
          <p:spPr>
            <a:xfrm>
              <a:off x="987552" y="5255051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379314E-E680-2344-120D-436EF01D46B9}"/>
                </a:ext>
              </a:extLst>
            </p:cNvPr>
            <p:cNvSpPr txBox="1"/>
            <p:nvPr/>
          </p:nvSpPr>
          <p:spPr>
            <a:xfrm>
              <a:off x="1152144" y="5328203"/>
              <a:ext cx="3182112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t>Aggregation effect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94A4F74-B583-7A07-20A3-E8CEE0F3C7B8}"/>
                </a:ext>
              </a:extLst>
            </p:cNvPr>
            <p:cNvSpPr txBox="1"/>
            <p:nvPr/>
          </p:nvSpPr>
          <p:spPr>
            <a:xfrm>
              <a:off x="1152144" y="5565947"/>
              <a:ext cx="3182112" cy="7589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V1 is consistently the lowest. The strongest separation is between the fully aggregated single-zone model and explicit multi-zone representations.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0DB42A9-A40A-3BD8-A07E-3629DDBE431F}"/>
              </a:ext>
            </a:extLst>
          </p:cNvPr>
          <p:cNvGrpSpPr/>
          <p:nvPr/>
        </p:nvGrpSpPr>
        <p:grpSpPr>
          <a:xfrm>
            <a:off x="4553987" y="1564036"/>
            <a:ext cx="3428725" cy="4823819"/>
            <a:chOff x="4553987" y="1564036"/>
            <a:chExt cx="3428725" cy="482381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169900B-F637-DD38-E3B0-2CC095D328E4}"/>
                </a:ext>
              </a:extLst>
            </p:cNvPr>
            <p:cNvGrpSpPr/>
            <p:nvPr/>
          </p:nvGrpSpPr>
          <p:grpSpPr>
            <a:xfrm>
              <a:off x="4553987" y="1564036"/>
              <a:ext cx="1346844" cy="824840"/>
              <a:chOff x="2406595" y="1874469"/>
              <a:chExt cx="1346844" cy="824840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6DA53EB4-79D0-6A56-FCC1-7323759315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526938"/>
                <a:ext cx="0" cy="172371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005F6E5-83CB-AEE1-BFD5-0BECD8D29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9076" y="2526938"/>
                <a:ext cx="888416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8F21AB8-AAF2-1693-6F0C-BBB4970F9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7492" y="2526938"/>
                <a:ext cx="0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E24CDAD-2F5B-0874-ED77-888462AEC812}"/>
                  </a:ext>
                </a:extLst>
              </p:cNvPr>
              <p:cNvCxnSpPr/>
              <p:nvPr/>
            </p:nvCxnSpPr>
            <p:spPr>
              <a:xfrm flipV="1">
                <a:off x="3109232" y="2341833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5C9DAB8-4684-52AF-C7EE-A2AD77398144}"/>
                  </a:ext>
                </a:extLst>
              </p:cNvPr>
              <p:cNvSpPr txBox="1"/>
              <p:nvPr/>
            </p:nvSpPr>
            <p:spPr>
              <a:xfrm>
                <a:off x="2406595" y="1874469"/>
                <a:ext cx="1346844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Boundary shift:</a:t>
                </a:r>
              </a:p>
              <a:p>
                <a:r>
                  <a:rPr lang="en-DE" sz="1200" dirty="0"/>
                  <a:t>V3 – V4 = +0.8%</a:t>
                </a:r>
                <a:endParaRPr lang="en-GB" sz="1200" dirty="0"/>
              </a:p>
            </p:txBody>
          </p:sp>
        </p:grpSp>
        <p:sp>
          <p:nvSpPr>
            <p:cNvPr id="63" name="Rounded Rectangle 12">
              <a:extLst>
                <a:ext uri="{FF2B5EF4-FFF2-40B4-BE49-F238E27FC236}">
                  <a16:creationId xmlns:a16="http://schemas.microsoft.com/office/drawing/2014/main" id="{2FFFD96C-CE7A-321C-44AC-2951121A1C10}"/>
                </a:ext>
              </a:extLst>
            </p:cNvPr>
            <p:cNvSpPr/>
            <p:nvPr/>
          </p:nvSpPr>
          <p:spPr>
            <a:xfrm>
              <a:off x="4562856" y="5255051"/>
              <a:ext cx="3419856" cy="1124712"/>
            </a:xfrm>
            <a:prstGeom prst="roundRect">
              <a:avLst/>
            </a:prstGeom>
            <a:solidFill>
              <a:srgbClr val="F9F1E8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A0DF96E-B9B9-DD85-9683-F650F67861A0}"/>
                </a:ext>
              </a:extLst>
            </p:cNvPr>
            <p:cNvSpPr txBox="1"/>
            <p:nvPr/>
          </p:nvSpPr>
          <p:spPr>
            <a:xfrm>
              <a:off x="4727448" y="5287210"/>
              <a:ext cx="3182112" cy="2831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Boundary shifts have limited impact</a:t>
              </a:r>
              <a:endParaRPr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2BD1708-C080-5A2F-4561-B70796B19F28}"/>
                </a:ext>
              </a:extLst>
            </p:cNvPr>
            <p:cNvSpPr txBox="1"/>
            <p:nvPr/>
          </p:nvSpPr>
          <p:spPr>
            <a:xfrm>
              <a:off x="4727448" y="5659191"/>
              <a:ext cx="3182112" cy="5724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lang="en-GB" sz="1040" dirty="0">
                  <a:solidFill>
                    <a:srgbClr val="141414"/>
                  </a:solidFill>
                  <a:latin typeface="Arial"/>
                </a:rPr>
                <a:t>V3 and V4 have the same number of zones but different internal layouts. Annual heating demand changes by &lt;3% across the scenarios</a:t>
              </a:r>
              <a:endParaRPr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FD3934C-CD41-8940-117C-C9D9CB9B86E9}"/>
                </a:ext>
              </a:extLst>
            </p:cNvPr>
            <p:cNvSpPr/>
            <p:nvPr/>
          </p:nvSpPr>
          <p:spPr>
            <a:xfrm>
              <a:off x="4562855" y="5249481"/>
              <a:ext cx="164591" cy="113837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969EE13-5888-A01E-8034-B13DD5E5ECEC}"/>
              </a:ext>
            </a:extLst>
          </p:cNvPr>
          <p:cNvGrpSpPr/>
          <p:nvPr/>
        </p:nvGrpSpPr>
        <p:grpSpPr>
          <a:xfrm>
            <a:off x="6881059" y="1839447"/>
            <a:ext cx="4676956" cy="4548408"/>
            <a:chOff x="6881059" y="1839447"/>
            <a:chExt cx="4676956" cy="454840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A78744-27FB-42E9-2B27-A96FE6C24334}"/>
                </a:ext>
              </a:extLst>
            </p:cNvPr>
            <p:cNvGrpSpPr/>
            <p:nvPr/>
          </p:nvGrpSpPr>
          <p:grpSpPr>
            <a:xfrm>
              <a:off x="6881059" y="1839447"/>
              <a:ext cx="966931" cy="637411"/>
              <a:chOff x="2641523" y="2061898"/>
              <a:chExt cx="966931" cy="637411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9B38B7EA-EE0F-F9CD-A40E-52FB62B59B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526938"/>
                <a:ext cx="0" cy="172371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9F88C56-D8B0-81AB-FBD0-ECB68FF3A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9076" y="2526938"/>
                <a:ext cx="888416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A757749-96EB-774B-E560-ACCDC3248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7492" y="2526938"/>
                <a:ext cx="0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7E2957D-F6B6-9C35-85F5-0BDC76773D25}"/>
                  </a:ext>
                </a:extLst>
              </p:cNvPr>
              <p:cNvCxnSpPr/>
              <p:nvPr/>
            </p:nvCxnSpPr>
            <p:spPr>
              <a:xfrm flipV="1">
                <a:off x="3109232" y="2341833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0EE5A84-8FC7-D386-CF47-A90016999662}"/>
                  </a:ext>
                </a:extLst>
              </p:cNvPr>
              <p:cNvSpPr txBox="1"/>
              <p:nvPr/>
            </p:nvSpPr>
            <p:spPr>
              <a:xfrm>
                <a:off x="2641523" y="2061898"/>
                <a:ext cx="966931" cy="276999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V5/V6 &lt; V3</a:t>
                </a:r>
              </a:p>
            </p:txBody>
          </p:sp>
        </p:grpSp>
        <p:sp>
          <p:nvSpPr>
            <p:cNvPr id="66" name="Rounded Rectangle 16">
              <a:extLst>
                <a:ext uri="{FF2B5EF4-FFF2-40B4-BE49-F238E27FC236}">
                  <a16:creationId xmlns:a16="http://schemas.microsoft.com/office/drawing/2014/main" id="{BEB826A1-9C71-B55C-3792-9D5EC4E0879D}"/>
                </a:ext>
              </a:extLst>
            </p:cNvPr>
            <p:cNvSpPr/>
            <p:nvPr/>
          </p:nvSpPr>
          <p:spPr>
            <a:xfrm>
              <a:off x="8138159" y="5255051"/>
              <a:ext cx="3419856" cy="1124712"/>
            </a:xfrm>
            <a:prstGeom prst="roundRect">
              <a:avLst/>
            </a:prstGeom>
            <a:solidFill>
              <a:srgbClr val="E9F0F7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F5C83C7-C298-4451-3F54-B6438F3A5151}"/>
                </a:ext>
              </a:extLst>
            </p:cNvPr>
            <p:cNvSpPr txBox="1"/>
            <p:nvPr/>
          </p:nvSpPr>
          <p:spPr>
            <a:xfrm>
              <a:off x="8302751" y="5328203"/>
              <a:ext cx="3182112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dirty="0"/>
                <a:t>More zones ≠ more demand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A706987-7E26-5AF7-F3F9-B572C6B8E12E}"/>
                </a:ext>
              </a:extLst>
            </p:cNvPr>
            <p:cNvSpPr txBox="1"/>
            <p:nvPr/>
          </p:nvSpPr>
          <p:spPr>
            <a:xfrm>
              <a:off x="8302751" y="5659191"/>
              <a:ext cx="3182112" cy="5724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V5/V6 are often below V3. Finer subdivisions </a:t>
              </a:r>
              <a:r>
                <a:rPr lang="en-GB" dirty="0"/>
                <a:t>therefore</a:t>
              </a:r>
              <a:r>
                <a:rPr dirty="0"/>
                <a:t> has a configuration-dependent rather than monotonic effect.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2A6D6C-1968-776B-A89B-DD36C4AA3206}"/>
                </a:ext>
              </a:extLst>
            </p:cNvPr>
            <p:cNvSpPr/>
            <p:nvPr/>
          </p:nvSpPr>
          <p:spPr>
            <a:xfrm>
              <a:off x="8142634" y="5255051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57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A4CD-01EE-CA6D-8DE2-1C880F5E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481C5-020E-EE8A-A8A4-6376B72B5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67B55-CFA0-1D07-0356-7BD950427E79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DE" sz="2000" b="1" dirty="0">
                <a:solidFill>
                  <a:srgbClr val="808080"/>
                </a:solidFill>
                <a:latin typeface="Arial"/>
              </a:rPr>
              <a:t>Peak Heating Load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941B09-C270-CC25-629F-75892D04A143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r>
              <a:rPr lang="en-DE" sz="2600" b="1" dirty="0">
                <a:solidFill>
                  <a:srgbClr val="808080"/>
                </a:solidFill>
                <a:latin typeface="Arial"/>
              </a:rPr>
              <a:t> Results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D8FF3-98D0-FD8D-5C4F-D26FF55D3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36" y="986439"/>
            <a:ext cx="9876660" cy="424584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3A1BF13-09B6-061E-DDCC-B44C0732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CDE7D2F-561A-76E7-9228-0841C225D148}"/>
              </a:ext>
            </a:extLst>
          </p:cNvPr>
          <p:cNvGrpSpPr/>
          <p:nvPr/>
        </p:nvGrpSpPr>
        <p:grpSpPr>
          <a:xfrm>
            <a:off x="987552" y="1880510"/>
            <a:ext cx="3599691" cy="4594693"/>
            <a:chOff x="987552" y="1880510"/>
            <a:chExt cx="3599691" cy="4594693"/>
          </a:xfrm>
        </p:grpSpPr>
        <p:sp>
          <p:nvSpPr>
            <p:cNvPr id="7" name="Rounded Rectangle 8">
              <a:extLst>
                <a:ext uri="{FF2B5EF4-FFF2-40B4-BE49-F238E27FC236}">
                  <a16:creationId xmlns:a16="http://schemas.microsoft.com/office/drawing/2014/main" id="{30652184-907D-D3AE-E8DF-376B6E19F4EE}"/>
                </a:ext>
              </a:extLst>
            </p:cNvPr>
            <p:cNvSpPr/>
            <p:nvPr/>
          </p:nvSpPr>
          <p:spPr>
            <a:xfrm>
              <a:off x="987552" y="5342399"/>
              <a:ext cx="3419856" cy="1124712"/>
            </a:xfrm>
            <a:prstGeom prst="roundRect">
              <a:avLst/>
            </a:prstGeom>
            <a:solidFill>
              <a:srgbClr val="EFF2F4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ABC404-E60E-2919-BE32-BBB4C640380F}"/>
                </a:ext>
              </a:extLst>
            </p:cNvPr>
            <p:cNvSpPr txBox="1"/>
            <p:nvPr/>
          </p:nvSpPr>
          <p:spPr>
            <a:xfrm>
              <a:off x="1152144" y="5374558"/>
              <a:ext cx="3182112" cy="2831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Aggregation suppresses the peak</a:t>
              </a:r>
              <a:endParaRPr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7AFD11-2152-C346-0E23-CF4EA293963C}"/>
                </a:ext>
              </a:extLst>
            </p:cNvPr>
            <p:cNvSpPr txBox="1"/>
            <p:nvPr/>
          </p:nvSpPr>
          <p:spPr>
            <a:xfrm>
              <a:off x="1152144" y="5666517"/>
              <a:ext cx="3182112" cy="7325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Aggregation smooths dwelling-level </a:t>
              </a:r>
              <a:r>
                <a:rPr lang="en-IN" dirty="0"/>
                <a:t>setpoints, gains, and interzonal heat-transfer effects, thereby </a:t>
              </a:r>
              <a:r>
                <a:rPr dirty="0"/>
                <a:t>suppressing short-term load peaks. </a:t>
              </a:r>
              <a:r>
                <a:rPr lang="en-GB" sz="1040" dirty="0">
                  <a:solidFill>
                    <a:srgbClr val="141414"/>
                  </a:solidFill>
                  <a:latin typeface="Arial"/>
                </a:rPr>
                <a:t>V1 consistently gives the lowest peak load.</a:t>
              </a:r>
              <a:endParaRPr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854ED6-1DC6-0EDD-C1E3-7ECB202FAE3A}"/>
                </a:ext>
              </a:extLst>
            </p:cNvPr>
            <p:cNvSpPr/>
            <p:nvPr/>
          </p:nvSpPr>
          <p:spPr>
            <a:xfrm>
              <a:off x="996210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EADC544-EBC5-A93B-42C5-CEA98E6D4059}"/>
                </a:ext>
              </a:extLst>
            </p:cNvPr>
            <p:cNvGrpSpPr/>
            <p:nvPr/>
          </p:nvGrpSpPr>
          <p:grpSpPr>
            <a:xfrm>
              <a:off x="2568248" y="1880510"/>
              <a:ext cx="2018995" cy="1228851"/>
              <a:chOff x="2662733" y="1573577"/>
              <a:chExt cx="2018995" cy="1228851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C8621F19-6B59-5C45-81AA-588D2CAA0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216506"/>
                <a:ext cx="0" cy="585922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5F77229-B1D1-45D7-DA05-5BE7DDA6B554}"/>
                  </a:ext>
                </a:extLst>
              </p:cNvPr>
              <p:cNvCxnSpPr/>
              <p:nvPr/>
            </p:nvCxnSpPr>
            <p:spPr>
              <a:xfrm>
                <a:off x="2662733" y="2216506"/>
                <a:ext cx="2011680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F9FC823-F5A8-9518-111E-B7EF88F23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413" y="2216505"/>
                <a:ext cx="7315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76E5D94-DABE-DD16-BE6B-1134BD100427}"/>
                  </a:ext>
                </a:extLst>
              </p:cNvPr>
              <p:cNvCxnSpPr/>
              <p:nvPr/>
            </p:nvCxnSpPr>
            <p:spPr>
              <a:xfrm flipV="1">
                <a:off x="3284905" y="2033626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729CBEF-A75D-134D-A774-4D42949A864C}"/>
                  </a:ext>
                </a:extLst>
              </p:cNvPr>
              <p:cNvSpPr txBox="1"/>
              <p:nvPr/>
            </p:nvSpPr>
            <p:spPr>
              <a:xfrm>
                <a:off x="2662733" y="1573577"/>
                <a:ext cx="1470724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Aggregation effect:</a:t>
                </a:r>
              </a:p>
              <a:p>
                <a:r>
                  <a:rPr lang="en-DE" sz="1200" dirty="0"/>
                  <a:t>V3 – V1 = +29.6%</a:t>
                </a:r>
                <a:endParaRPr lang="en-GB" sz="1200" dirty="0"/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F3347C3-62EB-3CB9-D26C-A39CD6A6AB34}"/>
              </a:ext>
            </a:extLst>
          </p:cNvPr>
          <p:cNvGrpSpPr/>
          <p:nvPr/>
        </p:nvGrpSpPr>
        <p:grpSpPr>
          <a:xfrm>
            <a:off x="4470338" y="1847952"/>
            <a:ext cx="3512374" cy="4627251"/>
            <a:chOff x="4470338" y="1847952"/>
            <a:chExt cx="3512374" cy="4627251"/>
          </a:xfrm>
        </p:grpSpPr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DB2A14FD-06E5-8FCD-B0F9-054BD485DC6D}"/>
                </a:ext>
              </a:extLst>
            </p:cNvPr>
            <p:cNvSpPr/>
            <p:nvPr/>
          </p:nvSpPr>
          <p:spPr>
            <a:xfrm>
              <a:off x="4562856" y="5342399"/>
              <a:ext cx="3419856" cy="1124712"/>
            </a:xfrm>
            <a:prstGeom prst="roundRect">
              <a:avLst/>
            </a:prstGeom>
            <a:solidFill>
              <a:srgbClr val="F9F1E8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94EF4D-5CE6-1D05-055A-252F26A07252}"/>
                </a:ext>
              </a:extLst>
            </p:cNvPr>
            <p:cNvSpPr txBox="1"/>
            <p:nvPr/>
          </p:nvSpPr>
          <p:spPr>
            <a:xfrm>
              <a:off x="4727448" y="5374558"/>
              <a:ext cx="3182112" cy="2831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Boundary shifts have little effect</a:t>
              </a:r>
              <a:endParaRPr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1921E31-8D57-9C29-3FAD-45E380050439}"/>
                </a:ext>
              </a:extLst>
            </p:cNvPr>
            <p:cNvSpPr txBox="1"/>
            <p:nvPr/>
          </p:nvSpPr>
          <p:spPr>
            <a:xfrm>
              <a:off x="4727448" y="5653295"/>
              <a:ext cx="3182112" cy="7589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lang="en-IN" dirty="0"/>
                <a:t>V3–V4 and V5–V6 stay comparatively close. Exact internal boundary placement matters less than aggregation, granularity and stairwell representation.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804EAD-24F9-BD1A-1BC5-0C61E7A3FED6}"/>
                </a:ext>
              </a:extLst>
            </p:cNvPr>
            <p:cNvSpPr/>
            <p:nvPr/>
          </p:nvSpPr>
          <p:spPr>
            <a:xfrm>
              <a:off x="4558041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73792F7-219A-AEBC-88A2-CDB8D8F79E7B}"/>
                </a:ext>
              </a:extLst>
            </p:cNvPr>
            <p:cNvGrpSpPr/>
            <p:nvPr/>
          </p:nvGrpSpPr>
          <p:grpSpPr>
            <a:xfrm>
              <a:off x="4470338" y="1847952"/>
              <a:ext cx="1346844" cy="824840"/>
              <a:chOff x="2406595" y="1874469"/>
              <a:chExt cx="1346844" cy="824840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D111212-2C3E-38A2-DCA8-15F1B21C06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526938"/>
                <a:ext cx="0" cy="172371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FC429F5B-8580-1A21-2289-EB617C6FF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9076" y="2526938"/>
                <a:ext cx="888416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F0C2C3A-A70F-7CCD-C837-FBDE0E58D8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7492" y="2526938"/>
                <a:ext cx="0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3307C84-54BC-04D6-03EA-529043C44764}"/>
                  </a:ext>
                </a:extLst>
              </p:cNvPr>
              <p:cNvCxnSpPr/>
              <p:nvPr/>
            </p:nvCxnSpPr>
            <p:spPr>
              <a:xfrm flipV="1">
                <a:off x="3109232" y="2341833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067388A-E451-4A61-2DDB-B598B274182F}"/>
                  </a:ext>
                </a:extLst>
              </p:cNvPr>
              <p:cNvSpPr txBox="1"/>
              <p:nvPr/>
            </p:nvSpPr>
            <p:spPr>
              <a:xfrm>
                <a:off x="2406595" y="1874469"/>
                <a:ext cx="1346844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Boundary shift:</a:t>
                </a:r>
              </a:p>
              <a:p>
                <a:r>
                  <a:rPr lang="en-DE" sz="1200" dirty="0"/>
                  <a:t>V3 – V4 = +0.1%</a:t>
                </a:r>
                <a:endParaRPr lang="en-GB" sz="1200" dirty="0"/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533178C-C0C1-D23A-9F49-BDCE21585B8D}"/>
              </a:ext>
            </a:extLst>
          </p:cNvPr>
          <p:cNvGrpSpPr/>
          <p:nvPr/>
        </p:nvGrpSpPr>
        <p:grpSpPr>
          <a:xfrm>
            <a:off x="6898612" y="1841246"/>
            <a:ext cx="4659403" cy="4633957"/>
            <a:chOff x="6898612" y="1841246"/>
            <a:chExt cx="4659403" cy="4633957"/>
          </a:xfrm>
        </p:grpSpPr>
        <p:sp>
          <p:nvSpPr>
            <p:cNvPr id="25" name="Rounded Rectangle 16">
              <a:extLst>
                <a:ext uri="{FF2B5EF4-FFF2-40B4-BE49-F238E27FC236}">
                  <a16:creationId xmlns:a16="http://schemas.microsoft.com/office/drawing/2014/main" id="{5A5F118D-3297-55C9-E727-1ADB5B9FB843}"/>
                </a:ext>
              </a:extLst>
            </p:cNvPr>
            <p:cNvSpPr/>
            <p:nvPr/>
          </p:nvSpPr>
          <p:spPr>
            <a:xfrm>
              <a:off x="8138159" y="5342399"/>
              <a:ext cx="3419856" cy="1124712"/>
            </a:xfrm>
            <a:prstGeom prst="roundRect">
              <a:avLst/>
            </a:prstGeom>
            <a:solidFill>
              <a:srgbClr val="E9F0F7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B7DBA4-4C87-4E09-8A91-341EFD32F485}"/>
                </a:ext>
              </a:extLst>
            </p:cNvPr>
            <p:cNvSpPr txBox="1"/>
            <p:nvPr/>
          </p:nvSpPr>
          <p:spPr>
            <a:xfrm>
              <a:off x="8302751" y="5374558"/>
              <a:ext cx="3182112" cy="2831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Finer zoning &amp; stairwell treatment</a:t>
              </a:r>
              <a:endParaRPr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FF90004-1D8A-4217-2212-524DC811BF80}"/>
                </a:ext>
              </a:extLst>
            </p:cNvPr>
            <p:cNvSpPr txBox="1"/>
            <p:nvPr/>
          </p:nvSpPr>
          <p:spPr>
            <a:xfrm>
              <a:off x="8302751" y="5666517"/>
              <a:ext cx="3182112" cy="7325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lang="en-IN" dirty="0"/>
                <a:t>Explicit multi-zone models reveal higher peak loads; finer variants and stairwell treatment affect the peak magnitude more clearly.</a:t>
              </a:r>
              <a:r>
                <a:rPr lang="en-DE" dirty="0"/>
                <a:t> </a:t>
              </a:r>
              <a:r>
                <a:rPr lang="en-GB" sz="1040" dirty="0">
                  <a:solidFill>
                    <a:srgbClr val="141414"/>
                  </a:solidFill>
                  <a:latin typeface="Arial"/>
                </a:rPr>
                <a:t>V5, V7 and V8 exceed the reference V3.</a:t>
              </a:r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A70B2BE-EE43-F13A-22E8-A635FEC1CD12}"/>
                </a:ext>
              </a:extLst>
            </p:cNvPr>
            <p:cNvSpPr/>
            <p:nvPr/>
          </p:nvSpPr>
          <p:spPr>
            <a:xfrm>
              <a:off x="8139989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08E0826-2113-BE0B-F2C5-013E4E1452B1}"/>
                </a:ext>
              </a:extLst>
            </p:cNvPr>
            <p:cNvGrpSpPr/>
            <p:nvPr/>
          </p:nvGrpSpPr>
          <p:grpSpPr>
            <a:xfrm>
              <a:off x="6898612" y="1841246"/>
              <a:ext cx="3030551" cy="745360"/>
              <a:chOff x="6898612" y="1841246"/>
              <a:chExt cx="3030551" cy="745360"/>
            </a:xfrm>
          </p:grpSpPr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3AE37747-28C0-B173-4DEA-8F84609788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98612" y="2304487"/>
                <a:ext cx="3657" cy="282119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2146B98-496A-8C97-30CC-60D8FB956A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8612" y="2304487"/>
                <a:ext cx="3030551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10CDF17-1E2C-180E-32E0-15F494531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7732" y="2311802"/>
                <a:ext cx="0" cy="263148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364AB34-A3E9-7E97-ACF1-6A4110674498}"/>
                  </a:ext>
                </a:extLst>
              </p:cNvPr>
              <p:cNvCxnSpPr/>
              <p:nvPr/>
            </p:nvCxnSpPr>
            <p:spPr>
              <a:xfrm flipV="1">
                <a:off x="8526254" y="2121181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083951D-3730-02E0-7326-DA2496A97355}"/>
                  </a:ext>
                </a:extLst>
              </p:cNvPr>
              <p:cNvSpPr txBox="1"/>
              <p:nvPr/>
            </p:nvSpPr>
            <p:spPr>
              <a:xfrm>
                <a:off x="8058545" y="1841246"/>
                <a:ext cx="1564852" cy="276999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V5/V7/V8 &gt; V3 (8%)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B48E1AFB-7427-6992-9ABA-DBF8F42163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9163" y="2302261"/>
                <a:ext cx="0" cy="218189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969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9926-250D-1259-A76D-C646A36FC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46EF4-E5EF-EC85-1FF3-8B0B09FDB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D841C-3FF3-98AF-0A95-8F993C5A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55577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31</a:t>
            </a:r>
            <a:r>
              <a:rPr lang="en-GB" dirty="0"/>
              <a:t>.0.2026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EF8DF7-8982-C76A-50D2-001928BAE5D9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808080"/>
                </a:solidFill>
                <a:latin typeface="Arial"/>
              </a:defRPr>
            </a:pPr>
            <a:r>
              <a:rPr lang="en-GB" sz="2000" b="1" dirty="0">
                <a:solidFill>
                  <a:srgbClr val="808080"/>
                </a:solidFill>
                <a:latin typeface="Arial"/>
              </a:rPr>
              <a:t>Overheating Hours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8BFE19-8F3D-4B50-5183-E2E8C4E69C67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sz="2600" b="1" dirty="0">
                <a:solidFill>
                  <a:srgbClr val="808080"/>
                </a:solidFill>
                <a:latin typeface="Arial"/>
              </a:rPr>
              <a:t>Sensitivity Analysis</a:t>
            </a:r>
            <a:r>
              <a:rPr lang="en-DE" sz="2600" b="1" dirty="0">
                <a:solidFill>
                  <a:srgbClr val="808080"/>
                </a:solidFill>
                <a:latin typeface="Arial"/>
              </a:rPr>
              <a:t> Results</a:t>
            </a:r>
            <a:endParaRPr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6C6930F-C854-19BC-59D1-B988436E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14" y="954255"/>
            <a:ext cx="10097371" cy="4375366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92395C09-A264-4FF1-0608-CF864F7A7C61}"/>
              </a:ext>
            </a:extLst>
          </p:cNvPr>
          <p:cNvGrpSpPr/>
          <p:nvPr/>
        </p:nvGrpSpPr>
        <p:grpSpPr>
          <a:xfrm>
            <a:off x="785818" y="1873627"/>
            <a:ext cx="3636339" cy="4601576"/>
            <a:chOff x="785818" y="1873627"/>
            <a:chExt cx="3636339" cy="4601576"/>
          </a:xfrm>
        </p:grpSpPr>
        <p:sp>
          <p:nvSpPr>
            <p:cNvPr id="7" name="Rounded Rectangle 8">
              <a:extLst>
                <a:ext uri="{FF2B5EF4-FFF2-40B4-BE49-F238E27FC236}">
                  <a16:creationId xmlns:a16="http://schemas.microsoft.com/office/drawing/2014/main" id="{B28D4BE8-2763-0D86-3204-B300C9106ED1}"/>
                </a:ext>
              </a:extLst>
            </p:cNvPr>
            <p:cNvSpPr/>
            <p:nvPr/>
          </p:nvSpPr>
          <p:spPr>
            <a:xfrm>
              <a:off x="786383" y="5342399"/>
              <a:ext cx="3419856" cy="1124712"/>
            </a:xfrm>
            <a:prstGeom prst="roundRect">
              <a:avLst/>
            </a:prstGeom>
            <a:solidFill>
              <a:srgbClr val="EFF2F4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09D3D1-14C6-9188-3A1F-8E2F7AB35F3E}"/>
                </a:ext>
              </a:extLst>
            </p:cNvPr>
            <p:cNvSpPr txBox="1"/>
            <p:nvPr/>
          </p:nvSpPr>
          <p:spPr>
            <a:xfrm>
              <a:off x="950975" y="5415551"/>
              <a:ext cx="3182112" cy="20116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t>Different behaviour from heating KPIs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39E795-2000-ED8A-94CC-BF8BED7116E9}"/>
                </a:ext>
              </a:extLst>
            </p:cNvPr>
            <p:cNvSpPr txBox="1"/>
            <p:nvPr/>
          </p:nvSpPr>
          <p:spPr>
            <a:xfrm>
              <a:off x="950975" y="5653295"/>
              <a:ext cx="3182112" cy="7589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dirty="0"/>
                <a:t>V1 is often among the highest overheating cases, showing that aggregation affects threshold-based comfort indicators differently.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4896D1B-E84C-2EB1-A03A-94346EEC80F1}"/>
                </a:ext>
              </a:extLst>
            </p:cNvPr>
            <p:cNvSpPr/>
            <p:nvPr/>
          </p:nvSpPr>
          <p:spPr>
            <a:xfrm>
              <a:off x="785818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4B25B30-2791-BA3C-686C-7D14326AACC9}"/>
                </a:ext>
              </a:extLst>
            </p:cNvPr>
            <p:cNvGrpSpPr/>
            <p:nvPr/>
          </p:nvGrpSpPr>
          <p:grpSpPr>
            <a:xfrm>
              <a:off x="2410477" y="1873627"/>
              <a:ext cx="2011680" cy="1352376"/>
              <a:chOff x="2662733" y="1570878"/>
              <a:chExt cx="2011680" cy="135237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70BF666-3395-5317-5C2B-6EEBC26E9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216506"/>
                <a:ext cx="0" cy="585922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B00993D-7773-ACC5-2B51-3CFFFE2C91CB}"/>
                  </a:ext>
                </a:extLst>
              </p:cNvPr>
              <p:cNvCxnSpPr/>
              <p:nvPr/>
            </p:nvCxnSpPr>
            <p:spPr>
              <a:xfrm>
                <a:off x="2662733" y="2216506"/>
                <a:ext cx="2011680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9030F1BF-F020-014A-5CDC-05F8C53BE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0756" y="2216505"/>
                <a:ext cx="3657" cy="706749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A5B9CD-8F63-A87E-91BB-F812FBE2973F}"/>
                  </a:ext>
                </a:extLst>
              </p:cNvPr>
              <p:cNvCxnSpPr/>
              <p:nvPr/>
            </p:nvCxnSpPr>
            <p:spPr>
              <a:xfrm flipV="1">
                <a:off x="3636673" y="2030927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9633F0-596C-E4FB-2E13-98CC65237F9D}"/>
                  </a:ext>
                </a:extLst>
              </p:cNvPr>
              <p:cNvSpPr txBox="1"/>
              <p:nvPr/>
            </p:nvSpPr>
            <p:spPr>
              <a:xfrm>
                <a:off x="3014501" y="1570878"/>
                <a:ext cx="1470724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Aggregation effect:</a:t>
                </a:r>
              </a:p>
              <a:p>
                <a:r>
                  <a:rPr lang="en-DE" sz="1200" dirty="0"/>
                  <a:t>V3 – V1 = -7.5%</a:t>
                </a:r>
                <a:endParaRPr lang="en-GB" sz="1200" dirty="0"/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EB6196D-601E-4027-8716-44EF269B5FAA}"/>
              </a:ext>
            </a:extLst>
          </p:cNvPr>
          <p:cNvGrpSpPr/>
          <p:nvPr/>
        </p:nvGrpSpPr>
        <p:grpSpPr>
          <a:xfrm>
            <a:off x="4361687" y="2371306"/>
            <a:ext cx="3419856" cy="4103897"/>
            <a:chOff x="4361687" y="2371306"/>
            <a:chExt cx="3419856" cy="4103897"/>
          </a:xfrm>
        </p:grpSpPr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680C07A6-339D-FE00-B58D-F2728A0413D1}"/>
                </a:ext>
              </a:extLst>
            </p:cNvPr>
            <p:cNvSpPr/>
            <p:nvPr/>
          </p:nvSpPr>
          <p:spPr>
            <a:xfrm>
              <a:off x="4361687" y="5342399"/>
              <a:ext cx="3419856" cy="1124712"/>
            </a:xfrm>
            <a:prstGeom prst="roundRect">
              <a:avLst/>
            </a:prstGeom>
            <a:solidFill>
              <a:srgbClr val="F9F1E8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7C7D65-907D-A7D7-AAA0-D24E317781CA}"/>
                </a:ext>
              </a:extLst>
            </p:cNvPr>
            <p:cNvSpPr txBox="1"/>
            <p:nvPr/>
          </p:nvSpPr>
          <p:spPr>
            <a:xfrm>
              <a:off x="4526279" y="5374558"/>
              <a:ext cx="3182112" cy="2831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Boundary shifts have limited effect</a:t>
              </a:r>
              <a:endParaRPr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F53D5D-9D72-0C70-E1AE-099063012610}"/>
                </a:ext>
              </a:extLst>
            </p:cNvPr>
            <p:cNvSpPr txBox="1"/>
            <p:nvPr/>
          </p:nvSpPr>
          <p:spPr>
            <a:xfrm>
              <a:off x="4526279" y="5826560"/>
              <a:ext cx="3182112" cy="4124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lang="en-GB" sz="1040" dirty="0">
                  <a:solidFill>
                    <a:srgbClr val="141414"/>
                  </a:solidFill>
                  <a:latin typeface="Arial"/>
                </a:rPr>
                <a:t>V3 and V4 have the same number of zones but different internal layouts.</a:t>
              </a:r>
              <a:endParaRPr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D8163D-2CF4-AFDB-8610-BB48AD8730BC}"/>
                </a:ext>
              </a:extLst>
            </p:cNvPr>
            <p:cNvSpPr/>
            <p:nvPr/>
          </p:nvSpPr>
          <p:spPr>
            <a:xfrm>
              <a:off x="4370574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A7C2C8E-F7B3-E179-D8A4-DF4904EC4044}"/>
                </a:ext>
              </a:extLst>
            </p:cNvPr>
            <p:cNvGrpSpPr/>
            <p:nvPr/>
          </p:nvGrpSpPr>
          <p:grpSpPr>
            <a:xfrm>
              <a:off x="4478221" y="2371306"/>
              <a:ext cx="1308371" cy="824680"/>
              <a:chOff x="2571276" y="1874629"/>
              <a:chExt cx="1308371" cy="824680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965E986-2836-31EC-BAB9-FDC7932DDD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733" y="2526938"/>
                <a:ext cx="0" cy="172371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ED433F2-6FC7-AC74-3DA2-112AA3202E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9076" y="2526938"/>
                <a:ext cx="888416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C5471E6-0E2B-3EF7-8029-8BE639265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7492" y="2526938"/>
                <a:ext cx="0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67665D5-895D-7C70-BB43-1C3E7E13B395}"/>
                  </a:ext>
                </a:extLst>
              </p:cNvPr>
              <p:cNvCxnSpPr/>
              <p:nvPr/>
            </p:nvCxnSpPr>
            <p:spPr>
              <a:xfrm flipV="1">
                <a:off x="3273913" y="2341993"/>
                <a:ext cx="0" cy="182879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D30A54-631F-A83E-1006-B3C13592897D}"/>
                  </a:ext>
                </a:extLst>
              </p:cNvPr>
              <p:cNvSpPr txBox="1"/>
              <p:nvPr/>
            </p:nvSpPr>
            <p:spPr>
              <a:xfrm>
                <a:off x="2571276" y="1874629"/>
                <a:ext cx="1308371" cy="461665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Boundary shift:</a:t>
                </a:r>
              </a:p>
              <a:p>
                <a:r>
                  <a:rPr lang="en-DE" sz="1200" dirty="0"/>
                  <a:t>V3 – V4 = -0.4%</a:t>
                </a:r>
                <a:endParaRPr lang="en-GB" sz="1200" dirty="0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863B6FC-8925-2F33-1E57-35CD76D215E0}"/>
              </a:ext>
            </a:extLst>
          </p:cNvPr>
          <p:cNvGrpSpPr/>
          <p:nvPr/>
        </p:nvGrpSpPr>
        <p:grpSpPr>
          <a:xfrm>
            <a:off x="6701102" y="2539122"/>
            <a:ext cx="4655744" cy="3936081"/>
            <a:chOff x="6701102" y="2539122"/>
            <a:chExt cx="4655744" cy="3936081"/>
          </a:xfrm>
        </p:grpSpPr>
        <p:sp>
          <p:nvSpPr>
            <p:cNvPr id="25" name="Rounded Rectangle 16">
              <a:extLst>
                <a:ext uri="{FF2B5EF4-FFF2-40B4-BE49-F238E27FC236}">
                  <a16:creationId xmlns:a16="http://schemas.microsoft.com/office/drawing/2014/main" id="{03D9A400-A29E-C1A7-5731-AFB3537CC85E}"/>
                </a:ext>
              </a:extLst>
            </p:cNvPr>
            <p:cNvSpPr/>
            <p:nvPr/>
          </p:nvSpPr>
          <p:spPr>
            <a:xfrm>
              <a:off x="7936990" y="5342399"/>
              <a:ext cx="3419856" cy="1124712"/>
            </a:xfrm>
            <a:prstGeom prst="roundRect">
              <a:avLst/>
            </a:prstGeom>
            <a:solidFill>
              <a:srgbClr val="E9F0F7"/>
            </a:solidFill>
            <a:ln>
              <a:solidFill>
                <a:srgbClr val="CD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2D02706-6622-3CEE-808E-E22B839E5B7C}"/>
                </a:ext>
              </a:extLst>
            </p:cNvPr>
            <p:cNvSpPr txBox="1"/>
            <p:nvPr/>
          </p:nvSpPr>
          <p:spPr>
            <a:xfrm>
              <a:off x="8101582" y="5279147"/>
              <a:ext cx="3255264" cy="4739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240" b="1">
                  <a:solidFill>
                    <a:srgbClr val="005B73"/>
                  </a:solidFill>
                  <a:latin typeface="Arial"/>
                </a:defRPr>
              </a:pPr>
              <a:r>
                <a:rPr lang="en-GB" sz="1240" b="1" dirty="0">
                  <a:solidFill>
                    <a:srgbClr val="005B73"/>
                  </a:solidFill>
                  <a:latin typeface="Arial"/>
                </a:rPr>
                <a:t>Finer zoning slightly increases overheating</a:t>
              </a:r>
              <a:endParaRPr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5CE7ED-5E41-A205-9644-90F821FEB1FA}"/>
                </a:ext>
              </a:extLst>
            </p:cNvPr>
            <p:cNvSpPr txBox="1"/>
            <p:nvPr/>
          </p:nvSpPr>
          <p:spPr>
            <a:xfrm>
              <a:off x="8101582" y="5746539"/>
              <a:ext cx="3182112" cy="5724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040" b="0">
                  <a:solidFill>
                    <a:srgbClr val="141414"/>
                  </a:solidFill>
                  <a:latin typeface="Arial"/>
                </a:defRPr>
              </a:pPr>
              <a:r>
                <a:rPr lang="en-GB" sz="1040" dirty="0">
                  <a:solidFill>
                    <a:srgbClr val="141414"/>
                  </a:solidFill>
                  <a:latin typeface="Arial"/>
                </a:rPr>
                <a:t>V5 and V6 show somewhat higher overheating than V3, but the effect remains moderate and configuration-dependent.</a:t>
              </a:r>
              <a:endParaRPr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DBB698-6E70-AE20-B08F-744370E54F49}"/>
                </a:ext>
              </a:extLst>
            </p:cNvPr>
            <p:cNvSpPr/>
            <p:nvPr/>
          </p:nvSpPr>
          <p:spPr>
            <a:xfrm>
              <a:off x="7939146" y="5342399"/>
              <a:ext cx="164592" cy="1132804"/>
            </a:xfrm>
            <a:prstGeom prst="rect">
              <a:avLst/>
            </a:prstGeom>
            <a:solidFill>
              <a:srgbClr val="005B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BA4C0B6-D579-FDA0-F39B-E4D4DCDFD703}"/>
                </a:ext>
              </a:extLst>
            </p:cNvPr>
            <p:cNvGrpSpPr/>
            <p:nvPr/>
          </p:nvGrpSpPr>
          <p:grpSpPr>
            <a:xfrm>
              <a:off x="6701102" y="2539122"/>
              <a:ext cx="1080441" cy="652779"/>
              <a:chOff x="6701102" y="2539122"/>
              <a:chExt cx="1080441" cy="652779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A625ACD-AC02-8A49-838A-61D39043CB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4759" y="3019530"/>
                <a:ext cx="0" cy="172371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F06CDB1-BE39-210D-ED56-B45A5A4F1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1102" y="3019530"/>
                <a:ext cx="888416" cy="0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C59C3993-68A5-70EE-7D68-E4AD22A79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518" y="3019530"/>
                <a:ext cx="0" cy="160935"/>
              </a:xfrm>
              <a:prstGeom prst="straightConnector1">
                <a:avLst/>
              </a:prstGeom>
              <a:ln>
                <a:solidFill>
                  <a:srgbClr val="3E7C79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75AB0D2-BB1E-9AE7-C4DC-17BA135886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2321" y="2819057"/>
                <a:ext cx="0" cy="200473"/>
              </a:xfrm>
              <a:prstGeom prst="line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9494A33-10DC-533D-DB63-31FF1168E199}"/>
                  </a:ext>
                </a:extLst>
              </p:cNvPr>
              <p:cNvSpPr txBox="1"/>
              <p:nvPr/>
            </p:nvSpPr>
            <p:spPr>
              <a:xfrm>
                <a:off x="6814612" y="2539122"/>
                <a:ext cx="966931" cy="276999"/>
              </a:xfrm>
              <a:prstGeom prst="rect">
                <a:avLst/>
              </a:prstGeom>
              <a:ln>
                <a:solidFill>
                  <a:srgbClr val="3E7C79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DE" sz="1200" dirty="0"/>
                  <a:t>V5/V6 &gt; V3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201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CBD0C-CC5A-7A6C-E10F-4B7BFA38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5681E-C9EE-C0E2-38CA-1970FEA1F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385C50-5CFB-CB72-37A9-6ADEA0E8B334}"/>
              </a:ext>
            </a:extLst>
          </p:cNvPr>
          <p:cNvSpPr txBox="1"/>
          <p:nvPr/>
        </p:nvSpPr>
        <p:spPr>
          <a:xfrm>
            <a:off x="786383" y="586329"/>
            <a:ext cx="622941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808080"/>
                </a:solidFill>
                <a:latin typeface="Arial"/>
              </a:defRPr>
            </a:pPr>
            <a:r>
              <a:rPr lang="en-DE" sz="2000" dirty="0"/>
              <a:t>Key findings and next steps</a:t>
            </a:r>
            <a:endParaRPr lang="en-IN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5E51BD-38BD-942C-BA45-73EA372D15FB}"/>
              </a:ext>
            </a:extLst>
          </p:cNvPr>
          <p:cNvSpPr txBox="1"/>
          <p:nvPr/>
        </p:nvSpPr>
        <p:spPr>
          <a:xfrm>
            <a:off x="786384" y="220123"/>
            <a:ext cx="5486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808080"/>
                </a:solidFill>
                <a:latin typeface="Arial"/>
              </a:defRPr>
            </a:pPr>
            <a:r>
              <a:rPr lang="en-GB" dirty="0"/>
              <a:t>Conclusion</a:t>
            </a:r>
            <a:r>
              <a:rPr lang="en-DE" dirty="0"/>
              <a:t> &amp; Outlook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335379D-31D2-3E7E-A006-B279FD71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E61BDA9-1FDB-DB1D-0823-C65AAC47AACF}"/>
              </a:ext>
            </a:extLst>
          </p:cNvPr>
          <p:cNvSpPr/>
          <p:nvPr/>
        </p:nvSpPr>
        <p:spPr>
          <a:xfrm>
            <a:off x="841248" y="1225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9B65748-7151-E3A2-2D13-7F253D726302}"/>
              </a:ext>
            </a:extLst>
          </p:cNvPr>
          <p:cNvSpPr/>
          <p:nvPr/>
        </p:nvSpPr>
        <p:spPr>
          <a:xfrm>
            <a:off x="9509760" y="1225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20" dirty="0">
                <a:solidFill>
                  <a:srgbClr val="8BA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C8E7BDD-813D-B484-0E9F-2697DE74EA7F}"/>
              </a:ext>
            </a:extLst>
          </p:cNvPr>
          <p:cNvSpPr/>
          <p:nvPr/>
        </p:nvSpPr>
        <p:spPr>
          <a:xfrm>
            <a:off x="4818888" y="2011680"/>
            <a:ext cx="2560320" cy="2560320"/>
          </a:xfrm>
          <a:prstGeom prst="ellipse">
            <a:avLst/>
          </a:prstGeom>
          <a:solidFill>
            <a:srgbClr val="F2F2F2">
              <a:alpha val="85000"/>
            </a:srgbClr>
          </a:solidFill>
          <a:ln w="165100">
            <a:solidFill>
              <a:srgbClr val="D2D2D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1" descr="/mnt/data/conclusion_outlook_center_icon_final.png">
            <a:extLst>
              <a:ext uri="{FF2B5EF4-FFF2-40B4-BE49-F238E27FC236}">
                <a16:creationId xmlns:a16="http://schemas.microsoft.com/office/drawing/2014/main" id="{3EAC20AE-8AE8-91E5-5AD0-A8F8EF562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377440"/>
            <a:ext cx="1719072" cy="1874520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59BC64C0-AFF9-746D-B66D-C92DAE992EC0}"/>
              </a:ext>
            </a:extLst>
          </p:cNvPr>
          <p:cNvSpPr/>
          <p:nvPr/>
        </p:nvSpPr>
        <p:spPr>
          <a:xfrm>
            <a:off x="868680" y="1572768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EAF2F8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20668C94-C33A-4A0F-1B48-E9669BEBA803}"/>
              </a:ext>
            </a:extLst>
          </p:cNvPr>
          <p:cNvSpPr/>
          <p:nvPr/>
        </p:nvSpPr>
        <p:spPr>
          <a:xfrm>
            <a:off x="868680" y="1572768"/>
            <a:ext cx="91440" cy="978408"/>
          </a:xfrm>
          <a:prstGeom prst="rect">
            <a:avLst/>
          </a:prstGeom>
          <a:solidFill>
            <a:srgbClr val="4E8FC4"/>
          </a:solidFill>
          <a:ln w="12700">
            <a:solidFill>
              <a:srgbClr val="4E8F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35D82ED1-FC93-F8C2-DF38-F45C2B127131}"/>
              </a:ext>
            </a:extLst>
          </p:cNvPr>
          <p:cNvSpPr/>
          <p:nvPr/>
        </p:nvSpPr>
        <p:spPr>
          <a:xfrm>
            <a:off x="1069848" y="169164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validation</a:t>
            </a:r>
            <a:endParaRPr lang="en-US" sz="13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C7832C9-DD40-3B76-36DB-7C27DD4F6AFB}"/>
              </a:ext>
            </a:extLst>
          </p:cNvPr>
          <p:cNvSpPr/>
          <p:nvPr/>
        </p:nvSpPr>
        <p:spPr>
          <a:xfrm>
            <a:off x="1069848" y="1965960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81.5–85% of cases reached at least moderate agreement.</a:t>
            </a:r>
            <a:endParaRPr lang="en-US" sz="115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7D363286-4645-8504-1643-16CC49C57C4C}"/>
              </a:ext>
            </a:extLst>
          </p:cNvPr>
          <p:cNvSpPr/>
          <p:nvPr/>
        </p:nvSpPr>
        <p:spPr>
          <a:xfrm>
            <a:off x="868680" y="2788920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E8F2F1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B0CA4E3C-60A5-AD62-50E3-5FC9A62A9FE1}"/>
              </a:ext>
            </a:extLst>
          </p:cNvPr>
          <p:cNvSpPr/>
          <p:nvPr/>
        </p:nvSpPr>
        <p:spPr>
          <a:xfrm>
            <a:off x="868680" y="2788920"/>
            <a:ext cx="91440" cy="978408"/>
          </a:xfrm>
          <a:prstGeom prst="rect">
            <a:avLst/>
          </a:prstGeom>
          <a:solidFill>
            <a:srgbClr val="3C8F8B"/>
          </a:solidFill>
          <a:ln w="12700">
            <a:solidFill>
              <a:srgbClr val="3C8F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F63F5C9E-998C-E849-8D01-3DEE8828E033}"/>
              </a:ext>
            </a:extLst>
          </p:cNvPr>
          <p:cNvSpPr/>
          <p:nvPr/>
        </p:nvSpPr>
        <p:spPr>
          <a:xfrm>
            <a:off x="1069848" y="2907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relevance</a:t>
            </a:r>
            <a:endParaRPr lang="en-US" sz="13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9CA2D78E-F0D9-EAD0-4192-2B8DACC25599}"/>
              </a:ext>
            </a:extLst>
          </p:cNvPr>
          <p:cNvSpPr/>
          <p:nvPr/>
        </p:nvSpPr>
        <p:spPr>
          <a:xfrm>
            <a:off x="1069848" y="3182112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Heating: aggregation dominates · Overheating: local zoning matters.</a:t>
            </a:r>
            <a:endParaRPr lang="en-US" sz="115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4701959C-F328-452A-6B6D-82956CE5ACCF}"/>
              </a:ext>
            </a:extLst>
          </p:cNvPr>
          <p:cNvSpPr/>
          <p:nvPr/>
        </p:nvSpPr>
        <p:spPr>
          <a:xfrm>
            <a:off x="868680" y="4005072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F3F5F6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74DC7802-D71E-DC50-B9A1-53B7B561956F}"/>
              </a:ext>
            </a:extLst>
          </p:cNvPr>
          <p:cNvSpPr/>
          <p:nvPr/>
        </p:nvSpPr>
        <p:spPr>
          <a:xfrm>
            <a:off x="868680" y="4005072"/>
            <a:ext cx="91440" cy="978408"/>
          </a:xfrm>
          <a:prstGeom prst="rect">
            <a:avLst/>
          </a:prstGeom>
          <a:solidFill>
            <a:srgbClr val="006B84"/>
          </a:solidFill>
          <a:ln w="12700">
            <a:solidFill>
              <a:srgbClr val="00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2FECABD4-E0A1-E45D-C930-0EC41D372E75}"/>
              </a:ext>
            </a:extLst>
          </p:cNvPr>
          <p:cNvSpPr/>
          <p:nvPr/>
        </p:nvSpPr>
        <p:spPr>
          <a:xfrm>
            <a:off x="1069848" y="412394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meaning</a:t>
            </a:r>
            <a:endParaRPr lang="en-US" sz="1300" dirty="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EBF14A96-C122-CEC6-2C80-3F5EE41F25BA}"/>
              </a:ext>
            </a:extLst>
          </p:cNvPr>
          <p:cNvSpPr/>
          <p:nvPr/>
        </p:nvSpPr>
        <p:spPr>
          <a:xfrm>
            <a:off x="1069848" y="439826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MZA is a scalable approximation — not an exact floor-plan reconstruction.</a:t>
            </a:r>
            <a:endParaRPr lang="en-US" sz="115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7F7C2CAC-B33B-B304-64B6-18DC974873BC}"/>
              </a:ext>
            </a:extLst>
          </p:cNvPr>
          <p:cNvSpPr/>
          <p:nvPr/>
        </p:nvSpPr>
        <p:spPr>
          <a:xfrm>
            <a:off x="7927848" y="1572768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F0F5E8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BE84B1B9-C279-217D-B35E-F3275558C063}"/>
              </a:ext>
            </a:extLst>
          </p:cNvPr>
          <p:cNvSpPr/>
          <p:nvPr/>
        </p:nvSpPr>
        <p:spPr>
          <a:xfrm>
            <a:off x="7927848" y="1572768"/>
            <a:ext cx="91440" cy="978408"/>
          </a:xfrm>
          <a:prstGeom prst="rect">
            <a:avLst/>
          </a:prstGeom>
          <a:solidFill>
            <a:srgbClr val="8BAE52"/>
          </a:solidFill>
          <a:ln w="12700">
            <a:solidFill>
              <a:srgbClr val="8BA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3A2CF3A0-E5E3-3458-E416-A19A2A623528}"/>
              </a:ext>
            </a:extLst>
          </p:cNvPr>
          <p:cNvSpPr/>
          <p:nvPr/>
        </p:nvSpPr>
        <p:spPr>
          <a:xfrm>
            <a:off x="8129016" y="169164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validation</a:t>
            </a:r>
            <a:endParaRPr lang="en-US" sz="1300" dirty="0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BAC54779-14CD-DCAA-C551-2C13C81EF3EE}"/>
              </a:ext>
            </a:extLst>
          </p:cNvPr>
          <p:cNvSpPr/>
          <p:nvPr/>
        </p:nvSpPr>
        <p:spPr>
          <a:xfrm>
            <a:off x="8129016" y="1965960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larger, more complex residential buildings and access layouts.</a:t>
            </a:r>
            <a:endParaRPr lang="en-US" sz="1150" dirty="0"/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813B0447-0218-58DC-D565-42E9BE1EA441}"/>
              </a:ext>
            </a:extLst>
          </p:cNvPr>
          <p:cNvSpPr/>
          <p:nvPr/>
        </p:nvSpPr>
        <p:spPr>
          <a:xfrm>
            <a:off x="7927848" y="2788920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FBF0E4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DA4F2515-8605-2A8C-0C06-8CBEBCAFB4A6}"/>
              </a:ext>
            </a:extLst>
          </p:cNvPr>
          <p:cNvSpPr/>
          <p:nvPr/>
        </p:nvSpPr>
        <p:spPr>
          <a:xfrm>
            <a:off x="7927848" y="2788920"/>
            <a:ext cx="91440" cy="978408"/>
          </a:xfrm>
          <a:prstGeom prst="rect">
            <a:avLst/>
          </a:prstGeom>
          <a:solidFill>
            <a:srgbClr val="D99A55"/>
          </a:solidFill>
          <a:ln w="12700">
            <a:solidFill>
              <a:srgbClr val="D99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58142A15-3813-9F4E-6964-442F166BFCA3}"/>
              </a:ext>
            </a:extLst>
          </p:cNvPr>
          <p:cNvSpPr/>
          <p:nvPr/>
        </p:nvSpPr>
        <p:spPr>
          <a:xfrm>
            <a:off x="8129016" y="290779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automated zoning</a:t>
            </a:r>
            <a:endParaRPr lang="en-US" sz="1300" dirty="0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A027C59C-9100-1C9E-74EC-7DD0A2D510E7}"/>
              </a:ext>
            </a:extLst>
          </p:cNvPr>
          <p:cNvSpPr/>
          <p:nvPr/>
        </p:nvSpPr>
        <p:spPr>
          <a:xfrm>
            <a:off x="8129016" y="3182112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stairwell placement, dwelling count and area assumptions.</a:t>
            </a:r>
            <a:endParaRPr lang="en-US" sz="1150" dirty="0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722EBDAC-839C-7D92-E07E-ECF1187D1EFA}"/>
              </a:ext>
            </a:extLst>
          </p:cNvPr>
          <p:cNvSpPr/>
          <p:nvPr/>
        </p:nvSpPr>
        <p:spPr>
          <a:xfrm>
            <a:off x="7927848" y="4005072"/>
            <a:ext cx="3401568" cy="978408"/>
          </a:xfrm>
          <a:prstGeom prst="roundRect">
            <a:avLst>
              <a:gd name="adj" fmla="val 7477"/>
            </a:avLst>
          </a:prstGeom>
          <a:solidFill>
            <a:srgbClr val="E8F2F1"/>
          </a:solidFill>
          <a:ln w="11430">
            <a:solidFill>
              <a:srgbClr val="CAD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C683E847-95E6-C778-8D29-B43B41DB330A}"/>
              </a:ext>
            </a:extLst>
          </p:cNvPr>
          <p:cNvSpPr/>
          <p:nvPr/>
        </p:nvSpPr>
        <p:spPr>
          <a:xfrm>
            <a:off x="7927848" y="4005072"/>
            <a:ext cx="91440" cy="978408"/>
          </a:xfrm>
          <a:prstGeom prst="rect">
            <a:avLst/>
          </a:prstGeom>
          <a:solidFill>
            <a:srgbClr val="3C8F8B"/>
          </a:solidFill>
          <a:ln w="12700">
            <a:solidFill>
              <a:srgbClr val="3C8F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ABC5B9A7-AE08-CD73-94F0-BC44D95751BC}"/>
              </a:ext>
            </a:extLst>
          </p:cNvPr>
          <p:cNvSpPr/>
          <p:nvPr/>
        </p:nvSpPr>
        <p:spPr>
          <a:xfrm>
            <a:off x="8129016" y="412394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workflow</a:t>
            </a:r>
            <a:endParaRPr lang="en-US" sz="1300" dirty="0"/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E34096EE-38DA-883F-CC72-287274329239}"/>
              </a:ext>
            </a:extLst>
          </p:cNvPr>
          <p:cNvSpPr/>
          <p:nvPr/>
        </p:nvSpPr>
        <p:spPr>
          <a:xfrm>
            <a:off x="8129016" y="439826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ground truth and test more climates and modelling contexts.</a:t>
            </a:r>
            <a:endParaRPr lang="en-US" sz="1150" dirty="0"/>
          </a:p>
        </p:txBody>
      </p:sp>
      <p:sp>
        <p:nvSpPr>
          <p:cNvPr id="84" name="Shape 29">
            <a:extLst>
              <a:ext uri="{FF2B5EF4-FFF2-40B4-BE49-F238E27FC236}">
                <a16:creationId xmlns:a16="http://schemas.microsoft.com/office/drawing/2014/main" id="{CD02D6E6-3EDF-2143-82D8-E2D711F566C5}"/>
              </a:ext>
            </a:extLst>
          </p:cNvPr>
          <p:cNvSpPr/>
          <p:nvPr/>
        </p:nvSpPr>
        <p:spPr>
          <a:xfrm>
            <a:off x="4270248" y="2061972"/>
            <a:ext cx="731520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4009169E-81C0-611B-E4F6-EAB8F2FBCE93}"/>
              </a:ext>
            </a:extLst>
          </p:cNvPr>
          <p:cNvSpPr/>
          <p:nvPr/>
        </p:nvSpPr>
        <p:spPr>
          <a:xfrm>
            <a:off x="4206240" y="2020824"/>
            <a:ext cx="82296" cy="82296"/>
          </a:xfrm>
          <a:prstGeom prst="ellipse">
            <a:avLst/>
          </a:prstGeom>
          <a:solidFill>
            <a:srgbClr val="006B84"/>
          </a:solidFill>
          <a:ln w="12700">
            <a:solidFill>
              <a:srgbClr val="00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D6B98CA6-59CE-3F11-673A-B5EA8B16966A}"/>
              </a:ext>
            </a:extLst>
          </p:cNvPr>
          <p:cNvSpPr/>
          <p:nvPr/>
        </p:nvSpPr>
        <p:spPr>
          <a:xfrm>
            <a:off x="7306056" y="2061972"/>
            <a:ext cx="621792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32">
            <a:extLst>
              <a:ext uri="{FF2B5EF4-FFF2-40B4-BE49-F238E27FC236}">
                <a16:creationId xmlns:a16="http://schemas.microsoft.com/office/drawing/2014/main" id="{AA86F3F3-1CD0-81AF-DFB1-235BB5CFB9F4}"/>
              </a:ext>
            </a:extLst>
          </p:cNvPr>
          <p:cNvSpPr/>
          <p:nvPr/>
        </p:nvSpPr>
        <p:spPr>
          <a:xfrm>
            <a:off x="7872984" y="2020824"/>
            <a:ext cx="82296" cy="82296"/>
          </a:xfrm>
          <a:prstGeom prst="ellipse">
            <a:avLst/>
          </a:prstGeom>
          <a:solidFill>
            <a:srgbClr val="8BAE52"/>
          </a:solidFill>
          <a:ln w="12700">
            <a:solidFill>
              <a:srgbClr val="8BA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33">
            <a:extLst>
              <a:ext uri="{FF2B5EF4-FFF2-40B4-BE49-F238E27FC236}">
                <a16:creationId xmlns:a16="http://schemas.microsoft.com/office/drawing/2014/main" id="{73012DE6-03CC-0A89-23B8-7BF30731BB79}"/>
              </a:ext>
            </a:extLst>
          </p:cNvPr>
          <p:cNvSpPr/>
          <p:nvPr/>
        </p:nvSpPr>
        <p:spPr>
          <a:xfrm>
            <a:off x="4270248" y="3278124"/>
            <a:ext cx="731520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34">
            <a:extLst>
              <a:ext uri="{FF2B5EF4-FFF2-40B4-BE49-F238E27FC236}">
                <a16:creationId xmlns:a16="http://schemas.microsoft.com/office/drawing/2014/main" id="{D597739F-C3E9-7078-359C-534E3A3B4ECD}"/>
              </a:ext>
            </a:extLst>
          </p:cNvPr>
          <p:cNvSpPr/>
          <p:nvPr/>
        </p:nvSpPr>
        <p:spPr>
          <a:xfrm>
            <a:off x="4206240" y="3236976"/>
            <a:ext cx="82296" cy="82296"/>
          </a:xfrm>
          <a:prstGeom prst="ellipse">
            <a:avLst/>
          </a:prstGeom>
          <a:solidFill>
            <a:srgbClr val="006B84"/>
          </a:solidFill>
          <a:ln w="12700">
            <a:solidFill>
              <a:srgbClr val="00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35">
            <a:extLst>
              <a:ext uri="{FF2B5EF4-FFF2-40B4-BE49-F238E27FC236}">
                <a16:creationId xmlns:a16="http://schemas.microsoft.com/office/drawing/2014/main" id="{EF708677-57B3-65AC-99C5-4883415BB351}"/>
              </a:ext>
            </a:extLst>
          </p:cNvPr>
          <p:cNvSpPr/>
          <p:nvPr/>
        </p:nvSpPr>
        <p:spPr>
          <a:xfrm>
            <a:off x="7306056" y="3278124"/>
            <a:ext cx="621792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36">
            <a:extLst>
              <a:ext uri="{FF2B5EF4-FFF2-40B4-BE49-F238E27FC236}">
                <a16:creationId xmlns:a16="http://schemas.microsoft.com/office/drawing/2014/main" id="{162A16EA-D0D2-CF9B-909B-DE517B2FC642}"/>
              </a:ext>
            </a:extLst>
          </p:cNvPr>
          <p:cNvSpPr/>
          <p:nvPr/>
        </p:nvSpPr>
        <p:spPr>
          <a:xfrm>
            <a:off x="7872984" y="3236976"/>
            <a:ext cx="82296" cy="82296"/>
          </a:xfrm>
          <a:prstGeom prst="ellipse">
            <a:avLst/>
          </a:prstGeom>
          <a:solidFill>
            <a:srgbClr val="8BAE52"/>
          </a:solidFill>
          <a:ln w="12700">
            <a:solidFill>
              <a:srgbClr val="8BA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37">
            <a:extLst>
              <a:ext uri="{FF2B5EF4-FFF2-40B4-BE49-F238E27FC236}">
                <a16:creationId xmlns:a16="http://schemas.microsoft.com/office/drawing/2014/main" id="{3B28222C-AF8C-5503-41D2-6AE4D3DC9A18}"/>
              </a:ext>
            </a:extLst>
          </p:cNvPr>
          <p:cNvSpPr/>
          <p:nvPr/>
        </p:nvSpPr>
        <p:spPr>
          <a:xfrm>
            <a:off x="4270248" y="4494276"/>
            <a:ext cx="731520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38">
            <a:extLst>
              <a:ext uri="{FF2B5EF4-FFF2-40B4-BE49-F238E27FC236}">
                <a16:creationId xmlns:a16="http://schemas.microsoft.com/office/drawing/2014/main" id="{3CB5A9F5-AC32-CF95-BED8-30BF1C814D03}"/>
              </a:ext>
            </a:extLst>
          </p:cNvPr>
          <p:cNvSpPr/>
          <p:nvPr/>
        </p:nvSpPr>
        <p:spPr>
          <a:xfrm>
            <a:off x="4206240" y="4453128"/>
            <a:ext cx="82296" cy="82296"/>
          </a:xfrm>
          <a:prstGeom prst="ellipse">
            <a:avLst/>
          </a:prstGeom>
          <a:solidFill>
            <a:srgbClr val="006B84"/>
          </a:solidFill>
          <a:ln w="12700">
            <a:solidFill>
              <a:srgbClr val="00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39">
            <a:extLst>
              <a:ext uri="{FF2B5EF4-FFF2-40B4-BE49-F238E27FC236}">
                <a16:creationId xmlns:a16="http://schemas.microsoft.com/office/drawing/2014/main" id="{D0568F12-2665-D7ED-0FFB-6DF4D93B28DD}"/>
              </a:ext>
            </a:extLst>
          </p:cNvPr>
          <p:cNvSpPr/>
          <p:nvPr/>
        </p:nvSpPr>
        <p:spPr>
          <a:xfrm>
            <a:off x="7306056" y="4494276"/>
            <a:ext cx="621792" cy="0"/>
          </a:xfrm>
          <a:prstGeom prst="line">
            <a:avLst/>
          </a:prstGeom>
          <a:noFill/>
          <a:ln w="16510">
            <a:solidFill>
              <a:srgbClr val="AABB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40">
            <a:extLst>
              <a:ext uri="{FF2B5EF4-FFF2-40B4-BE49-F238E27FC236}">
                <a16:creationId xmlns:a16="http://schemas.microsoft.com/office/drawing/2014/main" id="{2ED8996D-A46D-038F-4988-8BD3908C2094}"/>
              </a:ext>
            </a:extLst>
          </p:cNvPr>
          <p:cNvSpPr/>
          <p:nvPr/>
        </p:nvSpPr>
        <p:spPr>
          <a:xfrm>
            <a:off x="7872984" y="4453128"/>
            <a:ext cx="82296" cy="82296"/>
          </a:xfrm>
          <a:prstGeom prst="ellipse">
            <a:avLst/>
          </a:prstGeom>
          <a:solidFill>
            <a:srgbClr val="8BAE52"/>
          </a:solidFill>
          <a:ln w="12700">
            <a:solidFill>
              <a:srgbClr val="8BA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772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7439-98EE-1D33-66DC-7A33D64C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EF688234-1302-081B-4073-81762A16E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3637211"/>
            <a:ext cx="9792752" cy="114143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de-DE" sz="3000" dirty="0" err="1">
                <a:solidFill>
                  <a:schemeClr val="bg2"/>
                </a:solidFill>
                <a:latin typeface="Calibri"/>
              </a:rPr>
              <a:t>Thank</a:t>
            </a:r>
            <a:r>
              <a:rPr lang="de-DE" sz="3000" dirty="0">
                <a:solidFill>
                  <a:schemeClr val="bg2"/>
                </a:solidFill>
                <a:latin typeface="Calibri"/>
              </a:rPr>
              <a:t> </a:t>
            </a:r>
            <a:r>
              <a:rPr lang="de-DE" sz="3000" dirty="0" err="1">
                <a:solidFill>
                  <a:schemeClr val="bg2"/>
                </a:solidFill>
                <a:latin typeface="Calibri"/>
              </a:rPr>
              <a:t>You</a:t>
            </a:r>
            <a:r>
              <a:rPr lang="de-DE" sz="3000" dirty="0">
                <a:solidFill>
                  <a:schemeClr val="bg2"/>
                </a:solidFill>
                <a:latin typeface="Calibri"/>
              </a:rPr>
              <a:t> For </a:t>
            </a:r>
            <a:r>
              <a:rPr lang="de-DE" sz="3000" dirty="0" err="1">
                <a:solidFill>
                  <a:schemeClr val="bg2"/>
                </a:solidFill>
                <a:latin typeface="Calibri"/>
              </a:rPr>
              <a:t>Your</a:t>
            </a:r>
            <a:r>
              <a:rPr lang="de-DE" sz="3000" dirty="0">
                <a:solidFill>
                  <a:schemeClr val="bg2"/>
                </a:solidFill>
                <a:latin typeface="Calibri"/>
              </a:rPr>
              <a:t> Attention !</a:t>
            </a:r>
          </a:p>
          <a:p>
            <a:pPr algn="ctr"/>
            <a:r>
              <a:rPr lang="de-DE" sz="3000" dirty="0">
                <a:solidFill>
                  <a:schemeClr val="bg2"/>
                </a:solidFill>
                <a:latin typeface="Calibri"/>
              </a:rPr>
              <a:t>Questions/Feedback</a:t>
            </a:r>
            <a:endParaRPr lang="en-GB" sz="300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5E115B4-2FA9-9199-B8AF-BFC6648C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40" y="1156547"/>
            <a:ext cx="9558828" cy="1855954"/>
          </a:xfrm>
        </p:spPr>
        <p:txBody>
          <a:bodyPr/>
          <a:lstStyle/>
          <a:p>
            <a:r>
              <a:rPr lang="en-GB" sz="3200" dirty="0"/>
              <a:t>Impact of Automated Thermal Zoning on Building Energy Simulations: Ground-Truth Validation and Sensitivity Analysis</a:t>
            </a:r>
            <a:endParaRPr lang="de-DE" sz="3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9807B4-1C4C-1A14-97DF-3EB1586748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D30F4F-66A2-41F8-A385-1071AB88F2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8DF2B-F1ED-5FAB-2028-7F5CDE544BB8}"/>
              </a:ext>
            </a:extLst>
          </p:cNvPr>
          <p:cNvSpPr txBox="1"/>
          <p:nvPr/>
        </p:nvSpPr>
        <p:spPr>
          <a:xfrm>
            <a:off x="3977639" y="5029200"/>
            <a:ext cx="42976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dirty="0">
                <a:solidFill>
                  <a:prstClr val="black"/>
                </a:solidFill>
                <a:latin typeface="Calibri"/>
              </a:rPr>
              <a:t>Sharon Thomas </a:t>
            </a:r>
            <a:r>
              <a:rPr sz="2000" dirty="0" err="1">
                <a:solidFill>
                  <a:prstClr val="black"/>
                </a:solidFill>
                <a:latin typeface="Calibri"/>
              </a:rPr>
              <a:t>Charivupurayidom</a:t>
            </a:r>
            <a:endParaRPr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E50C8-8FA6-2C6C-B3C7-5010903CF223}"/>
              </a:ext>
            </a:extLst>
          </p:cNvPr>
          <p:cNvSpPr txBox="1"/>
          <p:nvPr/>
        </p:nvSpPr>
        <p:spPr>
          <a:xfrm>
            <a:off x="3246120" y="5321808"/>
            <a:ext cx="57607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>
            <a:defPPr>
              <a:defRPr lang="de-DE"/>
            </a:defPPr>
            <a:lvl1pPr algn="ctr">
              <a:defRPr sz="2000">
                <a:solidFill>
                  <a:prstClr val="black"/>
                </a:solidFill>
                <a:latin typeface="Calibri"/>
              </a:defRPr>
            </a:lvl1pPr>
          </a:lstStyle>
          <a:p>
            <a:r>
              <a:rPr sz="1600" dirty="0"/>
              <a:t>M.Sc. Civil Systems Engineering · </a:t>
            </a:r>
            <a:r>
              <a:rPr sz="1600" dirty="0" err="1"/>
              <a:t>Technische</a:t>
            </a:r>
            <a:r>
              <a:rPr sz="1600" dirty="0"/>
              <a:t> Universität Berlin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1A5C7-4348-5D49-20B0-9ABFBD121969}"/>
              </a:ext>
            </a:extLst>
          </p:cNvPr>
          <p:cNvSpPr txBox="1"/>
          <p:nvPr/>
        </p:nvSpPr>
        <p:spPr>
          <a:xfrm>
            <a:off x="1666959" y="5828033"/>
            <a:ext cx="857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defTabSz="457200">
              <a:defRPr sz="2000">
                <a:solidFill>
                  <a:prstClr val="black"/>
                </a:solidFill>
                <a:latin typeface="Calibri"/>
              </a:defRPr>
            </a:lvl1pPr>
          </a:lstStyle>
          <a:p>
            <a:pPr algn="ctr"/>
            <a:r>
              <a:rPr sz="1600" dirty="0"/>
              <a:t>Scientific supervision: Prof. Dr. Timo Hartmann  |  Scientific guidance: Dr. Jacob </a:t>
            </a:r>
            <a:r>
              <a:rPr sz="1600" dirty="0" err="1"/>
              <a:t>Estevam</a:t>
            </a:r>
            <a:r>
              <a:rPr sz="1600" dirty="0"/>
              <a:t> Schmiedt  DLR supervision: Kevin Waiz</a:t>
            </a:r>
          </a:p>
        </p:txBody>
      </p:sp>
    </p:spTree>
    <p:extLst>
      <p:ext uri="{BB962C8B-B14F-4D97-AF65-F5344CB8AC3E}">
        <p14:creationId xmlns:p14="http://schemas.microsoft.com/office/powerpoint/2010/main" val="1901790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6751D-EDB5-418E-8811-D13901A2A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853A9-A51C-442B-9045-7255ACD6770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Sharon Thomas, DLR Institute of Solar Research, </a:t>
            </a:r>
            <a:r>
              <a:rPr lang="en-DE" dirty="0"/>
              <a:t>01</a:t>
            </a:r>
            <a:r>
              <a:rPr lang="en-GB" dirty="0"/>
              <a:t>.0</a:t>
            </a:r>
            <a:r>
              <a:rPr lang="en-DE" dirty="0"/>
              <a:t>9</a:t>
            </a:r>
            <a:r>
              <a:rPr lang="en-GB" dirty="0"/>
              <a:t>.2026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5EFFF5-AE19-4DF2-BE4E-D8894495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cap="none" dirty="0"/>
              <a:t>Thesis Timeline</a:t>
            </a:r>
            <a:endParaRPr lang="en-GB" cap="non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C6520B-C812-4D67-A35F-722D8F6A53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5623" y="2735263"/>
            <a:ext cx="1806428" cy="3022385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Understanding the research topic and scope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Familiarization with the MZA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Identification of relevant datasets</a:t>
            </a:r>
            <a:endParaRPr lang="en-US" sz="1200" dirty="0"/>
          </a:p>
          <a:p>
            <a:pPr marL="165600">
              <a:lnSpc>
                <a:spcPct val="100000"/>
              </a:lnSpc>
            </a:pPr>
            <a:endParaRPr lang="en-US" sz="1200" dirty="0"/>
          </a:p>
          <a:p>
            <a:endParaRPr lang="en-GB" sz="1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590649-706B-467C-AA36-B895153791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7465" y="2744411"/>
            <a:ext cx="1841392" cy="1453948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Dataset preprocessing for MZA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Preparation of Ground Truth</a:t>
            </a:r>
          </a:p>
          <a:p>
            <a:pPr marL="214313" indent="-2143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Initial zoning comparison and MZA refinement</a:t>
            </a: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8588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GB" sz="12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10BAEC-C262-483D-A95F-DC65871A4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94271" y="2744411"/>
            <a:ext cx="1734738" cy="1547878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Systematic comparison of MZA zoning with </a:t>
            </a:r>
            <a:r>
              <a:rPr lang="de-DE" sz="1200" dirty="0"/>
              <a:t>Ground Truth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556A69-E554-4B1F-9ACA-E5F737D3CA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94915" y="2744410"/>
            <a:ext cx="1734738" cy="839183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Initial simulation analysis to identify key parameters for base archetypes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Full-scale sensitivity analysis</a:t>
            </a:r>
            <a:endParaRPr lang="en-US" sz="1200" dirty="0"/>
          </a:p>
          <a:p>
            <a:endParaRPr lang="en-GB" sz="1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FF771D6-0BB0-469C-96B2-4D211E208C3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5559" y="2744410"/>
            <a:ext cx="1554480" cy="839183"/>
          </a:xfrm>
        </p:spPr>
        <p:txBody>
          <a:bodyPr/>
          <a:lstStyle/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Evaluate results </a:t>
            </a:r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65600" indent="-12858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Final presentation​</a:t>
            </a:r>
          </a:p>
          <a:p>
            <a:endParaRPr lang="en-US" sz="1200" dirty="0"/>
          </a:p>
          <a:p>
            <a:endParaRPr lang="en-GB" sz="12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1F681B-3B9E-44BF-9944-17DFCF88A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1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EAA80B6-7638-4F50-84F0-96E37B105C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2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A66F182-7482-4739-AC43-7CE48CCD3D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3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FAE363-980E-414B-BD69-C3686C8DE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72446" y="3953257"/>
            <a:ext cx="1186179" cy="678064"/>
          </a:xfrm>
        </p:spPr>
        <p:txBody>
          <a:bodyPr/>
          <a:lstStyle/>
          <a:p>
            <a:r>
              <a:rPr lang="de-DE" dirty="0"/>
              <a:t>4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7CEAEC5-70F0-4BAD-8B7D-5CB98CB31DE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5</a:t>
            </a:r>
            <a:endParaRPr lang="en-GB" dirty="0"/>
          </a:p>
        </p:txBody>
      </p:sp>
      <p:pic>
        <p:nvPicPr>
          <p:cNvPr id="34" name="Graphic 33" descr="City with solid fill">
            <a:extLst>
              <a:ext uri="{FF2B5EF4-FFF2-40B4-BE49-F238E27FC236}">
                <a16:creationId xmlns:a16="http://schemas.microsoft.com/office/drawing/2014/main" id="{F2932337-E508-8B09-D855-01958B03F1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9804" y="4834148"/>
            <a:ext cx="539496" cy="539496"/>
          </a:xfrm>
          <a:prstGeom prst="rect">
            <a:avLst/>
          </a:prstGeom>
        </p:spPr>
      </p:pic>
      <p:pic>
        <p:nvPicPr>
          <p:cNvPr id="36" name="Graphic 35" descr="Presentation with pie chart with solid fill">
            <a:extLst>
              <a:ext uri="{FF2B5EF4-FFF2-40B4-BE49-F238E27FC236}">
                <a16:creationId xmlns:a16="http://schemas.microsoft.com/office/drawing/2014/main" id="{90A5F39A-03E5-2F78-AF84-A21B2C8F9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1869" y="3700083"/>
            <a:ext cx="541860" cy="54186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16CAE72B-3884-B0F0-9A2E-02659383D42B}"/>
              </a:ext>
            </a:extLst>
          </p:cNvPr>
          <p:cNvGrpSpPr/>
          <p:nvPr/>
        </p:nvGrpSpPr>
        <p:grpSpPr>
          <a:xfrm>
            <a:off x="810616" y="1187954"/>
            <a:ext cx="2386761" cy="1154112"/>
            <a:chOff x="810617" y="1187954"/>
            <a:chExt cx="2824332" cy="1154112"/>
          </a:xfrm>
        </p:grpSpPr>
        <p:sp>
          <p:nvSpPr>
            <p:cNvPr id="42" name="Arrow: Pentagon 41">
              <a:extLst>
                <a:ext uri="{FF2B5EF4-FFF2-40B4-BE49-F238E27FC236}">
                  <a16:creationId xmlns:a16="http://schemas.microsoft.com/office/drawing/2014/main" id="{6E824EDF-D44C-9B77-CE79-C9CC16DB4F69}"/>
                </a:ext>
              </a:extLst>
            </p:cNvPr>
            <p:cNvSpPr/>
            <p:nvPr/>
          </p:nvSpPr>
          <p:spPr>
            <a:xfrm>
              <a:off x="810617" y="1187954"/>
              <a:ext cx="2672891" cy="1154112"/>
            </a:xfrm>
            <a:prstGeom prst="homePlate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28381EFD-A988-C2C0-76EE-E6E2C37BC0BA}"/>
                </a:ext>
              </a:extLst>
            </p:cNvPr>
            <p:cNvSpPr txBox="1">
              <a:spLocks/>
            </p:cNvSpPr>
            <p:nvPr/>
          </p:nvSpPr>
          <p:spPr>
            <a:xfrm>
              <a:off x="1153318" y="1582840"/>
              <a:ext cx="2481631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Preparation</a:t>
              </a:r>
              <a:endParaRPr lang="en-GB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DBEBB53-A420-68D6-6744-29E5802F92F5}"/>
              </a:ext>
            </a:extLst>
          </p:cNvPr>
          <p:cNvGrpSpPr/>
          <p:nvPr/>
        </p:nvGrpSpPr>
        <p:grpSpPr>
          <a:xfrm>
            <a:off x="2558641" y="1179564"/>
            <a:ext cx="2597031" cy="1158541"/>
            <a:chOff x="2919369" y="1179564"/>
            <a:chExt cx="2800622" cy="1158541"/>
          </a:xfrm>
        </p:grpSpPr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07518868-9687-F727-A00A-E6A1A9CA8A1E}"/>
                </a:ext>
              </a:extLst>
            </p:cNvPr>
            <p:cNvSpPr/>
            <p:nvPr/>
          </p:nvSpPr>
          <p:spPr>
            <a:xfrm>
              <a:off x="2919369" y="1179564"/>
              <a:ext cx="2800622" cy="1158541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7" name="Text Placeholder 7">
              <a:extLst>
                <a:ext uri="{FF2B5EF4-FFF2-40B4-BE49-F238E27FC236}">
                  <a16:creationId xmlns:a16="http://schemas.microsoft.com/office/drawing/2014/main" id="{E4A04652-34DC-E5A6-E2AF-8AC3AD9972F7}"/>
                </a:ext>
              </a:extLst>
            </p:cNvPr>
            <p:cNvSpPr txBox="1">
              <a:spLocks/>
            </p:cNvSpPr>
            <p:nvPr/>
          </p:nvSpPr>
          <p:spPr>
            <a:xfrm>
              <a:off x="3514407" y="1511609"/>
              <a:ext cx="2100525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Data Collection and Preprocessing</a:t>
              </a:r>
            </a:p>
            <a:p>
              <a:endParaRPr lang="en-GB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406A56D-47EB-7722-1682-42A729C0BBD7}"/>
              </a:ext>
            </a:extLst>
          </p:cNvPr>
          <p:cNvGrpSpPr/>
          <p:nvPr/>
        </p:nvGrpSpPr>
        <p:grpSpPr>
          <a:xfrm>
            <a:off x="6723695" y="1196811"/>
            <a:ext cx="2597031" cy="1145255"/>
            <a:chOff x="5557460" y="1192849"/>
            <a:chExt cx="3677720" cy="1145255"/>
          </a:xfrm>
        </p:grpSpPr>
        <p:sp>
          <p:nvSpPr>
            <p:cNvPr id="51" name="Arrow: Chevron 50">
              <a:extLst>
                <a:ext uri="{FF2B5EF4-FFF2-40B4-BE49-F238E27FC236}">
                  <a16:creationId xmlns:a16="http://schemas.microsoft.com/office/drawing/2014/main" id="{8AB85DD9-178E-82B3-3979-7D11AA13D849}"/>
                </a:ext>
              </a:extLst>
            </p:cNvPr>
            <p:cNvSpPr/>
            <p:nvPr/>
          </p:nvSpPr>
          <p:spPr>
            <a:xfrm>
              <a:off x="5557460" y="1192849"/>
              <a:ext cx="3677720" cy="1145255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2" name="Text Placeholder 7">
              <a:extLst>
                <a:ext uri="{FF2B5EF4-FFF2-40B4-BE49-F238E27FC236}">
                  <a16:creationId xmlns:a16="http://schemas.microsoft.com/office/drawing/2014/main" id="{BCEF07A0-032F-EEFC-4E1B-995877024C5E}"/>
                </a:ext>
              </a:extLst>
            </p:cNvPr>
            <p:cNvSpPr txBox="1">
              <a:spLocks/>
            </p:cNvSpPr>
            <p:nvPr/>
          </p:nvSpPr>
          <p:spPr>
            <a:xfrm>
              <a:off x="6753549" y="1595498"/>
              <a:ext cx="2481631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Simulation</a:t>
              </a:r>
              <a:endParaRPr lang="en-GB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12E8593-8FB8-E58C-CD06-838C81FC9FE7}"/>
              </a:ext>
            </a:extLst>
          </p:cNvPr>
          <p:cNvGrpSpPr/>
          <p:nvPr/>
        </p:nvGrpSpPr>
        <p:grpSpPr>
          <a:xfrm>
            <a:off x="4655797" y="1179563"/>
            <a:ext cx="2743605" cy="1158541"/>
            <a:chOff x="4655797" y="1179563"/>
            <a:chExt cx="2743605" cy="1158541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1B3F80CB-2693-FE44-6F85-1D0D3945417A}"/>
                </a:ext>
              </a:extLst>
            </p:cNvPr>
            <p:cNvSpPr/>
            <p:nvPr/>
          </p:nvSpPr>
          <p:spPr>
            <a:xfrm>
              <a:off x="4655797" y="1179563"/>
              <a:ext cx="2556408" cy="1158541"/>
            </a:xfrm>
            <a:prstGeom prst="chevron">
              <a:avLst/>
            </a:pr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5" name="Text Placeholder 7">
              <a:extLst>
                <a:ext uri="{FF2B5EF4-FFF2-40B4-BE49-F238E27FC236}">
                  <a16:creationId xmlns:a16="http://schemas.microsoft.com/office/drawing/2014/main" id="{A2CCFB7A-604D-D603-3CDA-7941F9D0C40A}"/>
                </a:ext>
              </a:extLst>
            </p:cNvPr>
            <p:cNvSpPr txBox="1">
              <a:spLocks/>
            </p:cNvSpPr>
            <p:nvPr/>
          </p:nvSpPr>
          <p:spPr>
            <a:xfrm>
              <a:off x="5454389" y="1589646"/>
              <a:ext cx="1945013" cy="41800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bg2"/>
                  </a:solidFill>
                </a:rPr>
                <a:t>Comparison</a:t>
              </a:r>
              <a:endParaRPr lang="en-GB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029307B-E0C4-8540-F425-FAAFDB667764}"/>
              </a:ext>
            </a:extLst>
          </p:cNvPr>
          <p:cNvGrpSpPr/>
          <p:nvPr/>
        </p:nvGrpSpPr>
        <p:grpSpPr>
          <a:xfrm>
            <a:off x="8822361" y="1196341"/>
            <a:ext cx="2559324" cy="1145255"/>
            <a:chOff x="8822361" y="1196341"/>
            <a:chExt cx="2559324" cy="1145255"/>
          </a:xfrm>
        </p:grpSpPr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641837E7-76FF-7B03-4058-26D728C5CF6B}"/>
                </a:ext>
              </a:extLst>
            </p:cNvPr>
            <p:cNvSpPr/>
            <p:nvPr/>
          </p:nvSpPr>
          <p:spPr>
            <a:xfrm>
              <a:off x="8822361" y="1196341"/>
              <a:ext cx="2559324" cy="1145255"/>
            </a:xfrm>
            <a:custGeom>
              <a:avLst/>
              <a:gdLst>
                <a:gd name="connsiteX0" fmla="*/ 0 w 3131951"/>
                <a:gd name="connsiteY0" fmla="*/ 0 h 1145255"/>
                <a:gd name="connsiteX1" fmla="*/ 2559324 w 3131951"/>
                <a:gd name="connsiteY1" fmla="*/ 0 h 1145255"/>
                <a:gd name="connsiteX2" fmla="*/ 3131951 w 3131951"/>
                <a:gd name="connsiteY2" fmla="*/ 572628 h 1145255"/>
                <a:gd name="connsiteX3" fmla="*/ 2559324 w 3131951"/>
                <a:gd name="connsiteY3" fmla="*/ 1145255 h 1145255"/>
                <a:gd name="connsiteX4" fmla="*/ 0 w 3131951"/>
                <a:gd name="connsiteY4" fmla="*/ 1145255 h 1145255"/>
                <a:gd name="connsiteX5" fmla="*/ 572628 w 3131951"/>
                <a:gd name="connsiteY5" fmla="*/ 572628 h 1145255"/>
                <a:gd name="connsiteX6" fmla="*/ 0 w 3131951"/>
                <a:gd name="connsiteY6" fmla="*/ 0 h 1145255"/>
                <a:gd name="connsiteX0" fmla="*/ 0 w 2578278"/>
                <a:gd name="connsiteY0" fmla="*/ 0 h 1145255"/>
                <a:gd name="connsiteX1" fmla="*/ 2559324 w 2578278"/>
                <a:gd name="connsiteY1" fmla="*/ 0 h 1145255"/>
                <a:gd name="connsiteX2" fmla="*/ 2578278 w 2578278"/>
                <a:gd name="connsiteY2" fmla="*/ 497127 h 1145255"/>
                <a:gd name="connsiteX3" fmla="*/ 2559324 w 2578278"/>
                <a:gd name="connsiteY3" fmla="*/ 1145255 h 1145255"/>
                <a:gd name="connsiteX4" fmla="*/ 0 w 2578278"/>
                <a:gd name="connsiteY4" fmla="*/ 1145255 h 1145255"/>
                <a:gd name="connsiteX5" fmla="*/ 572628 w 2578278"/>
                <a:gd name="connsiteY5" fmla="*/ 572628 h 1145255"/>
                <a:gd name="connsiteX6" fmla="*/ 0 w 2578278"/>
                <a:gd name="connsiteY6" fmla="*/ 0 h 1145255"/>
                <a:gd name="connsiteX0" fmla="*/ 0 w 2559324"/>
                <a:gd name="connsiteY0" fmla="*/ 0 h 1145255"/>
                <a:gd name="connsiteX1" fmla="*/ 2559324 w 2559324"/>
                <a:gd name="connsiteY1" fmla="*/ 0 h 1145255"/>
                <a:gd name="connsiteX2" fmla="*/ 2553111 w 2559324"/>
                <a:gd name="connsiteY2" fmla="*/ 497127 h 1145255"/>
                <a:gd name="connsiteX3" fmla="*/ 2559324 w 2559324"/>
                <a:gd name="connsiteY3" fmla="*/ 1145255 h 1145255"/>
                <a:gd name="connsiteX4" fmla="*/ 0 w 2559324"/>
                <a:gd name="connsiteY4" fmla="*/ 1145255 h 1145255"/>
                <a:gd name="connsiteX5" fmla="*/ 572628 w 2559324"/>
                <a:gd name="connsiteY5" fmla="*/ 572628 h 1145255"/>
                <a:gd name="connsiteX6" fmla="*/ 0 w 2559324"/>
                <a:gd name="connsiteY6" fmla="*/ 0 h 114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9324" h="1145255">
                  <a:moveTo>
                    <a:pt x="0" y="0"/>
                  </a:moveTo>
                  <a:lnTo>
                    <a:pt x="2559324" y="0"/>
                  </a:lnTo>
                  <a:lnTo>
                    <a:pt x="2553111" y="497127"/>
                  </a:lnTo>
                  <a:lnTo>
                    <a:pt x="2559324" y="1145255"/>
                  </a:lnTo>
                  <a:lnTo>
                    <a:pt x="0" y="1145255"/>
                  </a:lnTo>
                  <a:lnTo>
                    <a:pt x="572628" y="572628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9" name="Text Placeholder 9">
              <a:extLst>
                <a:ext uri="{FF2B5EF4-FFF2-40B4-BE49-F238E27FC236}">
                  <a16:creationId xmlns:a16="http://schemas.microsoft.com/office/drawing/2014/main" id="{3B55A077-DB14-1BD0-1F4C-7BDA5651BC52}"/>
                </a:ext>
              </a:extLst>
            </p:cNvPr>
            <p:cNvSpPr txBox="1">
              <a:spLocks/>
            </p:cNvSpPr>
            <p:nvPr/>
          </p:nvSpPr>
          <p:spPr>
            <a:xfrm>
              <a:off x="9392947" y="1487044"/>
              <a:ext cx="1945013" cy="3048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Wingdings" panose="05000000000000000000" pitchFamily="2" charset="2"/>
                <a:buNone/>
                <a:defRPr sz="1050" b="1" kern="1200" spc="30" baseline="0">
                  <a:solidFill>
                    <a:schemeClr val="accent1">
                      <a:lumMod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3429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6858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0287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37160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Wingdings" panose="05000000000000000000" pitchFamily="2" charset="2"/>
                <a:buNone/>
                <a:defRPr sz="75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 Analysis and Results</a:t>
              </a:r>
            </a:p>
            <a:p>
              <a:endParaRPr lang="en-GB" dirty="0"/>
            </a:p>
          </p:txBody>
        </p:sp>
      </p:grpSp>
      <p:pic>
        <p:nvPicPr>
          <p:cNvPr id="6" name="Graphic 5" descr="Venn diagram with solid fill">
            <a:extLst>
              <a:ext uri="{FF2B5EF4-FFF2-40B4-BE49-F238E27FC236}">
                <a16:creationId xmlns:a16="http://schemas.microsoft.com/office/drawing/2014/main" id="{3B5320CE-7FD8-1A65-1E8D-F1AD23CEF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52" y="3656931"/>
            <a:ext cx="539496" cy="539496"/>
          </a:xfrm>
          <a:prstGeom prst="rect">
            <a:avLst/>
          </a:prstGeom>
        </p:spPr>
      </p:pic>
      <p:pic>
        <p:nvPicPr>
          <p:cNvPr id="8" name="Graphic 7" descr="Tools with solid fill">
            <a:extLst>
              <a:ext uri="{FF2B5EF4-FFF2-40B4-BE49-F238E27FC236}">
                <a16:creationId xmlns:a16="http://schemas.microsoft.com/office/drawing/2014/main" id="{11E208AB-2F2B-AB5A-BFA0-355FBE0A5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6705" y="4888523"/>
            <a:ext cx="540902" cy="540902"/>
          </a:xfrm>
          <a:prstGeom prst="rect">
            <a:avLst/>
          </a:prstGeom>
        </p:spPr>
      </p:pic>
      <p:pic>
        <p:nvPicPr>
          <p:cNvPr id="10" name="Graphic 9" descr="Bar chart with solid fill">
            <a:extLst>
              <a:ext uri="{FF2B5EF4-FFF2-40B4-BE49-F238E27FC236}">
                <a16:creationId xmlns:a16="http://schemas.microsoft.com/office/drawing/2014/main" id="{DDFB066C-C4E2-F6EF-29EC-5EBB97278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2677" y="4292289"/>
            <a:ext cx="541859" cy="54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uiExpand="1" build="p"/>
      <p:bldP spid="13" grpId="0" build="p"/>
      <p:bldP spid="14" grpId="0" uiExpand="1" build="p"/>
      <p:bldP spid="15" grpId="0" uiExpand="1" build="p"/>
    </p:bldLst>
  </p:timing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0B0CA5-6D5D-482F-B16A-B22C22FDD92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954367121BF6742A4E5E52580897276" ma:contentTypeVersion="6" ma:contentTypeDescription="Ein neues Dokument erstellen." ma:contentTypeScope="" ma:versionID="1ab30052a3a4e0ce76f98d80484e89f4">
  <xsd:schema xmlns:xsd="http://www.w3.org/2001/XMLSchema" xmlns:xs="http://www.w3.org/2001/XMLSchema" xmlns:p="http://schemas.microsoft.com/office/2006/metadata/properties" xmlns:ns3="7377a6cf-c5b1-4878-b96a-ffdcce450f4c" targetNamespace="http://schemas.microsoft.com/office/2006/metadata/properties" ma:root="true" ma:fieldsID="b3127b82e560c37ead19b85af97b7c25" ns3:_="">
    <xsd:import namespace="7377a6cf-c5b1-4878-b96a-ffdcce450f4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77a6cf-c5b1-4878-b96a-ffdcce450f4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77a6cf-c5b1-4878-b96a-ffdcce450f4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FD400-91F9-4E5F-A286-85936D1BB5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77a6cf-c5b1-4878-b96a-ffdcce450f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37BC8C-11DB-4C45-8A65-00DF0F82144A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7377a6cf-c5b1-4878-b96a-ffdcce450f4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9E1988-C11F-4659-9D70-6A9C618CB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DLR_Präsentation_16zu9_EN</Template>
  <TotalTime>0</TotalTime>
  <Words>2787</Words>
  <Application>Microsoft Office PowerPoint</Application>
  <PresentationFormat>Widescreen</PresentationFormat>
  <Paragraphs>538</Paragraphs>
  <Slides>25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Frutiger LT Pro 45 Light</vt:lpstr>
      <vt:lpstr>Helvetica</vt:lpstr>
      <vt:lpstr>Segoe UI Symbol</vt:lpstr>
      <vt:lpstr>Wingdings</vt:lpstr>
      <vt:lpstr>Office</vt:lpstr>
      <vt:lpstr>1_Custom Design</vt:lpstr>
      <vt:lpstr>1_Office</vt:lpstr>
      <vt:lpstr>Custom Design</vt:lpstr>
      <vt:lpstr>Impact of Automated Thermal Zoning on Building Energy Simulations: Ground-Truth Validation and Sensitivity Analysis</vt:lpstr>
      <vt:lpstr>Acknowledgement</vt:lpstr>
      <vt:lpstr>Research motivation Why thermal zoning matters at urban scale</vt:lpstr>
      <vt:lpstr>Research gap What was still unknown about the Multizone Assignment Algorithm?</vt:lpstr>
      <vt:lpstr>Research method</vt:lpstr>
      <vt:lpstr>Multizone Assignment Algorithm</vt:lpstr>
      <vt:lpstr>Multizone Assignment Algorithm</vt:lpstr>
      <vt:lpstr>Multizone Assignment Algorithm</vt:lpstr>
      <vt:lpstr>Datasets</vt:lpstr>
      <vt:lpstr>Dataset Preprocessing and Ground Truth Generation MSD</vt:lpstr>
      <vt:lpstr>Dataset Preprocessing and Ground Truth Generation Real Estate Data</vt:lpstr>
      <vt:lpstr>PowerPoint Presentation</vt:lpstr>
      <vt:lpstr>PowerPoint Presentation</vt:lpstr>
      <vt:lpstr>PowerPoint Presentation</vt:lpstr>
      <vt:lpstr>Where the MZA deviates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 of Automated Thermal Zoning on Building Energy Simulations: Ground-Truth Validation and Sensitivity Analysis</vt:lpstr>
      <vt:lpstr>Thesis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Kaji, Vasimraza</dc:creator>
  <cp:lastModifiedBy>Sharon Thomas</cp:lastModifiedBy>
  <cp:revision>188</cp:revision>
  <dcterms:created xsi:type="dcterms:W3CDTF">2025-08-14T11:16:29Z</dcterms:created>
  <dcterms:modified xsi:type="dcterms:W3CDTF">2026-09-01T14:26:04Z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0x0101006954367121BF6742A4E5E52580897276</vt:lpwstr>
  </property>
</Properties>
</file>